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3" r:id="rId9"/>
    <p:sldId id="264" r:id="rId10"/>
    <p:sldId id="265" r:id="rId11"/>
    <p:sldId id="267" r:id="rId12"/>
    <p:sldId id="268" r:id="rId13"/>
    <p:sldId id="271" r:id="rId14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>
              <a:ea typeface="宋体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4" Type="http://schemas.openxmlformats.org/officeDocument/2006/relationships/notesSlide" Target="../notesSlides/notesSlide11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针对于元数据的错误路径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13232" y="2331720"/>
            <a:ext cx="621792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Bug 分类总览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55680" y="329184"/>
            <a:ext cx="502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3657600" cy="658368"/>
          </a:xfrm>
          <a:prstGeom prst="rect">
            <a:avLst/>
          </a:prstGeom>
          <a:solidFill>
            <a:srgbClr val="F2F2F2"/>
          </a:solidFill>
          <a:ln w="889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类别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0" y="1325880"/>
            <a:ext cx="1097280" cy="658368"/>
          </a:xfrm>
          <a:prstGeom prst="rect">
            <a:avLst/>
          </a:prstGeom>
          <a:solidFill>
            <a:srgbClr val="F2F2F2"/>
          </a:solidFill>
          <a:ln w="889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0" y="1325880"/>
            <a:ext cx="5897880" cy="658368"/>
          </a:xfrm>
          <a:prstGeom prst="rect">
            <a:avLst/>
          </a:prstGeom>
          <a:solidFill>
            <a:srgbClr val="F2F2F2"/>
          </a:solidFill>
          <a:ln w="889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核心失效点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984248"/>
            <a:ext cx="36576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元数据错误被吞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0" y="1984248"/>
            <a:ext cx="109728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0" y="1984248"/>
            <a:ext cx="589788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必要步骤失败，但最终 return 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642616"/>
            <a:ext cx="36576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元数据修改后回滚不完整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2642616"/>
            <a:ext cx="109728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2642616"/>
            <a:ext cx="589788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多阶段修改失败，只撤销局部状态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300984"/>
            <a:ext cx="36576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返回值 / 技术状态污染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0" y="3300984"/>
            <a:ext cx="109728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3300984"/>
            <a:ext cx="589788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变量残留，返回语义与实际状态不一致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959352"/>
            <a:ext cx="365760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纯资源释放缺失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0" y="3959352"/>
            <a:ext cx="109728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3959352"/>
            <a:ext cx="589788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资源生命周期未完整闭合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类型一：元数据错误被吞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55680" y="329184"/>
            <a:ext cx="502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828800" cy="256032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典型模式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底层元数据操作返回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-EIO / -ENOMEM / -EFSCORRUPTED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862072" y="2066544"/>
            <a:ext cx="0" cy="237744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68680" y="2359152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错误保存在 ret / error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862072" y="2916936"/>
            <a:ext cx="0" cy="237744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68680" y="3209544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跳到统一清理路径 out: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862072" y="3767328"/>
            <a:ext cx="0" cy="237744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68680" y="4059936"/>
            <a:ext cx="3977640" cy="530352"/>
          </a:xfrm>
          <a:prstGeom prst="rect">
            <a:avLst/>
          </a:prstGeom>
          <a:solidFill>
            <a:srgbClr val="F2F2F2"/>
          </a:solidFill>
          <a:ln w="1270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清理资源后 return 0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862072" y="4617720"/>
            <a:ext cx="0" cy="237744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68680" y="4910328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上层误判为成功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669280" y="1325880"/>
            <a:ext cx="2011680" cy="292608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破坏的规则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0" y="1783080"/>
            <a:ext cx="4526280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“返回成功”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必须意味着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元数据操作完整成功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669280" y="3246120"/>
            <a:ext cx="5029200" cy="804672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后果：调用者没有机会停止、回滚或取消事务，错误会被带入后续恢复、扩容或提交流程。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69280" y="4800600"/>
            <a:ext cx="5029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总结：必要元数据步骤失败，不得进入成功出口。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例子：ext4 fast commit replay 中的局部不一致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55680" y="329184"/>
            <a:ext cx="502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</a:rPr>
              <a:t>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2971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初始：inode extent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逻辑块 100–199 → 物理块 5000–5099</a:t>
            </a:r>
            <a:endParaRPr lang="en-US" sz="1380" dirty="0"/>
          </a:p>
        </p:txBody>
      </p:sp>
      <p:sp>
        <p:nvSpPr>
          <p:cNvPr id="7" name="Shape 5"/>
          <p:cNvSpPr/>
          <p:nvPr/>
        </p:nvSpPr>
        <p:spPr>
          <a:xfrm>
            <a:off x="3886200" y="1682496"/>
            <a:ext cx="73152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709160" y="1143000"/>
            <a:ext cx="2331720" cy="1078992"/>
          </a:xfrm>
          <a:prstGeom prst="rect">
            <a:avLst/>
          </a:prstGeom>
          <a:solidFill>
            <a:srgbClr val="F2F2F2"/>
          </a:solidFill>
          <a:ln w="1270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步骤 1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ext4_mb_mark_bb()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把物理块标记为空闲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50608" y="1682496"/>
            <a:ext cx="73152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973568" y="1143000"/>
            <a:ext cx="2743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步骤 2 失败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ext4_ext_remove_space()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没有删除 extent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88720" y="3063240"/>
            <a:ext cx="2926080" cy="530352"/>
          </a:xfrm>
          <a:prstGeom prst="rect">
            <a:avLst/>
          </a:prstGeom>
          <a:solidFill>
            <a:srgbClr val="F2F2F2"/>
          </a:solidFill>
          <a:ln w="889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对象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0" y="3063240"/>
            <a:ext cx="6035040" cy="530352"/>
          </a:xfrm>
          <a:prstGeom prst="rect">
            <a:avLst/>
          </a:prstGeom>
          <a:solidFill>
            <a:srgbClr val="F2F2F2"/>
          </a:solidFill>
          <a:ln w="889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函数退出后的状态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88720" y="3593592"/>
            <a:ext cx="29260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inode extent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0" y="3593592"/>
            <a:ext cx="60350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仍然引用 5000–5099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88720" y="4123944"/>
            <a:ext cx="29260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块分配状态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114800" y="4123944"/>
            <a:ext cx="60350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5000–5099 已被标为空闲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88720" y="4654296"/>
            <a:ext cx="29260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返回值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114800" y="4654296"/>
            <a:ext cx="60350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return 0，向上报告成功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417320" y="5394960"/>
            <a:ext cx="8961120" cy="530352"/>
          </a:xfrm>
          <a:prstGeom prst="rect">
            <a:avLst/>
          </a:prstGeom>
          <a:solidFill>
            <a:srgbClr val="F2F2F2"/>
          </a:solidFill>
          <a:ln w="1270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矛盾：同一批物理块同时“被 inode 引用”又“可被重新分配”。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类型二：元数据修改后回滚不完整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55680" y="329184"/>
            <a:ext cx="502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8686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</a:rPr>
              <a:t>文件系统元数据错误路径 · 错误传播 / 回滚 / 状态同步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058400" cy="36576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多阶段状态转换没有被当作“失败原子”的事务来实现。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965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 1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已修改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11880" y="1828800"/>
            <a:ext cx="1965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 2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已修改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55080" y="1828800"/>
            <a:ext cx="1965960" cy="685800"/>
          </a:xfrm>
          <a:prstGeom prst="rect">
            <a:avLst/>
          </a:prstGeom>
          <a:solidFill>
            <a:srgbClr val="F2F2F2"/>
          </a:solidFill>
          <a:ln w="1270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 3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失败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880360" y="2176272"/>
            <a:ext cx="6400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623560" y="2176272"/>
            <a:ext cx="6400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103120" y="3246120"/>
            <a:ext cx="32461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错误路径只清理一部分对象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40680" y="3547872"/>
            <a:ext cx="73152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309360" y="3090672"/>
            <a:ext cx="388620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指针 / 链表 / 引用 / 计数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仍停留在中间状态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05840" y="4892040"/>
            <a:ext cx="9966960" cy="59436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应有原则：失败路径必须按逆向顺序恢复所有已改变的不变量，或进入明确的中止、延迟清理机制。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类型三：返回值 / 技术状态污染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55680" y="329184"/>
            <a:ext cx="502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8686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</a:rPr>
              <a:t>文件系统元数据错误路径 · 错误传播 / 回滚 / 状态同步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078992"/>
            <a:ext cx="10607040" cy="41148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一个变量在前一阶段表示错误，进入下一阶段后却没有重新初始化；后续代码仍按旧语义解释它。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2377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第一次目标：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extra_isize 16 → 64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需要 48 字节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2267712"/>
            <a:ext cx="6400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069080" y="1737360"/>
            <a:ext cx="256032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内部空闲只有 20 字节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移动 xattr 失败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error = -ENOSPC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720840" y="2267712"/>
            <a:ext cx="6400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452360" y="182880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fallback：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extra_isize 16 → 32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需要 16 字节，可成功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59952" y="2788920"/>
            <a:ext cx="0" cy="73152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995160" y="3611880"/>
            <a:ext cx="342900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实际元数据已更新为 32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但 error 仍残留 -ENOSPC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调用者收到失败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5166360"/>
            <a:ext cx="9692640" cy="45720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结论：返回状态、实际元数据修改状态、空间计数必须同步更新。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三条总结规则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55680" y="329184"/>
            <a:ext cx="502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8686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</a:rPr>
              <a:t>文件系统元数据错误路径 · 错误传播 / 回滚 / 状态同步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324612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 1：错误必须传播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43400" y="1353312"/>
            <a:ext cx="6629400" cy="50292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5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未被恢复、重试、替代或回滚的必要元数据步骤失败，不得到达成功出口。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2148840"/>
            <a:ext cx="10058400" cy="0"/>
          </a:xfrm>
          <a:prstGeom prst="line">
            <a:avLst/>
          </a:prstGeom>
          <a:noFill/>
          <a:ln w="10160">
            <a:solidFill>
              <a:srgbClr val="CFCF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743200"/>
            <a:ext cx="324612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 2：失败后恢复所有状态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43400" y="2770632"/>
            <a:ext cx="6629400" cy="50292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5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多阶段操作失败时，必须撤销已执行的状态转换，或纳入明确中止 / 恢复 / 延迟清理机制。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3566160"/>
            <a:ext cx="10058400" cy="0"/>
          </a:xfrm>
          <a:prstGeom prst="line">
            <a:avLst/>
          </a:prstGeom>
          <a:noFill/>
          <a:ln w="10160">
            <a:solidFill>
              <a:srgbClr val="CFCF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160520"/>
            <a:ext cx="324612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111111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 3：返回值、元数据状态和空间计数同步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43400" y="4187952"/>
            <a:ext cx="6629400" cy="50292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5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返回状态、状态机阶段、空间/引用记账必须形成协议允许的组合。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2960" y="4983480"/>
            <a:ext cx="10058400" cy="0"/>
          </a:xfrm>
          <a:prstGeom prst="line">
            <a:avLst/>
          </a:prstGeom>
          <a:noFill/>
          <a:ln w="10160">
            <a:solidFill>
              <a:srgbClr val="CFCFC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最终抽象：退出状态是否合法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5568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55680" y="329184"/>
            <a:ext cx="502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</a:rPr>
              <a:t>10</a:t>
            </a:r>
            <a:endParaRPr lang="en-US" sz="1000" dirty="0"/>
          </a:p>
        </p:txBody>
      </p:sp>
      <p:sp>
        <p:nvSpPr>
          <p:cNvPr id="23" name="文本框 22"/>
          <p:cNvSpPr txBox="1"/>
          <p:nvPr/>
        </p:nvSpPr>
        <p:spPr>
          <a:xfrm>
            <a:off x="631508" y="128873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多阶段文件系统元数据操作的错误路径</a:t>
            </a:r>
            <a:endParaRPr lang="zh-CN" alt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"/>
          <p:cNvSpPr>
            <a:spLocks noGrp="1"/>
          </p:cNvSpPr>
          <p:nvPr/>
        </p:nvSpPr>
        <p:spPr>
          <a:xfrm>
            <a:off x="495274" y="1581246"/>
            <a:ext cx="8476808" cy="18096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495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失败路径文件系统</a:t>
            </a:r>
            <a:endParaRPr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defRPr sz="495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元数据残差分析</a:t>
            </a:r>
            <a:endParaRPr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176" y="504977"/>
            <a:ext cx="11277013" cy="609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775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code-MOTIVATING FAILURE SHAPE"/>
          <p:cNvSpPr>
            <a:spLocks noGrp="1"/>
          </p:cNvSpPr>
          <p:nvPr/>
        </p:nvSpPr>
        <p:spPr>
          <a:xfrm>
            <a:off x="457176" y="1466952"/>
            <a:ext cx="6286173" cy="4095537"/>
          </a:xfrm>
          <a:prstGeom prst="rect">
            <a:avLst/>
          </a:prstGeom>
          <a:solidFill>
            <a:srgbClr val="F7F7F7"/>
          </a:solidFill>
          <a:ln w="9525">
            <a:solidFill>
              <a:srgbClr val="BDBDBD"/>
            </a:solidFill>
            <a:prstDash val="solid"/>
          </a:ln>
        </p:spPr>
      </p:sp>
      <p:sp>
        <p:nvSpPr>
          <p:cNvPr id="6" name="bar-MOTIVATING FAILURE SHAPE"/>
          <p:cNvSpPr>
            <a:spLocks noGrp="1"/>
          </p:cNvSpPr>
          <p:nvPr/>
        </p:nvSpPr>
        <p:spPr>
          <a:xfrm>
            <a:off x="457176" y="1466952"/>
            <a:ext cx="66672" cy="4095537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" name="text"/>
          <p:cNvSpPr>
            <a:spLocks noGrp="1"/>
          </p:cNvSpPr>
          <p:nvPr/>
        </p:nvSpPr>
        <p:spPr>
          <a:xfrm>
            <a:off x="647666" y="1600295"/>
            <a:ext cx="5924241" cy="2285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defRPr sz="1050" b="1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b="1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MOTIVATING FAILURE SHAPE</a:t>
            </a:r>
            <a:endParaRPr b="1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text"/>
          <p:cNvSpPr>
            <a:spLocks noGrp="1"/>
          </p:cNvSpPr>
          <p:nvPr/>
        </p:nvSpPr>
        <p:spPr>
          <a:xfrm>
            <a:off x="647666" y="1914604"/>
            <a:ext cx="5943290" cy="35240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publish(owner, metadata_state);     // 状态先对外可见</a:t>
            </a:r>
            <a:endParaRPr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update(counter_or_topology);</a:t>
            </a:r>
            <a:endParaRPr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425"/>
          </a:p>
          <a:p>
            <a:pPr algn="l">
              <a:def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ret = later_operation();            // 后续步骤可能失败</a:t>
            </a:r>
            <a:endParaRPr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(ret)</a:t>
            </a:r>
            <a:endParaRPr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goto error;</a:t>
            </a:r>
            <a:endParaRPr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425"/>
          </a:p>
          <a:p>
            <a:pPr algn="l">
              <a:def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error:</a:t>
            </a:r>
            <a:endParaRPr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local_cleanup();                // 只清了一部分对象</a:t>
            </a:r>
            <a:endParaRPr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425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return ret;</a:t>
            </a:r>
            <a:endParaRPr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panel-分析问题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181476" y="1466952"/>
            <a:ext cx="4552713" cy="1200087"/>
          </a:xfrm>
          <a:prstGeom prst="rect">
            <a:avLst/>
          </a:prstGeom>
          <a:solidFill>
            <a:schemeClr val="bg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371966" y="1619344"/>
            <a:ext cx="4171733" cy="28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分析问题</a:t>
            </a:r>
            <a:endParaRPr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text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371966" y="1990800"/>
            <a:ext cx="4171733" cy="5524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9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错误路径上的 cleanup 是否真正覆盖了此前已经发布的元数据效果？</a:t>
            </a:r>
            <a:endParaRPr sz="14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57176" y="504977"/>
            <a:ext cx="11277013" cy="609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775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核心抽象把状态变化表示为可匹配、可追踪的效果</a:t>
            </a:r>
            <a:endParaRPr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title-rule"/>
          <p:cNvSpPr>
            <a:spLocks noGrp="1"/>
          </p:cNvSpPr>
          <p:nvPr/>
        </p:nvSpPr>
        <p:spPr>
          <a:xfrm>
            <a:off x="457176" y="1181217"/>
            <a:ext cx="11277013" cy="19049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" name="panel-E_f · reaching effects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176" y="1466952"/>
            <a:ext cx="2580015" cy="126134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" name="text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48288" y="1619842"/>
            <a:ext cx="2197790" cy="2866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E_f · reaching effects</a:t>
            </a:r>
            <a:endParaRPr sz="1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text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48288" y="1992511"/>
            <a:ext cx="2197790" cy="6115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9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失败前已经生效，并在 CFG 上能够到达失败调用的元数据效果。</a:t>
            </a:r>
            <a:endParaRPr sz="14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panel-C_f · cancellation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323859" y="1466952"/>
            <a:ext cx="2580015" cy="126134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9" name="text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514971" y="1619842"/>
            <a:ext cx="2197790" cy="2866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C_f · cancellation</a:t>
            </a:r>
            <a:endParaRPr sz="1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text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514971" y="1992511"/>
            <a:ext cx="2197790" cy="6115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9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错误路径上对同一对象、键和值执行的逆向效果。</a:t>
            </a:r>
            <a:endParaRPr sz="14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panel-T_f · protection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190542" y="1466952"/>
            <a:ext cx="2580015" cy="1261340"/>
          </a:xfrm>
          <a:prstGeom prst="rect">
            <a:avLst/>
          </a:prstGeom>
          <a:solidFill>
            <a:srgbClr val="F3F3F3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2" name="text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381654" y="1619842"/>
            <a:ext cx="2197790" cy="2866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T_f · protection</a:t>
            </a:r>
            <a:endParaRPr sz="1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text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381654" y="1992511"/>
            <a:ext cx="2197790" cy="6115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39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事务 abort、fatal shutdown等明确接管效果。</a:t>
            </a:r>
            <a:endParaRPr sz="14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panel-R_f · residual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9057224" y="1466952"/>
            <a:ext cx="2713793" cy="1261340"/>
          </a:xfrm>
          <a:prstGeom prst="rect">
            <a:avLst/>
          </a:prstGeom>
          <a:solidFill>
            <a:schemeClr val="bg2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" name="text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9248336" y="1619842"/>
            <a:ext cx="2331569" cy="2866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R_f · residual</a:t>
            </a:r>
            <a:endParaRPr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text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248336" y="1992511"/>
            <a:ext cx="2331569" cy="6115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9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4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R_f = Normalize(E_f ⊕ C_f) − T_f</a:t>
            </a:r>
            <a:endParaRPr sz="1400" b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code-IDENTITY-AWARE CANCELLATION"/>
          <p:cNvSpPr>
            <a:spLocks noGrp="1"/>
          </p:cNvSpPr>
          <p:nvPr/>
        </p:nvSpPr>
        <p:spPr>
          <a:xfrm>
            <a:off x="2927198" y="3076593"/>
            <a:ext cx="6372528" cy="3047206"/>
          </a:xfrm>
          <a:prstGeom prst="rect">
            <a:avLst/>
          </a:prstGeom>
          <a:solidFill>
            <a:srgbClr val="F7F7F7"/>
          </a:solidFill>
          <a:ln w="9525">
            <a:solidFill>
              <a:srgbClr val="BDBDBD"/>
            </a:solidFill>
            <a:prstDash val="solid"/>
          </a:ln>
        </p:spPr>
      </p:sp>
      <p:sp>
        <p:nvSpPr>
          <p:cNvPr id="22" name="bar-IDENTITY-AWARE CANCELLATION"/>
          <p:cNvSpPr>
            <a:spLocks noGrp="1"/>
          </p:cNvSpPr>
          <p:nvPr/>
        </p:nvSpPr>
        <p:spPr>
          <a:xfrm>
            <a:off x="2927198" y="3076593"/>
            <a:ext cx="78101" cy="3047206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" name="text"/>
          <p:cNvSpPr>
            <a:spLocks noGrp="1"/>
          </p:cNvSpPr>
          <p:nvPr/>
        </p:nvSpPr>
        <p:spPr>
          <a:xfrm>
            <a:off x="3117688" y="3209936"/>
            <a:ext cx="5945830" cy="2501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1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IDENTITY-AWARE CANCELLATION</a:t>
            </a:r>
            <a:endParaRPr sz="1400" b="1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text"/>
          <p:cNvSpPr>
            <a:spLocks noGrp="1"/>
          </p:cNvSpPr>
          <p:nvPr/>
        </p:nvSpPr>
        <p:spPr>
          <a:xfrm>
            <a:off x="3117688" y="3524245"/>
            <a:ext cx="5968054" cy="24211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ADD(list, device)       ↔ REMOVE(list, device)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INC(counter, n)         ↔ DEC(counter, n)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SET(state_bit, value)   ↔ CLEAR(state_bit, value)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ATTACH(owner.field, x)  ↔ DROP(owner.field, x)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400"/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same spelling           ≠ same identity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free(local_object)      ≠ rollback(owner.field)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35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>
                <a:solidFill>
                  <a:srgbClr val="00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transaction abort       ≠ arbitrary state restore</a:t>
            </a:r>
            <a:endParaRPr sz="1400" b="0">
              <a:solidFill>
                <a:srgbClr val="000000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2.5,&quot;left&quot;:565.4705511811023,&quot;top&quot;:115.5,&quot;width&quot;:358.5294488188976}"/>
</p:tagLst>
</file>

<file path=ppt/tags/tag2.xml><?xml version="1.0" encoding="utf-8"?>
<p:tagLst xmlns:p="http://schemas.openxmlformats.org/presentationml/2006/main">
  <p:tag name="KSO_WM_DIAGRAM_VIRTUALLY_FRAME" val="{&quot;height&quot;:322.5,&quot;left&quot;:565.4705511811023,&quot;top&quot;:115.5,&quot;width&quot;:358.5294488188976}"/>
</p:tagLst>
</file>

<file path=ppt/tags/tag3.xml><?xml version="1.0" encoding="utf-8"?>
<p:tagLst xmlns:p="http://schemas.openxmlformats.org/presentationml/2006/main">
  <p:tag name="KSO_WM_DIAGRAM_VIRTUALLY_FRAME" val="{&quot;height&quot;:322.5,&quot;left&quot;:565.4705511811023,&quot;top&quot;:115.5,&quot;width&quot;:358.5294488188976}"/>
</p:tagLst>
</file>

<file path=ppt/tags/tag4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5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6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7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8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9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10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11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12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13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14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ags/tag15.xml><?xml version="1.0" encoding="utf-8"?>
<p:tagLst xmlns:p="http://schemas.openxmlformats.org/presentationml/2006/main">
  <p:tag name="KSO_WM_DIAGRAM_VIRTUALLY_FRAME" val="{&quot;height&quot;:116.8,&quot;left&quot;:36,&quot;top&quot;:115.5,&quot;width&quot;:890.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2091</Words>
  <Application>WPS 演示</Application>
  <PresentationFormat>On-screen Show (16:9)</PresentationFormat>
  <Paragraphs>219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微软雅黑</vt:lpstr>
      <vt:lpstr>Consolas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针对于元数据的错误路径</dc:title>
  <dc:creator>OpenAI</dc:creator>
  <dc:subject>文件系统元数据错误路径</dc:subject>
  <cp:lastModifiedBy>闫光辉</cp:lastModifiedBy>
  <cp:revision>6</cp:revision>
  <dcterms:created xsi:type="dcterms:W3CDTF">2026-07-22T02:40:00Z</dcterms:created>
  <dcterms:modified xsi:type="dcterms:W3CDTF">2026-07-28T05:08:32Z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2052-12.1.0.24031</vt:lpwstr>
  </property>
  <property fmtid="{D5CDD505-2E9C-101B-9397-08002B2CF9AE}" pid="3" name="ICV">
    <vt:lpwstr>6B6EE9BB661E4E79A26EEC84B145AE37_12</vt:lpwstr>
  </property>
</Properties>
</file>