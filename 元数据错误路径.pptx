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0" r:id="rId7"/>
    <p:sldId id="261" r:id="rId8"/>
    <p:sldId id="263" r:id="rId9"/>
    <p:sldId id="264" r:id="rId10"/>
    <p:sldId id="265" r:id="rId11"/>
    <p:sldId id="267" r:id="rId12"/>
    <p:sldId id="268" r:id="rId13"/>
    <p:sldId id="271" r:id="rId14"/>
    <p:sldId id="272" r:id="rId15"/>
    <p:sldId id="273" r:id="rId16"/>
    <p:sldId id="294" r:id="rId17"/>
    <p:sldId id="275" r:id="rId18"/>
    <p:sldId id="276" r:id="rId19"/>
    <p:sldId id="277" r:id="rId20"/>
    <p:sldId id="281" r:id="rId21"/>
    <p:sldId id="295" r:id="rId22"/>
    <p:sldId id="296" r:id="rId23"/>
    <p:sldId id="297" r:id="rId24"/>
    <p:sldId id="298" r:id="rId25"/>
    <p:sldId id="299" r:id="rId26"/>
    <p:sldId id="300" r:id="rId27"/>
    <p:sldId id="302" r:id="rId28"/>
    <p:sldId id="301" r:id="rId29"/>
    <p:sldId id="303" r:id="rId30"/>
    <p:sldId id="304" r:id="rId31"/>
    <p:sldId id="305" r:id="rId32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>
              <a:ea typeface="宋体" panose="02010600030101010101" pitchFamily="2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第一步解决字符串不可推理问题。相同变量名不保证同一对象，不同表达式也可能指向同一对象；类型化事件必须保留原始源码与身份推导链。无法证明时输出 UNKNOWN。</a:t>
            </a:r>
          </a:p>
          <a:p/>
          <a:p>
            <a:r>
              <a:t>[Sources]</a:t>
            </a:r>
          </a:p>
          <a:p>
            <a:r>
              <a:t>- E:/yanjiusheng/阅读论文/file_system/SE_EOD/PROJECT_HANDOFF.md</a:t>
            </a:r>
          </a:p>
          <a:p>
            <a:r>
              <a:t>- C:/Users/yan12/.codex/attachments/d7a7215a-5065-4d78-94c1-caeecf056841/pasted-text.txt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tags" Target="../tags/tag11.xml"/><Relationship Id="rId7" Type="http://schemas.openxmlformats.org/officeDocument/2006/relationships/tags" Target="../tags/tag10.xml"/><Relationship Id="rId6" Type="http://schemas.openxmlformats.org/officeDocument/2006/relationships/tags" Target="../tags/tag9.xml"/><Relationship Id="rId5" Type="http://schemas.openxmlformats.org/officeDocument/2006/relationships/tags" Target="../tags/tag8.xml"/><Relationship Id="rId4" Type="http://schemas.openxmlformats.org/officeDocument/2006/relationships/tags" Target="../tags/tag7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4" Type="http://schemas.openxmlformats.org/officeDocument/2006/relationships/notesSlide" Target="../notesSlides/notesSlide1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15.xml"/><Relationship Id="rId11" Type="http://schemas.openxmlformats.org/officeDocument/2006/relationships/tags" Target="../tags/tag14.xml"/><Relationship Id="rId10" Type="http://schemas.openxmlformats.org/officeDocument/2006/relationships/tags" Target="../tags/tag13.xml"/><Relationship Id="rId1" Type="http://schemas.openxmlformats.org/officeDocument/2006/relationships/tags" Target="../tags/tag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3" Type="http://schemas.openxmlformats.org/officeDocument/2006/relationships/notesSlide" Target="../notesSlides/notesSlide13.xml"/><Relationship Id="rId22" Type="http://schemas.openxmlformats.org/officeDocument/2006/relationships/slideLayout" Target="../slideLayouts/slideLayout2.xml"/><Relationship Id="rId21" Type="http://schemas.openxmlformats.org/officeDocument/2006/relationships/tags" Target="../tags/tag36.xml"/><Relationship Id="rId20" Type="http://schemas.openxmlformats.org/officeDocument/2006/relationships/tags" Target="../tags/tag35.xml"/><Relationship Id="rId2" Type="http://schemas.openxmlformats.org/officeDocument/2006/relationships/tags" Target="../tags/tag17.xml"/><Relationship Id="rId19" Type="http://schemas.openxmlformats.org/officeDocument/2006/relationships/tags" Target="../tags/tag34.xml"/><Relationship Id="rId18" Type="http://schemas.openxmlformats.org/officeDocument/2006/relationships/tags" Target="../tags/tag33.xml"/><Relationship Id="rId17" Type="http://schemas.openxmlformats.org/officeDocument/2006/relationships/tags" Target="../tags/tag32.xml"/><Relationship Id="rId16" Type="http://schemas.openxmlformats.org/officeDocument/2006/relationships/tags" Target="../tags/tag31.xml"/><Relationship Id="rId15" Type="http://schemas.openxmlformats.org/officeDocument/2006/relationships/tags" Target="../tags/tag30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3" Type="http://schemas.openxmlformats.org/officeDocument/2006/relationships/notesSlide" Target="../notesSlides/notesSlide17.xml"/><Relationship Id="rId12" Type="http://schemas.openxmlformats.org/officeDocument/2006/relationships/slideLayout" Target="../slideLayouts/slideLayout2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3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417320"/>
            <a:ext cx="81381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针对于元数据的错误路径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13232" y="2331720"/>
            <a:ext cx="621792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Bug 分类总览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365760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1325880"/>
            <a:ext cx="109728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5897880" cy="658368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核心失效点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984248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元数据错误被吞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984248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1984248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必要步骤失败，但最终 return 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642616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元数据修改后回滚不完整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2642616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2642616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多阶段修改失败，只撤销局部状态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300984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返回值 / 技术状态污染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89120" y="3300984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3300984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变量残留，返回语义与实际状态不一致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59352"/>
            <a:ext cx="36576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纯资源释放缺失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89120" y="3959352"/>
            <a:ext cx="10972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959352"/>
            <a:ext cx="589788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资源生命周期未完整闭合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类型一：元数据错误被吞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143000"/>
            <a:ext cx="1828800" cy="256032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典型模式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底层元数据操作返回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-EIO / -ENOMEM / -EFSCORRUPTED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862072" y="2066544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68680" y="2359152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错误保存在 ret / error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862072" y="2916936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68680" y="3209544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跳到统一清理路径 out: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862072" y="3767328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868680" y="4059936"/>
            <a:ext cx="3977640" cy="53035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清理资源后 return 0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862072" y="4617720"/>
            <a:ext cx="0" cy="237744"/>
          </a:xfrm>
          <a:prstGeom prst="line">
            <a:avLst/>
          </a:prstGeom>
          <a:noFill/>
          <a:ln w="1143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68680" y="4910328"/>
            <a:ext cx="3977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上层误判为成功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669280" y="1325880"/>
            <a:ext cx="2011680" cy="292608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破坏的规则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783080"/>
            <a:ext cx="4526280" cy="96012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“返回成功”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必须意味着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元数据操作完整成功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669280" y="3246120"/>
            <a:ext cx="5029200" cy="804672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后果：调用者没有机会停止、回滚或取消事务，错误会被带入后续恢复、扩容或提交流程。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0" y="4800600"/>
            <a:ext cx="50292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总结：必要元数据步骤失败，不得进入成功出口。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例子：ext4 fast commit replay 中的局部不一致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初始：inode extent</a:t>
            </a:r>
            <a:endParaRPr lang="en-US" sz="1380" dirty="0"/>
          </a:p>
          <a:p>
            <a:pPr marL="0" indent="0" algn="ctr">
              <a:buNone/>
            </a:pPr>
            <a:r>
              <a:rPr lang="en-US" sz="13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100–199 → 物理块 5000–5099</a:t>
            </a:r>
            <a:endParaRPr lang="en-US" sz="1380" dirty="0"/>
          </a:p>
        </p:txBody>
      </p:sp>
      <p:sp>
        <p:nvSpPr>
          <p:cNvPr id="7" name="Shape 5"/>
          <p:cNvSpPr/>
          <p:nvPr/>
        </p:nvSpPr>
        <p:spPr>
          <a:xfrm>
            <a:off x="3886200" y="1682496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709160" y="1143000"/>
            <a:ext cx="2331720" cy="107899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步骤 1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ext4_mb_mark_bb()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把物理块标记为空闲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50608" y="1682496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973568" y="1143000"/>
            <a:ext cx="27432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步骤 2 失败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ext4_ext_remove_space()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没有删除 extent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88720" y="3063240"/>
            <a:ext cx="2926080" cy="530352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对象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6035040" cy="530352"/>
          </a:xfrm>
          <a:prstGeom prst="rect">
            <a:avLst/>
          </a:prstGeom>
          <a:solidFill>
            <a:srgbClr val="F2F2F2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函数退出后的状态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88720" y="3593592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inode extent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114800" y="3593592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仍然引用 5000–5099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88720" y="4123944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块分配状态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114800" y="4123944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5000–5099 已被标为空闲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88720" y="4654296"/>
            <a:ext cx="292608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返回值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114800" y="4654296"/>
            <a:ext cx="6035040" cy="530352"/>
          </a:xfrm>
          <a:prstGeom prst="rect">
            <a:avLst/>
          </a:prstGeom>
          <a:solidFill>
            <a:srgbClr val="FFFFFF"/>
          </a:solidFill>
          <a:ln w="889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return 0，向上报告成功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417320" y="5394960"/>
            <a:ext cx="8961120" cy="530352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矛盾：同一批物理块同时“被 inode 引用”又“可被重新分配”。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类型二：元数据修改后回滚不完整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文件系统元数据错误路径 · 错误传播 / 回滚 / 状态同步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143000"/>
            <a:ext cx="10058400" cy="36576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多阶段状态转换没有被当作“失败原子”的事务来实现。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965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状态 1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已修改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11880" y="1828800"/>
            <a:ext cx="1965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状态 2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已修改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55080" y="1828800"/>
            <a:ext cx="196596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状态 3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80360" y="217627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23560" y="217627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103120" y="3246120"/>
            <a:ext cx="3246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错误路径只清理一部分对象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40680" y="3547872"/>
            <a:ext cx="73152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309360" y="3090672"/>
            <a:ext cx="38862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指针 / 链表 / 引用 / 计数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仍停留在中间状态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05840" y="4892040"/>
            <a:ext cx="9966960" cy="59436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应有原则：失败路径必须按逆向顺序恢复所有已改变的不变量，或进入明确的中止、延迟清理机制。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类型三：返回值 / 技术状态污染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文件系统元数据错误路径 · 错误传播 / 回滚 / 状态同步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078992"/>
            <a:ext cx="10607040" cy="41148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一个变量在前一阶段表示错误，进入下一阶段后却没有重新初始化；后续代码仍按旧语义解释它。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2377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第一次目标：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extra_isize 16 → 64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需要 48 字节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226771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69080" y="1737360"/>
            <a:ext cx="2560320" cy="10515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内部空闲只有 20 字节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移动 xattr 失败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error = -ENOSPC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720840" y="2267712"/>
            <a:ext cx="6400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452360" y="1828800"/>
            <a:ext cx="2606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fallback：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extra_isize 16 → 32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需要 16 字节，可成功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788920"/>
            <a:ext cx="0" cy="73152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995160" y="3611880"/>
            <a:ext cx="342900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实际元数据已更新为 32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但 error 仍残留 -ENOSPC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调用者收到失败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5166360"/>
            <a:ext cx="9692640" cy="45720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结论：返回状态、实际元数据修改状态、空间计数必须同步更新。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三条总结规则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8686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文件系统元数据错误路径 · 错误传播 / 回滚 / 状态同步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 1：错误必须传播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343400" y="135331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未被恢复、重试、替代或回滚的必要元数据步骤失败，不得到达成功出口。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4320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 2：失败后恢复所有状态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43400" y="277063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多阶段操作失败时，必须撤销已执行的状态转换，或纳入明确中止 / 恢复 / 延迟清理机制。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356616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160520"/>
            <a:ext cx="3246120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11111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 3：返回值、元数据状态和空间计数同步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43400" y="4187952"/>
            <a:ext cx="6629400" cy="502920"/>
          </a:xfrm>
          <a:prstGeom prst="rect">
            <a:avLst/>
          </a:prstGeom>
          <a:noFill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55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返回状态、状态机阶段、空间/引用记账必须形成协议允许的组合。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983480"/>
            <a:ext cx="10058400" cy="0"/>
          </a:xfrm>
          <a:prstGeom prst="line">
            <a:avLst/>
          </a:prstGeom>
          <a:noFill/>
          <a:ln w="10160">
            <a:solidFill>
              <a:srgbClr val="CFCFC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最终抽象：退出状态是否合法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556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55680" y="329184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5555"/>
                </a:solidFill>
              </a:rPr>
              <a:t>10</a:t>
            </a:r>
            <a:endParaRPr lang="en-US" sz="1000" dirty="0"/>
          </a:p>
        </p:txBody>
      </p:sp>
      <p:sp>
        <p:nvSpPr>
          <p:cNvPr id="23" name="文本框 22"/>
          <p:cNvSpPr txBox="1"/>
          <p:nvPr/>
        </p:nvSpPr>
        <p:spPr>
          <a:xfrm>
            <a:off x="631508" y="128873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600"/>
              <a:t>多阶段文件系统元数据操作的错误路径</a:t>
            </a:r>
            <a:endParaRPr lang="zh-CN" altLang="en-US"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"/>
          <p:cNvSpPr>
            <a:spLocks noGrp="1"/>
          </p:cNvSpPr>
          <p:nvPr/>
        </p:nvSpPr>
        <p:spPr>
          <a:xfrm>
            <a:off x="495274" y="1581246"/>
            <a:ext cx="8476808" cy="18096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95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失败路径文件系统</a:t>
            </a:r>
            <a:endParaRPr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495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元数据残差分析</a:t>
            </a:r>
            <a:endParaRPr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176" y="504977"/>
            <a:ext cx="11277013" cy="609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endParaRPr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code-MOTIVATING FAILURE SHAPE"/>
          <p:cNvSpPr>
            <a:spLocks noGrp="1"/>
          </p:cNvSpPr>
          <p:nvPr/>
        </p:nvSpPr>
        <p:spPr>
          <a:xfrm>
            <a:off x="457176" y="1466952"/>
            <a:ext cx="6286173" cy="4095537"/>
          </a:xfrm>
          <a:prstGeom prst="rect">
            <a:avLst/>
          </a:prstGeom>
          <a:solidFill>
            <a:srgbClr val="F7F7F7"/>
          </a:solidFill>
          <a:ln w="9525">
            <a:solidFill>
              <a:srgbClr val="BDBDBD"/>
            </a:solidFill>
            <a:prstDash val="solid"/>
          </a:ln>
        </p:spPr>
      </p:sp>
      <p:sp>
        <p:nvSpPr>
          <p:cNvPr id="6" name="bar-MOTIVATING FAILURE SHAPE"/>
          <p:cNvSpPr>
            <a:spLocks noGrp="1"/>
          </p:cNvSpPr>
          <p:nvPr/>
        </p:nvSpPr>
        <p:spPr>
          <a:xfrm>
            <a:off x="457176" y="1466952"/>
            <a:ext cx="66672" cy="4095537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"/>
          <p:cNvSpPr>
            <a:spLocks noGrp="1"/>
          </p:cNvSpPr>
          <p:nvPr/>
        </p:nvSpPr>
        <p:spPr>
          <a:xfrm>
            <a:off x="647666" y="1600295"/>
            <a:ext cx="5924241" cy="2285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defRPr sz="1050"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1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MOTIVATING FAILURE SHAPE</a:t>
            </a:r>
            <a:endParaRPr b="1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8" name="text"/>
          <p:cNvSpPr>
            <a:spLocks noGrp="1"/>
          </p:cNvSpPr>
          <p:nvPr/>
        </p:nvSpPr>
        <p:spPr>
          <a:xfrm>
            <a:off x="647666" y="1914604"/>
            <a:ext cx="5943290" cy="35240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publish(owner, metadata_state);     // 状态先对外可见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update(counter_or_topology);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ret = later_operation();            // 后续步骤可能失败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 (ret)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goto error;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425"/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error: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local_cleanup();                // 只清了一部分对象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defRPr sz="142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return ret;</a:t>
            </a:r>
            <a:endParaRPr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panel-分析问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7181476" y="1466952"/>
            <a:ext cx="4552713" cy="1200087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371966" y="1619344"/>
            <a:ext cx="417173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分析问题</a:t>
            </a:r>
            <a:endParaRPr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371966" y="1990800"/>
            <a:ext cx="4171733" cy="5524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错误路径上的 cleanup 是否真正覆盖了此前已经发布的元数据效果？</a:t>
            </a:r>
            <a:endParaRPr sz="1400" b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/>
        </p:nvSpPr>
        <p:spPr>
          <a:xfrm>
            <a:off x="457176" y="504977"/>
            <a:ext cx="11277013" cy="609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核心抽象把状态变化表示为可匹配、可追踪的效果</a:t>
            </a:r>
            <a:endParaRPr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title-rule"/>
          <p:cNvSpPr>
            <a:spLocks noGrp="1"/>
          </p:cNvSpPr>
          <p:nvPr/>
        </p:nvSpPr>
        <p:spPr>
          <a:xfrm>
            <a:off x="457176" y="1181217"/>
            <a:ext cx="11277013" cy="19049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" name="panel-E_f · reaching effects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57176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6" name="text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48288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E_f · reaching effects</a:t>
            </a:r>
            <a:endParaRPr sz="14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text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48288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失败前已经生效，并在 CFG 上能够到达失败调用的元数据效果。</a:t>
            </a:r>
            <a:endParaRPr sz="1400" b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panel-C_f · cancellation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323859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9" name="text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514971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C_f · cancellation</a:t>
            </a:r>
            <a:endParaRPr sz="14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text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514971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错误路径上对同一对象、键和值执行的逆向效果。</a:t>
            </a:r>
            <a:endParaRPr sz="1400" b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panel-T_f · protection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190542" y="1466952"/>
            <a:ext cx="2580015" cy="1261340"/>
          </a:xfrm>
          <a:prstGeom prst="rect">
            <a:avLst/>
          </a:prstGeom>
          <a:solidFill>
            <a:srgbClr val="F3F3F3"/>
          </a:solidFill>
          <a:ln w="9525">
            <a:solidFill>
              <a:srgbClr val="D8D8D8"/>
            </a:solidFill>
            <a:prstDash val="solid"/>
          </a:ln>
        </p:spPr>
      </p:sp>
      <p:sp>
        <p:nvSpPr>
          <p:cNvPr id="12" name="text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6381654" y="1619842"/>
            <a:ext cx="2197790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T_f · protection</a:t>
            </a:r>
            <a:endParaRPr sz="14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text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381654" y="1992511"/>
            <a:ext cx="2197790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9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事务 abort、fatal shutdown等明确接管效果。</a:t>
            </a:r>
            <a:endParaRPr sz="1400" b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panel-R_f · residual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9057224" y="1466952"/>
            <a:ext cx="2713793" cy="1261340"/>
          </a:xfrm>
          <a:prstGeom prst="rect">
            <a:avLst/>
          </a:prstGeom>
          <a:solidFill>
            <a:schemeClr val="bg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9248336" y="1619842"/>
            <a:ext cx="2331569" cy="2866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R_f · residual</a:t>
            </a:r>
            <a:endParaRPr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6" name="text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9248336" y="1992511"/>
            <a:ext cx="2331569" cy="6115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90" b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4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R_f = Normalize(E_f ⊕ C_f) − T_f</a:t>
            </a:r>
            <a:endParaRPr sz="1400" b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4775" y="159385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E_f · reaching effects</a:t>
            </a:r>
            <a:endParaRPr lang="zh-CN" altLang="en-US" sz="14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39725" y="591185"/>
            <a:ext cx="10419080" cy="60483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具体工作</a:t>
            </a:r>
            <a:endParaRPr lang="zh-CN" altLang="en-US" sz="1400"/>
          </a:p>
          <a:p>
            <a:r>
              <a:rPr lang="zh-CN" altLang="en-US" sz="1400"/>
              <a:t>对于每个失败点</a:t>
            </a:r>
            <a:r>
              <a:rPr lang="en-US" altLang="zh-CN" sz="1400"/>
              <a:t> f</a:t>
            </a:r>
            <a:r>
              <a:rPr lang="zh-CN" altLang="en-US" sz="1400"/>
              <a:t>，从失败点向后遍历</a:t>
            </a:r>
            <a:r>
              <a:rPr lang="en-US" altLang="zh-CN" sz="1400"/>
              <a:t> CFG</a:t>
            </a:r>
            <a:r>
              <a:rPr lang="zh-CN" altLang="en-US" sz="1400"/>
              <a:t>，找出能够到达该失败点的元数据</a:t>
            </a:r>
            <a:r>
              <a:rPr lang="en-US" altLang="zh-CN" sz="1400"/>
              <a:t> effect</a:t>
            </a:r>
            <a:r>
              <a:rPr lang="zh-CN" altLang="en-US" sz="1400"/>
              <a:t>。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主要来源包括：</a:t>
            </a:r>
            <a:endParaRPr lang="zh-CN" altLang="en-US" sz="1400"/>
          </a:p>
          <a:p>
            <a:r>
              <a:rPr lang="zh-CN" altLang="en-US" sz="1400"/>
              <a:t>当前函数中的直接字段修改</a:t>
            </a:r>
            <a:endParaRPr lang="zh-CN" altLang="en-US" sz="1400"/>
          </a:p>
          <a:p>
            <a:r>
              <a:rPr lang="zh-CN" altLang="en-US" sz="1400"/>
              <a:t>显式元数据</a:t>
            </a:r>
            <a:r>
              <a:rPr lang="en-US" altLang="zh-CN" sz="1400"/>
              <a:t> API</a:t>
            </a:r>
            <a:endParaRPr lang="en-US" altLang="zh-CN" sz="1400"/>
          </a:p>
          <a:p>
            <a:r>
              <a:rPr lang="zh-CN" altLang="en-US" sz="1400"/>
              <a:t>跨函数</a:t>
            </a:r>
            <a:r>
              <a:rPr lang="en-US" altLang="zh-CN" sz="1400"/>
              <a:t> summary </a:t>
            </a:r>
            <a:r>
              <a:rPr lang="zh-CN" altLang="en-US" sz="1400"/>
              <a:t>投影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它解决的是：</a:t>
            </a:r>
            <a:endParaRPr lang="zh-CN" altLang="en-US" sz="1400"/>
          </a:p>
          <a:p>
            <a:r>
              <a:rPr lang="zh-CN" altLang="en-US" sz="1400"/>
              <a:t>失败发生之前，哪些元数据修改已经执行，因而可能需要在错误路径中处理？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/>
              <a:t>没有</a:t>
            </a:r>
            <a:r>
              <a:rPr lang="en-US" altLang="zh-CN" sz="1400"/>
              <a:t> E_f</a:t>
            </a:r>
            <a:r>
              <a:rPr lang="zh-CN" altLang="en-US" sz="1400"/>
              <a:t>，工具只能看到错误路径上的</a:t>
            </a:r>
            <a:r>
              <a:rPr lang="en-US" altLang="zh-CN" sz="1400"/>
              <a:t> cleanup</a:t>
            </a:r>
            <a:r>
              <a:rPr lang="zh-CN" altLang="en-US" sz="1400"/>
              <a:t>，却不知道</a:t>
            </a:r>
            <a:r>
              <a:rPr lang="en-US" altLang="zh-CN" sz="1400"/>
              <a:t> cleanup </a:t>
            </a:r>
            <a:r>
              <a:rPr lang="zh-CN" altLang="en-US" sz="1400"/>
              <a:t>应该对应什么修改。</a:t>
            </a:r>
            <a:endParaRPr lang="zh-CN" altLang="en-US" sz="1400"/>
          </a:p>
          <a:p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缺点：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 sz="1400"/>
              <a:t>E_f </a:t>
            </a:r>
            <a:r>
              <a:rPr lang="zh-CN" altLang="en-US" sz="1400"/>
              <a:t>记录的是单个</a:t>
            </a:r>
            <a:r>
              <a:rPr lang="en-US" altLang="zh-CN" sz="1400"/>
              <a:t> effect</a:t>
            </a:r>
            <a:r>
              <a:rPr lang="zh-CN" altLang="en-US" sz="1400"/>
              <a:t>：</a:t>
            </a:r>
            <a:endParaRPr lang="zh-CN" altLang="en-US" sz="1400"/>
          </a:p>
          <a:p>
            <a:r>
              <a:rPr lang="zh-CN" altLang="en-US" sz="1400"/>
              <a:t>被修改的根对象</a:t>
            </a:r>
            <a:r>
              <a:rPr lang="en-US" altLang="zh-CN" sz="1400"/>
              <a:t>   </a:t>
            </a:r>
            <a:r>
              <a:rPr lang="zh-CN" altLang="en-US" sz="1400"/>
              <a:t>被修改的字段或属性</a:t>
            </a:r>
            <a:r>
              <a:rPr lang="en-US" altLang="zh-CN" sz="1400"/>
              <a:t>     </a:t>
            </a:r>
            <a:r>
              <a:rPr lang="zh-CN" altLang="en-US" sz="1400"/>
              <a:t>修改类型</a:t>
            </a:r>
            <a:r>
              <a:rPr lang="en-US" altLang="zh-CN" sz="1400"/>
              <a:t>       </a:t>
            </a:r>
            <a:r>
              <a:rPr lang="zh-CN" altLang="en-US" sz="1400"/>
              <a:t>写入或操作的值</a:t>
            </a:r>
            <a:endParaRPr lang="zh-CN" altLang="en-US" sz="1400"/>
          </a:p>
          <a:p>
            <a:r>
              <a:rPr lang="en-US" altLang="zh-CN" sz="1400"/>
              <a:t>root +                key +                          delta +          value</a:t>
            </a:r>
            <a:endParaRPr lang="en-US" altLang="zh-CN" sz="1400"/>
          </a:p>
          <a:p>
            <a:r>
              <a:rPr lang="zh-CN" altLang="en-US" sz="1400"/>
              <a:t>例如：</a:t>
            </a:r>
            <a:endParaRPr lang="zh-CN" altLang="en-US" sz="1400"/>
          </a:p>
          <a:p>
            <a:r>
              <a:rPr lang="en-US" altLang="zh-CN" sz="1400"/>
              <a:t>SET inode.bitmap = allocated</a:t>
            </a:r>
            <a:endParaRPr lang="en-US" altLang="zh-CN" sz="1400"/>
          </a:p>
          <a:p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但它不理解</a:t>
            </a:r>
            <a:r>
              <a:rPr lang="zh-CN" altLang="en-US" sz="1400"/>
              <a:t>元数据之间的不变量：</a:t>
            </a:r>
            <a:endParaRPr lang="zh-CN" altLang="en-US" sz="1400"/>
          </a:p>
          <a:p>
            <a:r>
              <a:rPr lang="en-US" altLang="zh-CN" sz="1400"/>
              <a:t>Dentry(P,N,I) -&gt; AllocatedInode(I)</a:t>
            </a:r>
            <a:br>
              <a:rPr lang="en-US" altLang="zh-CN" sz="1400"/>
            </a:br>
            <a:r>
              <a:rPr lang="zh-CN" altLang="en-US" sz="1400"/>
              <a:t>如果父目录</a:t>
            </a:r>
            <a:r>
              <a:rPr lang="en-US" altLang="zh-CN" sz="1400"/>
              <a:t> P </a:t>
            </a:r>
            <a:r>
              <a:rPr lang="zh-CN" altLang="en-US" sz="1400"/>
              <a:t>中存在名称为</a:t>
            </a:r>
            <a:r>
              <a:rPr lang="en-US" altLang="zh-CN" sz="1400"/>
              <a:t> N</a:t>
            </a:r>
            <a:r>
              <a:rPr lang="zh-CN" altLang="en-US" sz="1400"/>
              <a:t>、指向</a:t>
            </a:r>
            <a:r>
              <a:rPr lang="en-US" altLang="zh-CN" sz="1400"/>
              <a:t> inode I </a:t>
            </a:r>
            <a:r>
              <a:rPr lang="zh-CN" altLang="en-US" sz="1400"/>
              <a:t>的目录项，那么</a:t>
            </a:r>
            <a:r>
              <a:rPr lang="en-US" altLang="zh-CN" sz="1400"/>
              <a:t> inode I </a:t>
            </a:r>
            <a:r>
              <a:rPr lang="zh-CN" altLang="en-US" sz="1400"/>
              <a:t>必须是已分配的。</a:t>
            </a:r>
            <a:endParaRPr lang="zh-CN" altLang="en-US" sz="1400"/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47015" y="1581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C_f · cancellation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74980" y="526415"/>
            <a:ext cx="11358245" cy="6122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具体工作</a:t>
            </a:r>
            <a:endParaRPr lang="zh-CN" altLang="en-US" sz="1400"/>
          </a:p>
          <a:p>
            <a:r>
              <a:rPr lang="en-US" altLang="zh-CN" sz="1400"/>
              <a:t>C_f </a:t>
            </a:r>
            <a:r>
              <a:rPr lang="zh-CN" altLang="en-US" sz="1400"/>
              <a:t>收集能够撤销或补偿</a:t>
            </a:r>
            <a:r>
              <a:rPr lang="en-US" altLang="zh-CN" sz="1400"/>
              <a:t> E_f </a:t>
            </a:r>
            <a:r>
              <a:rPr lang="zh-CN" altLang="en-US" sz="1400"/>
              <a:t>的操作，</a:t>
            </a:r>
            <a:endParaRPr lang="zh-CN" altLang="en-US" sz="1400"/>
          </a:p>
          <a:p>
            <a:r>
              <a:rPr lang="zh-CN" altLang="en-US" sz="1400"/>
              <a:t>包括：</a:t>
            </a:r>
            <a:endParaRPr lang="zh-CN" altLang="en-US" sz="1400"/>
          </a:p>
          <a:p>
            <a:r>
              <a:rPr lang="zh-CN" altLang="en-US" sz="1400"/>
              <a:t>失败前已经执行的补偿</a:t>
            </a:r>
            <a:endParaRPr lang="zh-CN" altLang="en-US" sz="1400"/>
          </a:p>
          <a:p>
            <a:r>
              <a:rPr lang="zh-CN" altLang="en-US" sz="1400"/>
              <a:t>失败调用与错误检查之间的补偿</a:t>
            </a:r>
            <a:endParaRPr lang="zh-CN" altLang="en-US" sz="1400"/>
          </a:p>
          <a:p>
            <a:r>
              <a:rPr lang="zh-CN" altLang="en-US" sz="1400"/>
              <a:t>错误路径上执行的</a:t>
            </a:r>
            <a:r>
              <a:rPr lang="en-US" altLang="zh-CN" sz="1400"/>
              <a:t> cleanup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例如：</a:t>
            </a:r>
            <a:endParaRPr lang="zh-CN" altLang="en-US" sz="1400"/>
          </a:p>
          <a:p>
            <a:r>
              <a:rPr lang="en-US" altLang="zh-CN" sz="1400"/>
              <a:t>inode-&gt;i_blocks += nr;</a:t>
            </a:r>
            <a:endParaRPr lang="en-US" altLang="zh-CN" sz="1400"/>
          </a:p>
          <a:p>
            <a:r>
              <a:rPr lang="en-US" altLang="zh-CN" sz="1400"/>
              <a:t>ret = fail_metadata();</a:t>
            </a:r>
            <a:endParaRPr lang="en-US" altLang="zh-CN" sz="1400"/>
          </a:p>
          <a:p>
            <a:r>
              <a:rPr lang="en-US" altLang="zh-CN" sz="1400"/>
              <a:t>if (ret)</a:t>
            </a:r>
            <a:endParaRPr lang="en-US" altLang="zh-CN" sz="1400"/>
          </a:p>
          <a:p>
            <a:r>
              <a:rPr lang="en-US" altLang="zh-CN" sz="1400"/>
              <a:t>    inode-&gt;i_blocks -= nr;</a:t>
            </a:r>
            <a:endParaRPr lang="en-US" altLang="zh-CN" sz="1400"/>
          </a:p>
          <a:p>
            <a:r>
              <a:rPr lang="zh-CN" altLang="en-US" sz="1400"/>
              <a:t>得到：</a:t>
            </a:r>
            <a:endParaRPr lang="zh-CN" altLang="en-US" sz="1400"/>
          </a:p>
          <a:p>
            <a:r>
              <a:rPr lang="en-US" altLang="zh-CN" sz="1400"/>
              <a:t>E_f = { INC inode.i_blocks nr }</a:t>
            </a:r>
            <a:endParaRPr lang="en-US" altLang="zh-CN" sz="1400"/>
          </a:p>
          <a:p>
            <a:r>
              <a:rPr lang="en-US" altLang="zh-CN" sz="1400"/>
              <a:t>C_f = { DEC inode.i_blocks nr }</a:t>
            </a:r>
            <a:endParaRPr lang="en-US" altLang="zh-CN" sz="1400"/>
          </a:p>
          <a:p>
            <a:r>
              <a:rPr lang="en-US" altLang="zh-CN" sz="1400"/>
              <a:t>R_f = ∅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它解决的是：</a:t>
            </a:r>
            <a:endParaRPr lang="zh-CN" altLang="en-US" sz="1400"/>
          </a:p>
          <a:p>
            <a:r>
              <a:rPr lang="zh-CN" altLang="en-US" sz="1400"/>
              <a:t>失败前虽然修改了元数据，但错误路径是否已经通过</a:t>
            </a:r>
            <a:r>
              <a:rPr lang="en-US" altLang="zh-CN" sz="1400"/>
              <a:t> cleanup </a:t>
            </a:r>
            <a:r>
              <a:rPr lang="zh-CN" altLang="en-US" sz="1400"/>
              <a:t>把该修改撤销？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/>
              <a:t>缺点</a:t>
            </a:r>
            <a:endParaRPr lang="zh-CN" altLang="en-US" sz="1400"/>
          </a:p>
          <a:p>
            <a:r>
              <a:rPr lang="zh-CN" altLang="en-US" sz="1400"/>
              <a:t>核心缺点是：</a:t>
            </a:r>
            <a:r>
              <a:rPr lang="en-US" altLang="zh-CN" sz="1400"/>
              <a:t>C_f </a:t>
            </a:r>
            <a:r>
              <a:rPr lang="zh-CN" altLang="en-US" sz="1400"/>
              <a:t>判断的是</a:t>
            </a:r>
            <a:r>
              <a:rPr lang="en-US" altLang="zh-CN" sz="1400"/>
              <a:t>“effect </a:t>
            </a:r>
            <a:r>
              <a:rPr lang="zh-CN" altLang="en-US" sz="1400"/>
              <a:t>是否被匹配关闭</a:t>
            </a:r>
            <a:r>
              <a:rPr lang="en-US" altLang="zh-CN" sz="1400"/>
              <a:t>”</a:t>
            </a:r>
            <a:r>
              <a:rPr lang="zh-CN" altLang="en-US" sz="1400"/>
              <a:t>，不是</a:t>
            </a:r>
            <a:r>
              <a:rPr lang="en-US" altLang="zh-CN" sz="1400"/>
              <a:t>“cleanup </a:t>
            </a:r>
            <a:r>
              <a:rPr lang="zh-CN" altLang="en-US" sz="1400"/>
              <a:t>后文件系统是否重新一致</a:t>
            </a:r>
            <a:r>
              <a:rPr lang="en-US" altLang="zh-CN" sz="1400"/>
              <a:t>”</a:t>
            </a:r>
            <a:r>
              <a:rPr lang="zh-CN" altLang="en-US" sz="1400"/>
              <a:t>。</a:t>
            </a:r>
            <a:endParaRPr lang="zh-CN" altLang="en-US" sz="1400"/>
          </a:p>
          <a:p>
            <a:r>
              <a:rPr lang="zh-CN" altLang="en-US" sz="1400"/>
              <a:t>例如：</a:t>
            </a:r>
            <a:endParaRPr lang="zh-CN" altLang="en-US" sz="1400"/>
          </a:p>
          <a:p>
            <a:r>
              <a:rPr lang="en-US" altLang="zh-CN" sz="1400"/>
              <a:t>ADD_DENTRY(P,N,I)</a:t>
            </a:r>
            <a:endParaRPr lang="en-US" altLang="zh-CN" sz="1400"/>
          </a:p>
          <a:p>
            <a:r>
              <a:rPr lang="en-US" altLang="zh-CN" sz="1400"/>
              <a:t>FREE_INODE(I)</a:t>
            </a:r>
            <a:endParaRPr lang="en-US" altLang="zh-CN" sz="1400"/>
          </a:p>
          <a:p>
            <a:r>
              <a:rPr lang="zh-CN" altLang="en-US" sz="1400"/>
              <a:t>即使</a:t>
            </a:r>
            <a:r>
              <a:rPr lang="en-US" altLang="zh-CN" sz="1400"/>
              <a:t> inode </a:t>
            </a:r>
            <a:r>
              <a:rPr lang="zh-CN" altLang="en-US" sz="1400"/>
              <a:t>自身的：</a:t>
            </a:r>
            <a:endParaRPr lang="zh-CN" altLang="en-US" sz="1400"/>
          </a:p>
          <a:p>
            <a:r>
              <a:rPr lang="en-US" altLang="zh-CN" sz="1400"/>
              <a:t>ALLOC_INODE(I) &lt;-&gt; FREE_INODE(I)</a:t>
            </a:r>
            <a:endParaRPr lang="en-US" altLang="zh-CN" sz="1400"/>
          </a:p>
          <a:p>
            <a:r>
              <a:rPr lang="zh-CN" altLang="en-US" sz="1400"/>
              <a:t>已经完成配对，目录项仍然指向已释放</a:t>
            </a:r>
            <a:r>
              <a:rPr lang="en-US" altLang="zh-CN" sz="1400"/>
              <a:t> inode</a:t>
            </a:r>
            <a:r>
              <a:rPr lang="zh-CN" altLang="en-US" sz="1400"/>
              <a:t>。当前</a:t>
            </a:r>
            <a:r>
              <a:rPr lang="en-US" altLang="zh-CN" sz="1400"/>
              <a:t> C_f </a:t>
            </a:r>
            <a:r>
              <a:rPr lang="zh-CN" altLang="en-US" sz="1400"/>
              <a:t>没有通用不变量执行器来检查这种跨对象问题。</a:t>
            </a:r>
            <a:endParaRPr lang="zh-CN" altLang="en-US" sz="1400"/>
          </a:p>
          <a:p>
            <a:r>
              <a:rPr lang="zh-CN" altLang="en-US" sz="1400"/>
              <a:t>本质上仍以匹配和关闭</a:t>
            </a:r>
            <a:r>
              <a:rPr lang="en-US" altLang="zh-CN" sz="1400"/>
              <a:t> effect </a:t>
            </a:r>
            <a:r>
              <a:rPr lang="zh-CN" altLang="en-US" sz="1400"/>
              <a:t>为中心。</a:t>
            </a:r>
            <a:endParaRPr lang="zh-CN" alt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64490" y="1517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T_f · protection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377190" y="634365"/>
            <a:ext cx="11568430" cy="6130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具体工作</a:t>
            </a:r>
            <a:endParaRPr lang="zh-CN" altLang="en-US" sz="1400"/>
          </a:p>
          <a:p>
            <a:r>
              <a:rPr lang="en-US" altLang="zh-CN" sz="1400"/>
              <a:t>T_f </a:t>
            </a:r>
            <a:r>
              <a:rPr lang="zh-CN" altLang="en-US" sz="1400"/>
              <a:t>处理那些不需要在当前函数中直接逆转、而是被其他机制接管的</a:t>
            </a:r>
            <a:r>
              <a:rPr lang="en-US" altLang="zh-CN" sz="1400"/>
              <a:t> effect</a:t>
            </a:r>
            <a:r>
              <a:rPr lang="zh-CN" altLang="en-US" sz="1400"/>
              <a:t>。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目前考虑：</a:t>
            </a:r>
            <a:endParaRPr lang="zh-CN" altLang="en-US" sz="1400"/>
          </a:p>
          <a:p>
            <a:r>
              <a:rPr lang="en-US" altLang="zh-CN" sz="1400"/>
              <a:t>transaction abort</a:t>
            </a:r>
            <a:endParaRPr lang="en-US" altLang="zh-CN" sz="1400"/>
          </a:p>
          <a:p>
            <a:r>
              <a:rPr lang="en-US" altLang="zh-CN" sz="1400"/>
              <a:t>journal ownership</a:t>
            </a:r>
            <a:endParaRPr lang="en-US" altLang="zh-CN" sz="1400"/>
          </a:p>
          <a:p>
            <a:r>
              <a:rPr lang="en-US" altLang="zh-CN" sz="1400"/>
              <a:t>orphan registration</a:t>
            </a:r>
            <a:endParaRPr lang="en-US" altLang="zh-CN" sz="1400"/>
          </a:p>
          <a:p>
            <a:r>
              <a:rPr lang="en-US" altLang="zh-CN" sz="1400"/>
              <a:t>recovery/replay ownership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例如，一个</a:t>
            </a:r>
            <a:r>
              <a:rPr lang="en-US" altLang="zh-CN" sz="1400"/>
              <a:t> effect </a:t>
            </a:r>
            <a:r>
              <a:rPr lang="zh-CN" altLang="en-US" sz="1400"/>
              <a:t>已明确属于事务</a:t>
            </a:r>
            <a:r>
              <a:rPr lang="en-US" altLang="zh-CN" sz="1400"/>
              <a:t> trans</a:t>
            </a:r>
            <a:r>
              <a:rPr lang="zh-CN" altLang="en-US" sz="1400"/>
              <a:t>：</a:t>
            </a:r>
            <a:endParaRPr lang="zh-CN" altLang="en-US" sz="1400"/>
          </a:p>
          <a:p>
            <a:r>
              <a:rPr lang="en-US" altLang="zh-CN" sz="1400"/>
              <a:t>effect.transaction_ownership.transaction_root = trans</a:t>
            </a:r>
            <a:endParaRPr lang="en-US" altLang="zh-CN" sz="1400"/>
          </a:p>
          <a:p>
            <a:r>
              <a:rPr lang="en-US" altLang="zh-CN" sz="1400"/>
              <a:t>effect.visibility = TRANSACTION_LOCAL</a:t>
            </a:r>
            <a:endParaRPr lang="en-US" altLang="zh-CN" sz="1400"/>
          </a:p>
          <a:p>
            <a:r>
              <a:rPr lang="zh-CN" altLang="en-US" sz="1400"/>
              <a:t>错误路径又执行：</a:t>
            </a:r>
            <a:endParaRPr lang="zh-CN" altLang="en-US" sz="1400"/>
          </a:p>
          <a:p>
            <a:r>
              <a:rPr lang="en-US" altLang="zh-CN" sz="1400"/>
              <a:t>btrfs_abort_transaction(trans, err);</a:t>
            </a:r>
            <a:endParaRPr lang="en-US" altLang="zh-CN" sz="1400"/>
          </a:p>
          <a:p>
            <a:r>
              <a:rPr lang="zh-CN" altLang="en-US" sz="1400"/>
              <a:t>那么工具可以认定该</a:t>
            </a:r>
            <a:r>
              <a:rPr lang="en-US" altLang="zh-CN" sz="1400"/>
              <a:t> effect </a:t>
            </a:r>
            <a:r>
              <a:rPr lang="zh-CN" altLang="en-US" sz="1400"/>
              <a:t>被事务</a:t>
            </a:r>
            <a:r>
              <a:rPr lang="en-US" altLang="zh-CN" sz="1400"/>
              <a:t> failure domain </a:t>
            </a:r>
            <a:r>
              <a:rPr lang="zh-CN" altLang="en-US" sz="1400"/>
              <a:t>覆盖。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它解决的是：</a:t>
            </a:r>
            <a:endParaRPr lang="zh-CN" altLang="en-US" sz="1400"/>
          </a:p>
          <a:p>
            <a:r>
              <a:rPr lang="zh-CN" altLang="en-US" sz="1400"/>
              <a:t>某个</a:t>
            </a:r>
            <a:r>
              <a:rPr lang="en-US" altLang="zh-CN" sz="1400"/>
              <a:t> effect </a:t>
            </a:r>
            <a:r>
              <a:rPr lang="zh-CN" altLang="en-US" sz="1400"/>
              <a:t>虽然没有被当前函数显式反向写回，但是否已经合法转交给事务、日志、恢复或终止机制？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/>
              <a:t>缺点</a:t>
            </a:r>
            <a:endParaRPr lang="zh-CN" altLang="en-US" sz="1400"/>
          </a:p>
          <a:p>
            <a:r>
              <a:rPr lang="en-US" altLang="zh-CN" sz="1400"/>
              <a:t>T_f </a:t>
            </a:r>
            <a:r>
              <a:rPr lang="zh-CN" altLang="en-US" sz="1400"/>
              <a:t>当前仍然是</a:t>
            </a:r>
            <a:r>
              <a:rPr lang="en-US" altLang="zh-CN" sz="1400"/>
              <a:t>“effect </a:t>
            </a:r>
            <a:r>
              <a:rPr lang="zh-CN" altLang="en-US" sz="1400"/>
              <a:t>覆盖关系</a:t>
            </a:r>
            <a:r>
              <a:rPr lang="en-US" altLang="zh-CN" sz="1400"/>
              <a:t>”</a:t>
            </a:r>
            <a:r>
              <a:rPr lang="zh-CN" altLang="en-US" sz="1400"/>
              <a:t>，不是真正的恢复状态转换。</a:t>
            </a:r>
            <a:endParaRPr lang="zh-CN" altLang="en-US" sz="1400"/>
          </a:p>
          <a:p>
            <a:r>
              <a:rPr lang="zh-CN" altLang="en-US" sz="1400"/>
              <a:t>它不能完整执行：</a:t>
            </a:r>
            <a:endParaRPr lang="zh-CN" altLang="en-US" sz="1400"/>
          </a:p>
          <a:p>
            <a:r>
              <a:rPr lang="zh-CN" altLang="en-US" sz="1400"/>
              <a:t>哪些状态已经发布</a:t>
            </a:r>
            <a:endParaRPr lang="zh-CN" altLang="en-US" sz="1400"/>
          </a:p>
          <a:p>
            <a:r>
              <a:rPr lang="zh-CN" altLang="en-US" sz="1400"/>
              <a:t>也就是说，目前能够判断：</a:t>
            </a:r>
            <a:endParaRPr lang="zh-CN" altLang="en-US" sz="1400"/>
          </a:p>
          <a:p>
            <a:r>
              <a:rPr lang="zh-CN" altLang="en-US" sz="1400"/>
              <a:t>这个</a:t>
            </a:r>
            <a:r>
              <a:rPr lang="en-US" altLang="zh-CN" sz="1400"/>
              <a:t> effect </a:t>
            </a:r>
            <a:r>
              <a:rPr lang="zh-CN" altLang="en-US" sz="1400"/>
              <a:t>看起来属于该事务的保护范围</a:t>
            </a:r>
            <a:endParaRPr lang="zh-CN" altLang="en-US" sz="1400"/>
          </a:p>
          <a:p>
            <a:r>
              <a:rPr lang="zh-CN" altLang="en-US" sz="1400"/>
              <a:t>但不能计算：</a:t>
            </a:r>
            <a:endParaRPr lang="zh-CN" altLang="en-US" sz="1400"/>
          </a:p>
          <a:p>
            <a:r>
              <a:rPr lang="en-US" altLang="zh-CN" sz="1400"/>
              <a:t>S_final = Recover(Apply(S_initial, failure_path))</a:t>
            </a:r>
            <a:endParaRPr lang="en-US" altLang="zh-CN" sz="1400"/>
          </a:p>
          <a:p>
            <a:r>
              <a:rPr lang="zh-CN" altLang="en-US" sz="1400"/>
              <a:t>然后验证</a:t>
            </a:r>
            <a:r>
              <a:rPr lang="en-US" altLang="zh-CN" sz="1400"/>
              <a:t> S_final </a:t>
            </a:r>
            <a:r>
              <a:rPr lang="zh-CN" altLang="en-US" sz="1400"/>
              <a:t>的文件系统不变量。</a:t>
            </a:r>
            <a:endParaRPr lang="zh-CN" altLang="en-US" sz="1400"/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10185" y="740410"/>
            <a:ext cx="11648440" cy="63404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具体工作：</a:t>
            </a:r>
            <a:endParaRPr lang="zh-CN" altLang="en-US" sz="1600"/>
          </a:p>
          <a:p>
            <a:r>
              <a:rPr lang="en-US" altLang="zh-CN" sz="1600"/>
              <a:t>R_f = E_f </a:t>
            </a:r>
            <a:r>
              <a:rPr lang="zh-CN" altLang="en-US" sz="1600"/>
              <a:t>中没有被</a:t>
            </a:r>
            <a:r>
              <a:rPr lang="en-US" altLang="zh-CN" sz="1600"/>
              <a:t> C_f </a:t>
            </a:r>
            <a:r>
              <a:rPr lang="zh-CN" altLang="en-US" sz="1600"/>
              <a:t>抵消、也没有被</a:t>
            </a:r>
            <a:r>
              <a:rPr lang="en-US" altLang="zh-CN" sz="1600"/>
              <a:t> T_f </a:t>
            </a:r>
            <a:r>
              <a:rPr lang="zh-CN" altLang="en-US" sz="1600"/>
              <a:t>保护的</a:t>
            </a:r>
            <a:r>
              <a:rPr lang="en-US" altLang="zh-CN" sz="1600"/>
              <a:t> effect</a:t>
            </a:r>
            <a:endParaRPr lang="en-US" altLang="zh-CN" sz="1600"/>
          </a:p>
          <a:p>
            <a:endParaRPr lang="zh-CN" altLang="en-US" sz="1600"/>
          </a:p>
          <a:p>
            <a:r>
              <a:rPr lang="zh-CN" altLang="en-US" sz="1600"/>
              <a:t>它解决的是：</a:t>
            </a:r>
            <a:endParaRPr lang="zh-CN" altLang="en-US" sz="1600"/>
          </a:p>
          <a:p>
            <a:r>
              <a:rPr lang="zh-CN" altLang="en-US" sz="1600"/>
              <a:t>到达错误出口时，哪些元数据修改仍缺少可证明的处理？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R_f </a:t>
            </a:r>
            <a:r>
              <a:rPr lang="zh-CN" altLang="en-US" sz="1600"/>
              <a:t>是最终</a:t>
            </a:r>
            <a:r>
              <a:rPr lang="en-US" altLang="zh-CN" sz="1600"/>
              <a:t> witness</a:t>
            </a:r>
            <a:r>
              <a:rPr lang="zh-CN" altLang="en-US" sz="1600"/>
              <a:t>，用来定位：</a:t>
            </a:r>
            <a:endParaRPr lang="zh-CN" altLang="en-US" sz="1600"/>
          </a:p>
          <a:p>
            <a:r>
              <a:rPr lang="zh-CN" altLang="en-US" sz="1600"/>
              <a:t>修改发生在哪里</a:t>
            </a:r>
            <a:endParaRPr lang="zh-CN" altLang="en-US" sz="1600"/>
          </a:p>
          <a:p>
            <a:r>
              <a:rPr lang="zh-CN" altLang="en-US" sz="1600"/>
              <a:t>失败点在哪里</a:t>
            </a:r>
            <a:endParaRPr lang="zh-CN" altLang="en-US" sz="1600"/>
          </a:p>
          <a:p>
            <a:r>
              <a:rPr lang="zh-CN" altLang="en-US" sz="1600"/>
              <a:t>错误出口在哪里</a:t>
            </a:r>
            <a:endParaRPr lang="zh-CN" altLang="en-US" sz="1600"/>
          </a:p>
          <a:p>
            <a:r>
              <a:rPr lang="zh-CN" altLang="en-US" sz="1600"/>
              <a:t>执行了什么</a:t>
            </a:r>
            <a:r>
              <a:rPr lang="en-US" altLang="zh-CN" sz="1600"/>
              <a:t> cleanup</a:t>
            </a:r>
            <a:endParaRPr lang="en-US" altLang="zh-CN" sz="1600"/>
          </a:p>
          <a:p>
            <a:r>
              <a:rPr lang="zh-CN" altLang="en-US" sz="1600"/>
              <a:t>最终留下了什么</a:t>
            </a:r>
            <a:endParaRPr lang="zh-CN" altLang="en-US" sz="1600"/>
          </a:p>
          <a:p>
            <a:r>
              <a:rPr lang="zh-CN" altLang="en-US" sz="1600"/>
              <a:t>缺点</a:t>
            </a:r>
            <a:endParaRPr lang="zh-CN" altLang="en-US" sz="1600"/>
          </a:p>
          <a:p>
            <a:r>
              <a:rPr lang="en-US" altLang="zh-CN" sz="1600"/>
              <a:t>R_f = ∅ </a:t>
            </a:r>
            <a:r>
              <a:rPr lang="zh-CN" altLang="en-US" sz="1600"/>
              <a:t>也不等于文件系统一定一致。因为所有局部</a:t>
            </a:r>
            <a:r>
              <a:rPr lang="en-US" altLang="zh-CN" sz="1600"/>
              <a:t> effect </a:t>
            </a:r>
            <a:r>
              <a:rPr lang="zh-CN" altLang="en-US" sz="1600"/>
              <a:t>即使都完成匹配，跨对象关系仍可能被破坏。</a:t>
            </a:r>
            <a:endParaRPr lang="zh-CN" altLang="en-US" sz="1600"/>
          </a:p>
          <a:p>
            <a:endParaRPr lang="zh-CN" altLang="en-US" sz="1600"/>
          </a:p>
        </p:txBody>
      </p:sp>
      <p:sp>
        <p:nvSpPr>
          <p:cNvPr id="3" name="文本框 2"/>
          <p:cNvSpPr txBox="1"/>
          <p:nvPr/>
        </p:nvSpPr>
        <p:spPr>
          <a:xfrm>
            <a:off x="318135" y="1327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R_f</a:t>
            </a:r>
            <a:r>
              <a:rPr lang="zh-CN" altLang="en-US">
                <a:sym typeface="+mn-ea"/>
              </a:rPr>
              <a:t>：</a:t>
            </a:r>
            <a:r>
              <a:rPr lang="en-US" altLang="zh-CN">
                <a:sym typeface="+mn-ea"/>
              </a:rPr>
              <a:t>Residuals</a:t>
            </a:r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62585" y="355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缺点展示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99440" y="591185"/>
            <a:ext cx="4404360" cy="6416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例如，操作失败前的合法状态是：</a:t>
            </a:r>
            <a:endParaRPr lang="zh-CN" altLang="en-US" sz="1600"/>
          </a:p>
          <a:p>
            <a:r>
              <a:rPr lang="en-US" altLang="zh-CN" sz="1600"/>
              <a:t>Dentry(P, "a") = I_old</a:t>
            </a:r>
            <a:endParaRPr lang="en-US" altLang="zh-CN" sz="1600"/>
          </a:p>
          <a:p>
            <a:r>
              <a:rPr lang="en-US" altLang="zh-CN" sz="1600"/>
              <a:t>Allocated(I_old) = true</a:t>
            </a:r>
            <a:endParaRPr lang="en-US" altLang="zh-CN" sz="1600"/>
          </a:p>
          <a:p>
            <a:r>
              <a:rPr lang="en-US" altLang="zh-CN" sz="1600"/>
              <a:t>LinkCount(I_old) = 1</a:t>
            </a:r>
            <a:endParaRPr lang="en-US" altLang="zh-CN" sz="1600"/>
          </a:p>
          <a:p>
            <a:endParaRPr lang="en-US" altLang="zh-CN" sz="1600"/>
          </a:p>
          <a:p>
            <a:r>
              <a:rPr lang="zh-CN" altLang="en-US" sz="1600"/>
              <a:t>函数尝试用新</a:t>
            </a:r>
            <a:r>
              <a:rPr lang="en-US" altLang="zh-CN" sz="1600"/>
              <a:t> inode </a:t>
            </a:r>
            <a:r>
              <a:rPr lang="zh-CN" altLang="en-US" sz="1600"/>
              <a:t>替换该目录项：</a:t>
            </a:r>
            <a:endParaRPr lang="zh-CN" altLang="en-US" sz="1600"/>
          </a:p>
          <a:p>
            <a:r>
              <a:rPr lang="en-US" altLang="zh-CN" sz="1600"/>
              <a:t>new = alloc_inode();</a:t>
            </a:r>
            <a:endParaRPr lang="en-US" altLang="zh-CN" sz="1600"/>
          </a:p>
          <a:p>
            <a:r>
              <a:rPr lang="en-US" altLang="zh-CN" sz="1600"/>
              <a:t>set_dentry(parent, "a", new);</a:t>
            </a:r>
            <a:endParaRPr lang="en-US" altLang="zh-CN" sz="1600"/>
          </a:p>
          <a:p>
            <a:endParaRPr lang="en-US" altLang="zh-CN" sz="1600"/>
          </a:p>
          <a:p>
            <a:r>
              <a:rPr lang="en-US" altLang="zh-CN" sz="1600"/>
              <a:t>ret = update_quota(new);</a:t>
            </a:r>
            <a:endParaRPr lang="en-US" altLang="zh-CN" sz="1600"/>
          </a:p>
          <a:p>
            <a:r>
              <a:rPr lang="en-US" altLang="zh-CN" sz="1600"/>
              <a:t>if (ret)</a:t>
            </a:r>
            <a:endParaRPr lang="en-US" altLang="zh-CN" sz="1600"/>
          </a:p>
          <a:p>
            <a:r>
              <a:rPr lang="en-US" altLang="zh-CN" sz="1600"/>
              <a:t>    goto error;</a:t>
            </a:r>
            <a:endParaRPr lang="en-US" altLang="zh-CN" sz="1600"/>
          </a:p>
          <a:p>
            <a:endParaRPr lang="en-US" altLang="zh-CN" sz="1600"/>
          </a:p>
          <a:p>
            <a:r>
              <a:rPr lang="en-US" altLang="zh-CN" sz="1600"/>
              <a:t>error:</a:t>
            </a:r>
            <a:endParaRPr lang="en-US" altLang="zh-CN" sz="1600"/>
          </a:p>
          <a:p>
            <a:r>
              <a:rPr lang="en-US" altLang="zh-CN" sz="1600"/>
              <a:t>clear_dentry(parent, "a");</a:t>
            </a:r>
            <a:endParaRPr lang="en-US" altLang="zh-CN" sz="1600"/>
          </a:p>
          <a:p>
            <a:r>
              <a:rPr lang="en-US" altLang="zh-CN" sz="1600"/>
              <a:t>free_inode(new);</a:t>
            </a:r>
            <a:endParaRPr lang="en-US" altLang="zh-CN" sz="1600"/>
          </a:p>
          <a:p>
            <a:r>
              <a:rPr lang="en-US" altLang="zh-CN" sz="1600"/>
              <a:t>return ret;</a:t>
            </a:r>
            <a:endParaRPr lang="en-US" altLang="zh-CN" sz="1600"/>
          </a:p>
          <a:p>
            <a:endParaRPr lang="en-US" altLang="zh-CN" sz="1600"/>
          </a:p>
          <a:p>
            <a:r>
              <a:rPr lang="zh-CN" altLang="en-US" sz="1600"/>
              <a:t>执行</a:t>
            </a:r>
            <a:r>
              <a:rPr lang="en-US" altLang="zh-CN" sz="1600"/>
              <a:t> SET </a:t>
            </a:r>
            <a:r>
              <a:rPr lang="zh-CN" altLang="en-US" sz="1600"/>
              <a:t>后：</a:t>
            </a:r>
            <a:endParaRPr lang="zh-CN" altLang="en-US" sz="1600"/>
          </a:p>
          <a:p>
            <a:r>
              <a:rPr lang="en-US" altLang="zh-CN" sz="1600"/>
              <a:t>P/"a" -&gt; I_new</a:t>
            </a:r>
            <a:endParaRPr lang="en-US" altLang="zh-CN" sz="1600"/>
          </a:p>
          <a:p>
            <a:endParaRPr lang="en-US" altLang="zh-CN" sz="1600"/>
          </a:p>
          <a:p>
            <a:r>
              <a:rPr lang="zh-CN" altLang="en-US" sz="1600"/>
              <a:t>执行</a:t>
            </a:r>
            <a:r>
              <a:rPr lang="en-US" altLang="zh-CN" sz="1600"/>
              <a:t> CLEAR </a:t>
            </a:r>
            <a:r>
              <a:rPr lang="zh-CN" altLang="en-US" sz="1600"/>
              <a:t>后：</a:t>
            </a:r>
            <a:endParaRPr lang="zh-CN" altLang="en-US" sz="1600"/>
          </a:p>
          <a:p>
            <a:r>
              <a:rPr lang="en-US" altLang="zh-CN" sz="1600"/>
              <a:t>P/"a" -&gt; NULL</a:t>
            </a:r>
            <a:endParaRPr lang="en-US" altLang="zh-CN" sz="1600"/>
          </a:p>
        </p:txBody>
      </p:sp>
      <p:sp>
        <p:nvSpPr>
          <p:cNvPr id="4" name="文本框 3"/>
          <p:cNvSpPr txBox="1"/>
          <p:nvPr/>
        </p:nvSpPr>
        <p:spPr>
          <a:xfrm>
            <a:off x="5561965" y="591185"/>
            <a:ext cx="4064000" cy="42767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>
                <a:sym typeface="+mn-ea"/>
              </a:rPr>
              <a:t>当前</a:t>
            </a:r>
            <a:r>
              <a:rPr lang="en-US" altLang="zh-CN" sz="1600">
                <a:sym typeface="+mn-ea"/>
              </a:rPr>
              <a:t> effect </a:t>
            </a:r>
            <a:r>
              <a:rPr lang="zh-CN" altLang="en-US" sz="1600">
                <a:sym typeface="+mn-ea"/>
              </a:rPr>
              <a:t>模型可能得到：</a:t>
            </a:r>
            <a:endParaRPr lang="zh-CN" altLang="en-US" sz="1600"/>
          </a:p>
          <a:p>
            <a:r>
              <a:rPr lang="en-US" altLang="zh-CN" sz="1600">
                <a:sym typeface="+mn-ea"/>
              </a:rPr>
              <a:t>E_f: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  SET   Dentry(P, "a") = I_new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  ALLOC I_new</a:t>
            </a:r>
            <a:endParaRPr lang="en-US" altLang="zh-CN" sz="1600"/>
          </a:p>
          <a:p>
            <a:endParaRPr lang="en-US" altLang="zh-CN" sz="1600"/>
          </a:p>
          <a:p>
            <a:r>
              <a:rPr lang="en-US" altLang="zh-CN" sz="1600">
                <a:sym typeface="+mn-ea"/>
              </a:rPr>
              <a:t>C_f: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  CLEAR Dentry(P, "a")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  FREE  I_new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局部配对结果：</a:t>
            </a:r>
            <a:endParaRPr lang="zh-CN" altLang="en-US" sz="1600"/>
          </a:p>
          <a:p>
            <a:r>
              <a:rPr lang="en-US" altLang="zh-CN" sz="1600">
                <a:sym typeface="+mn-ea"/>
              </a:rPr>
              <a:t>SET   &lt;-&gt; CLEAR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ALLOC &lt;-&gt; FREE</a:t>
            </a:r>
            <a:endParaRPr lang="en-US" altLang="zh-CN" sz="1600"/>
          </a:p>
          <a:p>
            <a:endParaRPr lang="en-US" altLang="zh-CN" sz="1600"/>
          </a:p>
          <a:p>
            <a:r>
              <a:rPr lang="en-US" altLang="zh-CN" sz="1600">
                <a:sym typeface="+mn-ea"/>
              </a:rPr>
              <a:t>R_f = ∅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但实际状态转换是：</a:t>
            </a:r>
            <a:endParaRPr lang="zh-CN" altLang="en-US" sz="1600"/>
          </a:p>
          <a:p>
            <a:r>
              <a:rPr lang="zh-CN" altLang="en-US" sz="1600">
                <a:sym typeface="+mn-ea"/>
              </a:rPr>
              <a:t>初始：</a:t>
            </a:r>
            <a:endParaRPr lang="zh-CN" altLang="en-US" sz="1600"/>
          </a:p>
          <a:p>
            <a:r>
              <a:rPr lang="en-US" altLang="zh-CN" sz="1600">
                <a:sym typeface="+mn-ea"/>
              </a:rPr>
              <a:t>P/"a" -&gt; I_old</a:t>
            </a:r>
            <a:endParaRPr lang="en-US" altLang="zh-CN" sz="1600"/>
          </a:p>
          <a:p>
            <a:endParaRPr lang="zh-CN" altLang="en-US"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283845" y="1765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跨对象关系型元数据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13385" y="596900"/>
            <a:ext cx="5765165" cy="6261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/>
              <a:t>例子一：文件名</a:t>
            </a:r>
            <a:r>
              <a:rPr lang="en-US" altLang="zh-CN" sz="1400"/>
              <a:t> a </a:t>
            </a:r>
            <a:r>
              <a:rPr lang="zh-CN" altLang="en-US" sz="1400"/>
              <a:t>指向</a:t>
            </a:r>
            <a:r>
              <a:rPr lang="en-US" altLang="zh-CN" sz="1400"/>
              <a:t> inode 100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用户看到的是一个简单事实：</a:t>
            </a:r>
            <a:endParaRPr lang="en-US" altLang="zh-CN" sz="1400"/>
          </a:p>
          <a:p>
            <a:r>
              <a:rPr lang="zh-CN" altLang="en-US" sz="1400"/>
              <a:t>目录</a:t>
            </a:r>
            <a:r>
              <a:rPr lang="en-US" altLang="zh-CN" sz="1400"/>
              <a:t> P </a:t>
            </a:r>
            <a:r>
              <a:rPr lang="zh-CN" altLang="en-US" sz="1400"/>
              <a:t>中的文件名</a:t>
            </a:r>
            <a:r>
              <a:rPr lang="en-US" altLang="zh-CN" sz="1400"/>
              <a:t> a </a:t>
            </a:r>
            <a:r>
              <a:rPr lang="zh-CN" altLang="en-US" sz="1400"/>
              <a:t>对应</a:t>
            </a:r>
            <a:r>
              <a:rPr lang="en-US" altLang="zh-CN" sz="1400"/>
              <a:t> inode 100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但文件系统内部可能要同时维护：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/>
              <a:t>目录项：</a:t>
            </a:r>
            <a:endParaRPr lang="zh-CN" altLang="en-US" sz="1400"/>
          </a:p>
          <a:p>
            <a:r>
              <a:rPr lang="en-US" altLang="zh-CN" sz="1400"/>
              <a:t>P/a </a:t>
            </a:r>
            <a:r>
              <a:rPr lang="en-US" altLang="en-US" sz="1400"/>
              <a:t>→</a:t>
            </a:r>
            <a:r>
              <a:rPr lang="en-US" altLang="zh-CN" sz="1400"/>
              <a:t> inode 100</a:t>
            </a:r>
            <a:endParaRPr lang="en-US" altLang="zh-CN" sz="1400"/>
          </a:p>
          <a:p>
            <a:endParaRPr lang="en-US" altLang="zh-CN" sz="1400"/>
          </a:p>
          <a:p>
            <a:r>
              <a:rPr lang="en-US" altLang="zh-CN" sz="1400"/>
              <a:t>inode </a:t>
            </a:r>
            <a:r>
              <a:rPr lang="zh-CN" altLang="en-US" sz="1400"/>
              <a:t>位图：</a:t>
            </a:r>
            <a:endParaRPr lang="zh-CN" altLang="en-US" sz="1400"/>
          </a:p>
          <a:p>
            <a:r>
              <a:rPr lang="en-US" altLang="zh-CN" sz="1400"/>
              <a:t>inode 100 </a:t>
            </a:r>
            <a:r>
              <a:rPr lang="zh-CN" altLang="en-US" sz="1400"/>
              <a:t>已分配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inode </a:t>
            </a:r>
            <a:r>
              <a:rPr lang="zh-CN" altLang="en-US" sz="1400"/>
              <a:t>内容：</a:t>
            </a:r>
            <a:endParaRPr lang="zh-CN" altLang="en-US" sz="1400"/>
          </a:p>
          <a:p>
            <a:r>
              <a:rPr lang="en-US" altLang="zh-CN" sz="1400"/>
              <a:t>inode 100 </a:t>
            </a:r>
            <a:r>
              <a:rPr lang="zh-CN" altLang="en-US" sz="1400"/>
              <a:t>已初始化，类型为普通文件</a:t>
            </a:r>
            <a:endParaRPr lang="zh-CN" altLang="en-US" sz="1400"/>
          </a:p>
          <a:p>
            <a:endParaRPr lang="en-US" altLang="zh-CN" sz="1400"/>
          </a:p>
          <a:p>
            <a:r>
              <a:rPr lang="en-US" altLang="zh-CN" sz="1400"/>
              <a:t>link count</a:t>
            </a:r>
            <a:r>
              <a:rPr lang="zh-CN" altLang="en-US" sz="1400"/>
              <a:t>：</a:t>
            </a:r>
            <a:endParaRPr lang="zh-CN" altLang="en-US" sz="1400"/>
          </a:p>
          <a:p>
            <a:r>
              <a:rPr lang="en-US" altLang="zh-CN" sz="1400"/>
              <a:t>inode 100 </a:t>
            </a:r>
            <a:r>
              <a:rPr lang="zh-CN" altLang="en-US" sz="1400"/>
              <a:t>的</a:t>
            </a:r>
            <a:r>
              <a:rPr lang="en-US" altLang="zh-CN" sz="1400"/>
              <a:t> i_nlink </a:t>
            </a:r>
            <a:r>
              <a:rPr lang="zh-CN" altLang="en-US" sz="1400"/>
              <a:t>包含</a:t>
            </a:r>
            <a:r>
              <a:rPr lang="en-US" altLang="zh-CN" sz="1400"/>
              <a:t> P/a </a:t>
            </a:r>
            <a:r>
              <a:rPr lang="zh-CN" altLang="en-US" sz="1400"/>
              <a:t>这条引用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/>
              <a:t>事务状态：</a:t>
            </a:r>
            <a:endParaRPr lang="zh-CN" altLang="en-US" sz="1400"/>
          </a:p>
          <a:p>
            <a:r>
              <a:rPr lang="zh-CN" altLang="en-US" sz="1400"/>
              <a:t>相关目录项和</a:t>
            </a:r>
            <a:r>
              <a:rPr lang="en-US" altLang="zh-CN" sz="1400"/>
              <a:t> inode </a:t>
            </a:r>
            <a:r>
              <a:rPr lang="zh-CN" altLang="en-US" sz="1400"/>
              <a:t>更新属于某个</a:t>
            </a:r>
            <a:r>
              <a:rPr lang="en-US" altLang="zh-CN" sz="1400"/>
              <a:t> transaction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/>
              <a:t>恢复状态：</a:t>
            </a:r>
            <a:endParaRPr lang="zh-CN" altLang="en-US" sz="1400"/>
          </a:p>
          <a:p>
            <a:r>
              <a:rPr lang="zh-CN" altLang="en-US" sz="1400"/>
              <a:t>如果创建中途失败，</a:t>
            </a:r>
            <a:r>
              <a:rPr lang="en-US" altLang="zh-CN" sz="1400"/>
              <a:t>inode 100 </a:t>
            </a:r>
            <a:r>
              <a:rPr lang="zh-CN" altLang="en-US" sz="1400"/>
              <a:t>可能进入</a:t>
            </a:r>
            <a:r>
              <a:rPr lang="en-US" altLang="zh-CN" sz="1400"/>
              <a:t> orphan list</a:t>
            </a:r>
            <a:endParaRPr lang="en-US" altLang="zh-CN" sz="1400"/>
          </a:p>
          <a:p>
            <a:endParaRPr lang="en-US" altLang="zh-CN" sz="1400"/>
          </a:p>
          <a:p>
            <a:endParaRPr lang="zh-CN" altLang="en-US" sz="1400"/>
          </a:p>
        </p:txBody>
      </p:sp>
      <p:sp>
        <p:nvSpPr>
          <p:cNvPr id="5" name="文本框 4"/>
          <p:cNvSpPr txBox="1"/>
          <p:nvPr/>
        </p:nvSpPr>
        <p:spPr>
          <a:xfrm>
            <a:off x="7059295" y="544830"/>
            <a:ext cx="4064000" cy="6339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例子二：设备</a:t>
            </a:r>
            <a:r>
              <a:rPr lang="en-US" altLang="zh-CN" sz="1400">
                <a:sym typeface="+mn-ea"/>
              </a:rPr>
              <a:t> D </a:t>
            </a:r>
            <a:r>
              <a:rPr lang="zh-CN" altLang="en-US" sz="1400">
                <a:sym typeface="+mn-ea"/>
              </a:rPr>
              <a:t>已加入</a:t>
            </a:r>
            <a:r>
              <a:rPr lang="en-US" altLang="zh-CN" sz="1400">
                <a:sym typeface="+mn-ea"/>
              </a:rPr>
              <a:t> Btrfs </a:t>
            </a:r>
            <a:r>
              <a:rPr lang="zh-CN" altLang="en-US" sz="1400">
                <a:sym typeface="+mn-ea"/>
              </a:rPr>
              <a:t>文件系统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从逻辑上看，事实很简单：</a:t>
            </a:r>
            <a:endParaRPr lang="en-US" altLang="zh-CN" sz="1400"/>
          </a:p>
          <a:p>
            <a:r>
              <a:rPr lang="zh-CN" altLang="en-US" sz="1400">
                <a:sym typeface="+mn-ea"/>
              </a:rPr>
              <a:t>设备</a:t>
            </a:r>
            <a:r>
              <a:rPr lang="en-US" altLang="zh-CN" sz="1400">
                <a:sym typeface="+mn-ea"/>
              </a:rPr>
              <a:t> D </a:t>
            </a:r>
            <a:r>
              <a:rPr lang="zh-CN" altLang="en-US" sz="1400">
                <a:sym typeface="+mn-ea"/>
              </a:rPr>
              <a:t>是文件系统</a:t>
            </a:r>
            <a:r>
              <a:rPr lang="en-US" altLang="zh-CN" sz="1400">
                <a:sym typeface="+mn-ea"/>
              </a:rPr>
              <a:t> F </a:t>
            </a:r>
            <a:r>
              <a:rPr lang="zh-CN" altLang="en-US" sz="1400">
                <a:sym typeface="+mn-ea"/>
              </a:rPr>
              <a:t>的成员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代码中可能同时使用：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设备成员链表：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D ∈ F.devices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设备数量：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F.num_devices </a:t>
            </a:r>
            <a:r>
              <a:rPr lang="zh-CN" altLang="en-US" sz="1400">
                <a:sym typeface="+mn-ea"/>
              </a:rPr>
              <a:t>增加</a:t>
            </a:r>
            <a:r>
              <a:rPr lang="en-US" altLang="zh-CN" sz="1400">
                <a:sym typeface="+mn-ea"/>
              </a:rPr>
              <a:t> 1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活动设备指针：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F.latest_dev = D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设备状态：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D.opened = true</a:t>
            </a:r>
            <a:endParaRPr lang="en-US" altLang="zh-CN" sz="1400"/>
          </a:p>
          <a:p>
            <a:r>
              <a:rPr lang="en-US" altLang="zh-CN" sz="1400">
                <a:sym typeface="+mn-ea"/>
              </a:rPr>
              <a:t>D.writeable = true</a:t>
            </a:r>
            <a:endParaRPr lang="en-US" altLang="zh-CN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事务引用：</a:t>
            </a:r>
            <a:endParaRPr lang="zh-CN" altLang="en-US" sz="1400"/>
          </a:p>
          <a:p>
            <a:r>
              <a:rPr lang="en-US" altLang="zh-CN" sz="1400">
                <a:sym typeface="+mn-ea"/>
              </a:rPr>
              <a:t>D </a:t>
            </a:r>
            <a:r>
              <a:rPr lang="zh-CN" altLang="en-US" sz="1400">
                <a:sym typeface="+mn-ea"/>
              </a:rPr>
              <a:t>被加入当前</a:t>
            </a:r>
            <a:r>
              <a:rPr lang="en-US" altLang="zh-CN" sz="1400">
                <a:sym typeface="+mn-ea"/>
              </a:rPr>
              <a:t> transaction </a:t>
            </a:r>
            <a:r>
              <a:rPr lang="zh-CN" altLang="en-US" sz="1400">
                <a:sym typeface="+mn-ea"/>
              </a:rPr>
              <a:t>的设备集合</a:t>
            </a:r>
            <a:endParaRPr lang="zh-CN" altLang="en-US" sz="1400"/>
          </a:p>
          <a:p>
            <a:endParaRPr lang="en-US" altLang="zh-CN" sz="1400"/>
          </a:p>
          <a:p>
            <a:r>
              <a:rPr lang="zh-CN" altLang="en-US" sz="1400">
                <a:sym typeface="+mn-ea"/>
              </a:rPr>
              <a:t>恢复或关闭状态：</a:t>
            </a:r>
            <a:endParaRPr lang="zh-CN" altLang="en-US" sz="1400"/>
          </a:p>
          <a:p>
            <a:r>
              <a:rPr lang="zh-CN" altLang="en-US" sz="1400">
                <a:sym typeface="+mn-ea"/>
              </a:rPr>
              <a:t>失败后由</a:t>
            </a:r>
            <a:r>
              <a:rPr lang="en-US" altLang="zh-CN" sz="1400">
                <a:sym typeface="+mn-ea"/>
              </a:rPr>
              <a:t> teardown </a:t>
            </a:r>
            <a:r>
              <a:rPr lang="zh-CN" altLang="en-US" sz="1400">
                <a:sym typeface="+mn-ea"/>
              </a:rPr>
              <a:t>或</a:t>
            </a:r>
            <a:r>
              <a:rPr lang="en-US" altLang="zh-CN" sz="1400">
                <a:sym typeface="+mn-ea"/>
              </a:rPr>
              <a:t> transaction cleanup </a:t>
            </a:r>
            <a:r>
              <a:rPr lang="zh-CN" altLang="en-US" sz="1400">
                <a:sym typeface="+mn-ea"/>
              </a:rPr>
              <a:t>处理</a:t>
            </a:r>
            <a:r>
              <a:rPr lang="en-US" altLang="zh-CN" sz="1400">
                <a:sym typeface="+mn-ea"/>
              </a:rPr>
              <a:t> D</a:t>
            </a:r>
            <a:endParaRPr lang="en-US" altLang="zh-CN" sz="1400"/>
          </a:p>
          <a:p>
            <a:endParaRPr lang="en-US" altLang="zh-CN" sz="1400"/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2"/>
          <p:cNvSpPr>
            <a:spLocks noGrp="1"/>
          </p:cNvSpPr>
          <p:nvPr/>
        </p:nvSpPr>
        <p:spPr>
          <a:xfrm>
            <a:off x="209550" y="228600"/>
            <a:ext cx="1123886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Bug 暴露</a:t>
            </a:r>
            <a:r>
              <a:rPr lang="zh-CN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</a:t>
            </a: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研究缺口</a:t>
            </a:r>
            <a:endParaRPr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page-2"/>
          <p:cNvSpPr>
            <a:spLocks noGrp="1"/>
          </p:cNvSpPr>
          <p:nvPr/>
        </p:nvSpPr>
        <p:spPr>
          <a:xfrm>
            <a:off x="11143670" y="6324449"/>
            <a:ext cx="647666" cy="2285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050" b="0">
                <a:solidFill>
                  <a:srgbClr val="5F66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5F66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</a:t>
            </a:r>
            <a:endParaRPr b="0">
              <a:solidFill>
                <a:srgbClr val="5F667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motivation-lead"/>
          <p:cNvSpPr>
            <a:spLocks noGrp="1"/>
          </p:cNvSpPr>
          <p:nvPr/>
        </p:nvSpPr>
        <p:spPr>
          <a:xfrm>
            <a:off x="350499" y="828766"/>
            <a:ext cx="11048425" cy="52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1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问题不只是“忘了 cleanup”，而是返回结果、元数据完成程度与恢复责任不一致。</a:t>
            </a:r>
            <a:endParaRPr sz="16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bug-outcome-panel"/>
          <p:cNvSpPr>
            <a:spLocks noGrp="1"/>
          </p:cNvSpPr>
          <p:nvPr/>
        </p:nvSpPr>
        <p:spPr>
          <a:xfrm>
            <a:off x="399394" y="1476421"/>
            <a:ext cx="3428821" cy="257161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7" name="bug-outcome-title"/>
          <p:cNvSpPr>
            <a:spLocks noGrp="1"/>
          </p:cNvSpPr>
          <p:nvPr/>
        </p:nvSpPr>
        <p:spPr>
          <a:xfrm>
            <a:off x="627982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 个 Outcome Bug</a:t>
            </a:r>
            <a:endParaRPr sz="1600" b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bug-outcome-body"/>
          <p:cNvSpPr>
            <a:spLocks noGrp="1"/>
          </p:cNvSpPr>
          <p:nvPr/>
        </p:nvSpPr>
        <p:spPr>
          <a:xfrm>
            <a:off x="627982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#1/#2/#4/#5/#8/#13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元数据 transition 失败却报成功，或重试成功后仍返回旧错误。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bug-relation-panel"/>
          <p:cNvSpPr>
            <a:spLocks noGrp="1"/>
          </p:cNvSpPr>
          <p:nvPr/>
        </p:nvSpPr>
        <p:spPr>
          <a:xfrm>
            <a:off x="4380637" y="1476421"/>
            <a:ext cx="3428821" cy="257161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0" name="bug-relation-title"/>
          <p:cNvSpPr>
            <a:spLocks noGrp="1"/>
          </p:cNvSpPr>
          <p:nvPr/>
        </p:nvSpPr>
        <p:spPr>
          <a:xfrm>
            <a:off x="4609225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 个跨对象问题</a:t>
            </a:r>
            <a:endParaRPr sz="1600" b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bug-relation-body"/>
          <p:cNvSpPr>
            <a:spLocks noGrp="1"/>
          </p:cNvSpPr>
          <p:nvPr/>
        </p:nvSpPr>
        <p:spPr>
          <a:xfrm>
            <a:off x="4609225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#7/#16/#17/#18/P1/P3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设备拓扑、active pointer、transaction list 或阶段标记停在非法组合。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bug-companion-panel"/>
          <p:cNvSpPr>
            <a:spLocks noGrp="1"/>
          </p:cNvSpPr>
          <p:nvPr/>
        </p:nvSpPr>
        <p:spPr>
          <a:xfrm>
            <a:off x="8361879" y="1476421"/>
            <a:ext cx="3428821" cy="2571616"/>
          </a:xfrm>
          <a:prstGeom prst="rect">
            <a:avLst/>
          </a:prstGeom>
          <a:solidFill>
            <a:schemeClr val="bg2"/>
          </a:solidFill>
          <a:ln w="0">
            <a:noFill/>
            <a:prstDash val="solid"/>
          </a:ln>
        </p:spPr>
      </p:sp>
      <p:sp>
        <p:nvSpPr>
          <p:cNvPr id="13" name="bug-companion-title"/>
          <p:cNvSpPr>
            <a:spLocks noGrp="1"/>
          </p:cNvSpPr>
          <p:nvPr/>
        </p:nvSpPr>
        <p:spPr>
          <a:xfrm>
            <a:off x="8590468" y="1685960"/>
            <a:ext cx="297164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 个伴随义务缺失</a:t>
            </a:r>
            <a:endParaRPr sz="1600" b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bug-companion-body"/>
          <p:cNvSpPr>
            <a:spLocks noGrp="1"/>
          </p:cNvSpPr>
          <p:nvPr/>
        </p:nvSpPr>
        <p:spPr>
          <a:xfrm>
            <a:off x="8590468" y="2162185"/>
            <a:ext cx="2971645" cy="16953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#15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chunk 已创建，但协议要求的 metadata reservation 完全没有执行。</a:t>
            </a:r>
            <a:endParaRPr sz="16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0" name="eyebrow-8"/>
          <p:cNvSpPr>
            <a:spLocks noGrp="1"/>
          </p:cNvSpPr>
          <p:nvPr/>
        </p:nvSpPr>
        <p:spPr>
          <a:xfrm>
            <a:off x="400029" y="285914"/>
            <a:ext cx="4571762" cy="32383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5F667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endParaRPr b="1">
              <a:solidFill>
                <a:srgbClr val="5F667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title-8"/>
          <p:cNvSpPr>
            <a:spLocks noGrp="1"/>
          </p:cNvSpPr>
          <p:nvPr/>
        </p:nvSpPr>
        <p:spPr>
          <a:xfrm>
            <a:off x="400029" y="704992"/>
            <a:ext cx="11238915" cy="6857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从内核源码到协议违例证据链</a:t>
            </a:r>
            <a:endParaRPr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44" name="tool-input-arrow"/>
          <p:cNvCxnSpPr/>
          <p:nvPr/>
        </p:nvCxnSpPr>
        <p:spPr>
          <a:xfrm>
            <a:off x="2781155" y="3305181"/>
            <a:ext cx="514323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cxnSp>
        <p:nvCxnSpPr>
          <p:cNvPr id="45" name="tool-output-arrow"/>
          <p:cNvCxnSpPr/>
          <p:nvPr/>
        </p:nvCxnSpPr>
        <p:spPr>
          <a:xfrm>
            <a:off x="8895887" y="3305181"/>
            <a:ext cx="419078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sp>
        <p:nvSpPr>
          <p:cNvPr id="7" name="tool-input-panel"/>
          <p:cNvSpPr>
            <a:spLocks noGrp="1"/>
          </p:cNvSpPr>
          <p:nvPr/>
        </p:nvSpPr>
        <p:spPr>
          <a:xfrm>
            <a:off x="400029" y="2152716"/>
            <a:ext cx="2381126" cy="2609714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8" name="tool-input-title"/>
          <p:cNvSpPr>
            <a:spLocks noGrp="1"/>
          </p:cNvSpPr>
          <p:nvPr/>
        </p:nvSpPr>
        <p:spPr>
          <a:xfrm>
            <a:off x="628617" y="2362256"/>
            <a:ext cx="192395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tool-input-body"/>
          <p:cNvSpPr>
            <a:spLocks noGrp="1"/>
          </p:cNvSpPr>
          <p:nvPr/>
        </p:nvSpPr>
        <p:spPr>
          <a:xfrm>
            <a:off x="628617" y="2838481"/>
            <a:ext cx="1923950" cy="1733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 文件系统源码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受限元数据协议规格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tool-engine"/>
          <p:cNvSpPr>
            <a:spLocks noGrp="1"/>
          </p:cNvSpPr>
          <p:nvPr/>
        </p:nvSpPr>
        <p:spPr>
          <a:xfrm>
            <a:off x="3295478" y="1809834"/>
            <a:ext cx="5600408" cy="3295478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1" name="tool-engine-title"/>
          <p:cNvSpPr>
            <a:spLocks noGrp="1"/>
          </p:cNvSpPr>
          <p:nvPr/>
        </p:nvSpPr>
        <p:spPr>
          <a:xfrm>
            <a:off x="3562164" y="2019373"/>
            <a:ext cx="4952742" cy="3428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分析引擎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tool-stage-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562164" y="2647991"/>
            <a:ext cx="1104842" cy="85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ool-stage-num-0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76459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4" name="tool-stage-name-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3676459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错误</a:t>
            </a: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提取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tool-stage-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4819399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tool-stage-num-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933693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tool-stage-name-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4933693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类型化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tool-stage-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076633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tool-stage-num-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6190928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0" name="tool-stage-name-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190928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</a:t>
            </a: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重建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1" name="tool-stage-3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7333868" y="2647991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2" name="tool-stage-num-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7448162" y="2743236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3" name="tool-stage-name-3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7448162" y="3048020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状态</a:t>
            </a:r>
            <a:r>
              <a:rPr lang="zh-CN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</a:t>
            </a:r>
            <a:endParaRPr lang="zh-CN"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7" name="tool-stage-5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6029074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tool-stage-num-5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6143368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9" name="tool-stage-name-5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6143368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边界结算</a:t>
            </a:r>
            <a:r>
              <a:rPr lang="zh-CN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判定</a:t>
            </a:r>
            <a:endParaRPr lang="zh-CN"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0" name="tool-stage-6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4805363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1" name="tool-stage-num-6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4919658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2" name="tool-stage-name-6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4919658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责任传播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3" name="tool-stage-7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3581653" y="3848078"/>
            <a:ext cx="1104842" cy="857205"/>
          </a:xfrm>
          <a:prstGeom prst="rect">
            <a:avLst/>
          </a:prstGeom>
          <a:solidFill>
            <a:srgbClr val="F6F7F8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4" name="tool-stage-num-7"/>
          <p:cNvSpPr>
            <a:spLocks noGrp="1"/>
          </p:cNvSpPr>
          <p:nvPr>
            <p:custDataLst>
              <p:tags r:id="rId20"/>
            </p:custDataLst>
          </p:nvPr>
        </p:nvSpPr>
        <p:spPr>
          <a:xfrm>
            <a:off x="3695947" y="3943323"/>
            <a:ext cx="266686" cy="24763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3D8D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5" name="tool-stage-name-7"/>
          <p:cNvSpPr>
            <a:spLocks noGrp="1"/>
          </p:cNvSpPr>
          <p:nvPr>
            <p:custDataLst>
              <p:tags r:id="rId21"/>
            </p:custDataLst>
          </p:nvPr>
        </p:nvSpPr>
        <p:spPr>
          <a:xfrm>
            <a:off x="3695947" y="4248107"/>
            <a:ext cx="895303" cy="2857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义务生成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6" name="tool-output-panel"/>
          <p:cNvSpPr>
            <a:spLocks noGrp="1"/>
          </p:cNvSpPr>
          <p:nvPr/>
        </p:nvSpPr>
        <p:spPr>
          <a:xfrm>
            <a:off x="9314965" y="2152716"/>
            <a:ext cx="2476371" cy="2609714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37" name="tool-output-title"/>
          <p:cNvSpPr>
            <a:spLocks noGrp="1"/>
          </p:cNvSpPr>
          <p:nvPr/>
        </p:nvSpPr>
        <p:spPr>
          <a:xfrm>
            <a:off x="9543553" y="2362256"/>
            <a:ext cx="2019195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8" name="tool-output-body"/>
          <p:cNvSpPr>
            <a:spLocks noGrp="1"/>
          </p:cNvSpPr>
          <p:nvPr/>
        </p:nvSpPr>
        <p:spPr>
          <a:xfrm>
            <a:off x="9543553" y="2838481"/>
            <a:ext cx="2019195" cy="17334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协议违例 witness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可能问题与 UNKNOWN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规格内一致性结果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可审计 proof chain</a:t>
            </a:r>
            <a:endParaRPr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9"/>
          <p:cNvSpPr>
            <a:spLocks noGrp="1"/>
          </p:cNvSpPr>
          <p:nvPr/>
        </p:nvSpPr>
        <p:spPr>
          <a:xfrm>
            <a:off x="295275" y="161290"/>
            <a:ext cx="11162665" cy="5562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类型化</a:t>
            </a:r>
            <a:endParaRPr lang="zh-CN"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00050" y="717550"/>
            <a:ext cx="9196705" cy="418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类型化，就是把一条模糊的源码修改，翻译成一条结构明确、可以参与推理的元数据事实。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555625" y="1283335"/>
            <a:ext cx="9305925" cy="5623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类型化前：</a:t>
            </a:r>
            <a:endParaRPr lang="zh-CN" altLang="en-US"/>
          </a:p>
          <a:p>
            <a:r>
              <a:rPr lang="en-US" altLang="zh-CN"/>
              <a:t>latest_dev = device</a:t>
            </a:r>
            <a:endParaRPr lang="en-US" altLang="zh-CN"/>
          </a:p>
          <a:p>
            <a:r>
              <a:rPr lang="en-US" altLang="zh-CN"/>
              <a:t>free(device)</a:t>
            </a:r>
            <a:endParaRPr lang="en-US" altLang="zh-CN"/>
          </a:p>
          <a:p>
            <a:r>
              <a:rPr lang="zh-CN" altLang="en-US"/>
              <a:t>它们只是两条孤立的源码操作。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类型化后：</a:t>
            </a:r>
            <a:endParaRPr lang="zh-CN" altLang="en-US"/>
          </a:p>
          <a:p>
            <a:r>
              <a:rPr lang="en-US" altLang="zh-CN"/>
              <a:t>POINTER_BIND(</a:t>
            </a:r>
            <a:endParaRPr lang="en-US" altLang="zh-CN"/>
          </a:p>
          <a:p>
            <a:r>
              <a:rPr lang="en-US" altLang="zh-CN"/>
              <a:t>    role   = ACTIVE_DEVICE_POINTER,</a:t>
            </a:r>
            <a:endParaRPr lang="en-US" altLang="zh-CN"/>
          </a:p>
          <a:p>
            <a:r>
              <a:rPr lang="en-US" altLang="zh-CN"/>
              <a:t>    target = new_device#7</a:t>
            </a:r>
            <a:endParaRPr lang="en-US" altLang="zh-CN"/>
          </a:p>
          <a:p>
            <a:r>
              <a:rPr lang="en-US" altLang="zh-CN"/>
              <a:t>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OWNER_FREE(</a:t>
            </a:r>
            <a:endParaRPr lang="en-US" altLang="zh-CN"/>
          </a:p>
          <a:p>
            <a:r>
              <a:rPr lang="en-US" altLang="zh-CN"/>
              <a:t>    object = new_device#7</a:t>
            </a:r>
            <a:endParaRPr lang="en-US" altLang="zh-CN"/>
          </a:p>
          <a:p>
            <a:r>
              <a:rPr lang="en-US" altLang="zh-CN"/>
              <a:t>)</a:t>
            </a:r>
            <a:endParaRPr lang="en-US" altLang="zh-CN"/>
          </a:p>
          <a:p>
            <a:r>
              <a:rPr lang="zh-CN" altLang="en-US"/>
              <a:t>工具就可以联合推理：</a:t>
            </a:r>
            <a:endParaRPr lang="zh-CN" altLang="en-US"/>
          </a:p>
          <a:p>
            <a:r>
              <a:rPr lang="en-US" altLang="zh-CN"/>
              <a:t>active pointer </a:t>
            </a:r>
            <a:r>
              <a:rPr lang="en-US" altLang="en-US"/>
              <a:t>→</a:t>
            </a:r>
            <a:r>
              <a:rPr lang="en-US" altLang="zh-CN"/>
              <a:t> new_device#7</a:t>
            </a:r>
            <a:endParaRPr lang="en-US" altLang="zh-CN"/>
          </a:p>
          <a:p>
            <a:r>
              <a:rPr lang="en-US" altLang="zh-CN"/>
              <a:t>alive(new_device#7) = false</a:t>
            </a:r>
            <a:endParaRPr lang="en-US" altLang="zh-CN"/>
          </a:p>
          <a:p>
            <a:endParaRPr lang="en-US" altLang="zh-CN"/>
          </a:p>
          <a:p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活动设备指针指向已释放对象</a:t>
            </a:r>
            <a:endParaRPr lang="zh-CN" altLang="en-US"/>
          </a:p>
          <a:p>
            <a:r>
              <a:rPr lang="en-US" altLang="en-US"/>
              <a:t>→</a:t>
            </a:r>
            <a:r>
              <a:rPr lang="en-US" altLang="zh-CN"/>
              <a:t> InvalidRelation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0"/>
          <p:cNvSpPr>
            <a:spLocks noGrp="1"/>
          </p:cNvSpPr>
          <p:nvPr/>
        </p:nvSpPr>
        <p:spPr>
          <a:xfrm>
            <a:off x="398780" y="114300"/>
            <a:ext cx="11240135" cy="4019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实例</a:t>
            </a: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重建：识别同一次元数据操作</a:t>
            </a:r>
            <a:endParaRPr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7680" y="812800"/>
            <a:ext cx="9491980" cy="902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实例重建就是把分散在不同函数、字段和对象上的事件，判断为</a:t>
            </a:r>
            <a:r>
              <a:rPr lang="en-US" altLang="zh-CN"/>
              <a:t>“</a:t>
            </a:r>
            <a:r>
              <a:rPr lang="zh-CN" altLang="en-US"/>
              <a:t>属于同一次文件系统元数据操作</a:t>
            </a:r>
            <a:r>
              <a:rPr lang="en-US" altLang="zh-CN"/>
              <a:t>”</a:t>
            </a:r>
            <a:r>
              <a:rPr lang="zh-CN" altLang="en-US"/>
              <a:t>，并把它们组合成一个可跟踪的协议实例。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26390" y="1492250"/>
            <a:ext cx="5004435" cy="4824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以</a:t>
            </a:r>
            <a:r>
              <a:rPr lang="en-US" altLang="zh-CN"/>
              <a:t> Btrfs </a:t>
            </a:r>
            <a:r>
              <a:rPr lang="zh-CN" altLang="en-US"/>
              <a:t>添加设备为例，源码中可能分别出现：</a:t>
            </a:r>
            <a:endParaRPr lang="zh-CN" altLang="en-US"/>
          </a:p>
          <a:p>
            <a:r>
              <a:rPr lang="zh-CN" altLang="en-US"/>
              <a:t>函数</a:t>
            </a:r>
            <a:r>
              <a:rPr lang="en-US" altLang="zh-CN"/>
              <a:t> A</a:t>
            </a:r>
            <a:r>
              <a:rPr lang="zh-CN" altLang="en-US"/>
              <a:t>：设备加入</a:t>
            </a:r>
            <a:r>
              <a:rPr lang="en-US" altLang="zh-CN"/>
              <a:t> device list</a:t>
            </a:r>
            <a:endParaRPr lang="en-US" altLang="zh-CN"/>
          </a:p>
          <a:p>
            <a:r>
              <a:rPr lang="zh-CN" altLang="en-US"/>
              <a:t>函数</a:t>
            </a:r>
            <a:r>
              <a:rPr lang="en-US" altLang="zh-CN"/>
              <a:t> B</a:t>
            </a:r>
            <a:r>
              <a:rPr lang="zh-CN" altLang="en-US"/>
              <a:t>：</a:t>
            </a:r>
            <a:r>
              <a:rPr lang="en-US" altLang="zh-CN"/>
              <a:t>num_devices </a:t>
            </a:r>
            <a:r>
              <a:rPr lang="zh-CN" altLang="en-US"/>
              <a:t>加一</a:t>
            </a:r>
            <a:endParaRPr lang="zh-CN" altLang="en-US"/>
          </a:p>
          <a:p>
            <a:r>
              <a:rPr lang="zh-CN" altLang="en-US"/>
              <a:t>函数</a:t>
            </a:r>
            <a:r>
              <a:rPr lang="en-US" altLang="zh-CN"/>
              <a:t> C</a:t>
            </a:r>
            <a:r>
              <a:rPr lang="zh-CN" altLang="en-US"/>
              <a:t>：</a:t>
            </a:r>
            <a:r>
              <a:rPr lang="en-US" altLang="zh-CN"/>
              <a:t>latest_dev </a:t>
            </a:r>
            <a:r>
              <a:rPr lang="zh-CN" altLang="en-US"/>
              <a:t>指向新设备</a:t>
            </a:r>
            <a:endParaRPr lang="zh-CN" altLang="en-US"/>
          </a:p>
          <a:p>
            <a:r>
              <a:rPr lang="zh-CN" altLang="en-US"/>
              <a:t>函数</a:t>
            </a:r>
            <a:r>
              <a:rPr lang="en-US" altLang="zh-CN"/>
              <a:t> D</a:t>
            </a:r>
            <a:r>
              <a:rPr lang="zh-CN" altLang="en-US"/>
              <a:t>：设备加入</a:t>
            </a:r>
            <a:r>
              <a:rPr lang="en-US" altLang="zh-CN"/>
              <a:t> transaction update list</a:t>
            </a:r>
            <a:endParaRPr lang="en-US" altLang="zh-CN"/>
          </a:p>
          <a:p>
            <a:r>
              <a:rPr lang="zh-CN" altLang="en-US"/>
              <a:t>函数</a:t>
            </a:r>
            <a:r>
              <a:rPr lang="en-US" altLang="zh-CN"/>
              <a:t> E</a:t>
            </a:r>
            <a:r>
              <a:rPr lang="zh-CN" altLang="en-US"/>
              <a:t>：失败后释放新设备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类型化之后得到：</a:t>
            </a:r>
            <a:endParaRPr lang="zh-CN" altLang="en-US"/>
          </a:p>
          <a:p>
            <a:r>
              <a:rPr lang="en-US" altLang="zh-CN"/>
              <a:t>MEMBER_ADD(devices, device)</a:t>
            </a:r>
            <a:endParaRPr lang="en-US" altLang="zh-CN"/>
          </a:p>
          <a:p>
            <a:r>
              <a:rPr lang="en-US" altLang="zh-CN"/>
              <a:t>COUNTER_DELTA(num_devices, +1)</a:t>
            </a:r>
            <a:endParaRPr lang="en-US" altLang="zh-CN"/>
          </a:p>
          <a:p>
            <a:r>
              <a:rPr lang="en-US" altLang="zh-CN"/>
              <a:t>POINTER_BIND(latest_dev, device)</a:t>
            </a:r>
            <a:endParaRPr lang="en-US" altLang="zh-CN"/>
          </a:p>
          <a:p>
            <a:r>
              <a:rPr lang="en-US" altLang="zh-CN"/>
              <a:t>TRANSACTION_ATTACH(trans, device)</a:t>
            </a:r>
            <a:endParaRPr lang="en-US" altLang="zh-CN"/>
          </a:p>
          <a:p>
            <a:r>
              <a:rPr lang="en-US" altLang="zh-CN"/>
              <a:t>OWNER_FREE(device)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1"/>
          <p:cNvSpPr>
            <a:spLocks noGrp="1"/>
          </p:cNvSpPr>
          <p:nvPr/>
        </p:nvSpPr>
        <p:spPr>
          <a:xfrm>
            <a:off x="403225" y="133350"/>
            <a:ext cx="11159490" cy="3835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</a:t>
            </a: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状态</a:t>
            </a:r>
            <a:r>
              <a:rPr lang="zh-CN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</a:t>
            </a:r>
            <a:endParaRPr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99440" y="646430"/>
            <a:ext cx="7300595" cy="417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某条路径上的元数据事件对协议抽象状态造成的变化。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0260" y="125222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变化：</a:t>
            </a:r>
            <a:br>
              <a:rPr lang="zh-CN" altLang="en-US"/>
            </a:br>
            <a:r>
              <a:rPr lang="en-US" altLang="zh-CN"/>
              <a:t>1.</a:t>
            </a:r>
            <a:r>
              <a:rPr lang="zh-CN" altLang="en-US"/>
              <a:t>计数变化</a:t>
            </a:r>
            <a:br>
              <a:rPr lang="zh-CN" altLang="en-US"/>
            </a:br>
            <a:r>
              <a:rPr lang="en-US" altLang="zh-CN"/>
              <a:t>2.</a:t>
            </a:r>
            <a:r>
              <a:rPr lang="zh-CN" altLang="en-US"/>
              <a:t>成员集合变化</a:t>
            </a:r>
            <a:br>
              <a:rPr lang="zh-CN" altLang="en-US"/>
            </a:br>
            <a:r>
              <a:rPr lang="en-US" altLang="zh-CN"/>
              <a:t>3.bit/flag </a:t>
            </a:r>
            <a:r>
              <a:rPr lang="zh-CN" altLang="en-US"/>
              <a:t>变化</a:t>
            </a:r>
            <a:endParaRPr lang="zh-CN" altLang="en-US"/>
          </a:p>
          <a:p>
            <a:r>
              <a:rPr lang="en-US" altLang="zh-CN"/>
              <a:t>4.</a:t>
            </a:r>
            <a:r>
              <a:rPr lang="zh-CN" altLang="en-US"/>
              <a:t>生命</a:t>
            </a:r>
            <a:r>
              <a:rPr lang="zh-CN" altLang="en-US"/>
              <a:t>周期变化</a:t>
            </a:r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3554095" y="1336675"/>
            <a:ext cx="9225280" cy="1307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S0</a:t>
            </a:r>
            <a:r>
              <a:rPr lang="zh-CN" altLang="en-US"/>
              <a:t>：操作开始前的合法状态，例如成员数与计数一致，</a:t>
            </a:r>
            <a:r>
              <a:rPr lang="en-US" altLang="zh-CN"/>
              <a:t>active </a:t>
            </a:r>
            <a:r>
              <a:rPr lang="zh-CN" altLang="en-US"/>
              <a:t>指向</a:t>
            </a:r>
            <a:r>
              <a:rPr lang="en-US" altLang="zh-CN"/>
              <a:t> seed</a:t>
            </a:r>
            <a:r>
              <a:rPr lang="zh-CN" altLang="en-US"/>
              <a:t>。</a:t>
            </a:r>
            <a:endParaRPr lang="zh-CN" altLang="en-US"/>
          </a:p>
          <a:p>
            <a:r>
              <a:rPr lang="en-US" altLang="zh-CN"/>
              <a:t>Δ</a:t>
            </a:r>
            <a:r>
              <a:rPr lang="zh-CN" altLang="en-US"/>
              <a:t>：当前路径造成的变化，例如加入成员、增加计数、切换指针、释放对象。</a:t>
            </a:r>
            <a:endParaRPr lang="zh-CN" altLang="en-US"/>
          </a:p>
          <a:p>
            <a:r>
              <a:rPr lang="zh-CN" altLang="en-US"/>
              <a:t>义务：如果操作失败，就必须恢复相关关系，或者把恢复责任合法交给</a:t>
            </a:r>
            <a:r>
              <a:rPr lang="en-US" altLang="zh-CN"/>
              <a:t> transaction/recovery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810260" y="3228975"/>
            <a:ext cx="10010775" cy="2223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主要有五类关系</a:t>
            </a:r>
            <a:endParaRPr lang="zh-CN" altLang="en-US"/>
          </a:p>
          <a:p>
            <a:r>
              <a:rPr lang="en-US" altLang="zh-CN"/>
              <a:t>1. </a:t>
            </a:r>
            <a:r>
              <a:rPr lang="zh-CN" altLang="en-US"/>
              <a:t>成员与计数关系</a:t>
            </a:r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指针与目标对象关系</a:t>
            </a:r>
            <a:endParaRPr lang="zh-CN" altLang="en-US"/>
          </a:p>
          <a:p>
            <a:r>
              <a:rPr lang="en-US" altLang="zh-CN"/>
              <a:t>3. </a:t>
            </a:r>
            <a:r>
              <a:rPr lang="zh-CN" altLang="en-US"/>
              <a:t>对象生命周期与外部引用关系</a:t>
            </a:r>
            <a:endParaRPr lang="zh-CN" altLang="en-US"/>
          </a:p>
          <a:p>
            <a:r>
              <a:rPr lang="en-US" altLang="zh-CN"/>
              <a:t>4. Transaction/recovery </a:t>
            </a:r>
            <a:r>
              <a:rPr lang="zh-CN" altLang="en-US"/>
              <a:t>与责任覆盖关系</a:t>
            </a:r>
            <a:endParaRPr lang="zh-CN" altLang="en-US"/>
          </a:p>
          <a:p>
            <a:r>
              <a:rPr lang="en-US" altLang="zh-CN"/>
              <a:t>5. </a:t>
            </a:r>
            <a:r>
              <a:rPr lang="zh-CN" altLang="en-US"/>
              <a:t>协议阶段与返回结果关系</a:t>
            </a:r>
            <a:endParaRPr lang="zh-CN" altLang="en-US"/>
          </a:p>
          <a:p>
            <a:endParaRPr lang="en-US" altLang="zh-C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2"/>
          <p:cNvSpPr>
            <a:spLocks noGrp="1"/>
          </p:cNvSpPr>
          <p:nvPr/>
        </p:nvSpPr>
        <p:spPr>
          <a:xfrm>
            <a:off x="269875" y="95250"/>
            <a:ext cx="11226800" cy="42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altLang="en-US"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责任传播</a:t>
            </a:r>
            <a:endParaRPr lang="zh-CN" altLang="en-US"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cxnSp>
        <p:nvCxnSpPr>
          <p:cNvPr id="26" name="interproc-arrow-1"/>
          <p:cNvCxnSpPr/>
          <p:nvPr>
            <p:custDataLst>
              <p:tags r:id="rId1"/>
            </p:custDataLst>
          </p:nvPr>
        </p:nvCxnSpPr>
        <p:spPr>
          <a:xfrm>
            <a:off x="2835120" y="2017400"/>
            <a:ext cx="438127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cxnSp>
        <p:nvCxnSpPr>
          <p:cNvPr id="27" name="interproc-arrow-2"/>
          <p:cNvCxnSpPr/>
          <p:nvPr>
            <p:custDataLst>
              <p:tags r:id="rId2"/>
            </p:custDataLst>
          </p:nvPr>
        </p:nvCxnSpPr>
        <p:spPr>
          <a:xfrm>
            <a:off x="5692471" y="2017400"/>
            <a:ext cx="438127" cy="95"/>
          </a:xfrm>
          <a:prstGeom prst="straightConnector1">
            <a:avLst/>
          </a:prstGeom>
          <a:ln w="28575">
            <a:solidFill>
              <a:schemeClr val="tx1"/>
            </a:solidFill>
            <a:prstDash val="solid"/>
          </a:ln>
        </p:spPr>
      </p:cxnSp>
      <p:sp>
        <p:nvSpPr>
          <p:cNvPr id="8" name="interproc-0-panel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263504" y="760165"/>
            <a:ext cx="2571616" cy="238112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9" name="interproc-0-title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492092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失败分区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interproc-0-body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92092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首先确定</a:t>
            </a: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callee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究竟走了哪个错误出口。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一个函数可能有多个错误返回不同出口的元数据处理不一样。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1" name="interproc-1-panel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121025" y="760095"/>
            <a:ext cx="2555875" cy="4020820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2" name="interproc-1-title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3349443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函数摘要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interproc-1-body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349443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确定错误出口后，</a:t>
            </a: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callee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导出一个协议摘要：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FactDelta: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修改了哪些协议事实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Phase: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协议推进到了哪个阶段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Obligation: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还有什么义务没有完成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Claim:</a:t>
            </a:r>
            <a:endParaRPr lang="en-US" altLang="zh-CN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是否声明把义务交给其他主体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interproc-3-panel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239043" y="760165"/>
            <a:ext cx="2571616" cy="2381126"/>
          </a:xfrm>
          <a:prstGeom prst="rect">
            <a:avLst/>
          </a:prstGeom>
          <a:solidFill>
            <a:srgbClr val="F6F7F8"/>
          </a:solidFill>
          <a:ln w="0">
            <a:noFill/>
            <a:prstDash val="solid"/>
          </a:ln>
        </p:spPr>
      </p:sp>
      <p:sp>
        <p:nvSpPr>
          <p:cNvPr id="18" name="interproc-3-title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6467631" y="969705"/>
            <a:ext cx="2114440" cy="3619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责任声明</a:t>
            </a:r>
            <a:endParaRPr b="1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interproc-3-body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6467631" y="1445930"/>
            <a:ext cx="2114440" cy="1504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义务传播到</a:t>
            </a:r>
            <a:r>
              <a:rPr lang="en-US" altLang="zh-CN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caller </a:t>
            </a:r>
            <a:r>
              <a:rPr lang="zh-CN" altLang="en-US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后，工具检查谁负责完成它。</a:t>
            </a:r>
            <a:endParaRPr lang="zh-CN" altLang="en-US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-13"/>
          <p:cNvSpPr>
            <a:spLocks noGrp="1"/>
          </p:cNvSpPr>
          <p:nvPr/>
        </p:nvSpPr>
        <p:spPr>
          <a:xfrm>
            <a:off x="403225" y="133350"/>
            <a:ext cx="11159490" cy="4457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225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协议结算</a:t>
            </a:r>
            <a:endParaRPr sz="1800" b="0">
              <a:solidFill>
                <a:srgbClr val="11111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36270" y="664845"/>
            <a:ext cx="5913120" cy="1412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在这之前已经知道以下：</a:t>
            </a:r>
            <a:br>
              <a:rPr lang="zh-CN" altLang="en-US" sz="1600"/>
            </a:br>
            <a:r>
              <a:rPr lang="zh-CN" altLang="en-US" sz="1600"/>
              <a:t>当前分析的是哪个元数据协议实例</a:t>
            </a:r>
            <a:endParaRPr lang="zh-CN" altLang="en-US" sz="1600"/>
          </a:p>
          <a:p>
            <a:r>
              <a:rPr lang="zh-CN" altLang="en-US" sz="1600"/>
              <a:t>当前协议处于什么阶段</a:t>
            </a:r>
            <a:endParaRPr lang="zh-CN" altLang="en-US" sz="1600"/>
          </a:p>
          <a:p>
            <a:r>
              <a:rPr lang="zh-CN" altLang="en-US" sz="1600"/>
              <a:t>当前抽象元数据状态</a:t>
            </a:r>
            <a:endParaRPr lang="zh-CN" altLang="en-US" sz="1600"/>
          </a:p>
          <a:p>
            <a:r>
              <a:rPr lang="zh-CN" altLang="en-US" sz="1600"/>
              <a:t>尚未完成的协议义务</a:t>
            </a:r>
            <a:endParaRPr lang="zh-CN" altLang="en-US" sz="1600"/>
          </a:p>
          <a:p>
            <a:r>
              <a:rPr lang="zh-CN" altLang="en-US" sz="1600"/>
              <a:t>责任声明</a:t>
            </a:r>
            <a:endParaRPr lang="zh-CN" altLang="en-US" sz="1600"/>
          </a:p>
          <a:p>
            <a:r>
              <a:rPr lang="zh-CN" altLang="en-US" sz="1600"/>
              <a:t>函数最终返回结果</a:t>
            </a:r>
            <a:endParaRPr lang="zh-CN" altLang="en-US" sz="1600"/>
          </a:p>
        </p:txBody>
      </p:sp>
      <p:sp>
        <p:nvSpPr>
          <p:cNvPr id="17" name="文本框 16"/>
          <p:cNvSpPr txBox="1"/>
          <p:nvPr/>
        </p:nvSpPr>
        <p:spPr>
          <a:xfrm>
            <a:off x="531495" y="2773045"/>
            <a:ext cx="5563870" cy="41414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结算首先要回答：</a:t>
            </a:r>
            <a:endParaRPr lang="zh-CN" altLang="en-US" sz="1600"/>
          </a:p>
          <a:p>
            <a:r>
              <a:rPr lang="zh-CN" altLang="en-US" sz="1600"/>
              <a:t>现在是否已经到了必须判断协议是否合法的位置？</a:t>
            </a:r>
            <a:endParaRPr lang="zh-CN" altLang="en-US" sz="1600"/>
          </a:p>
          <a:p>
            <a:endParaRPr lang="en-US" altLang="zh-CN" sz="1600"/>
          </a:p>
          <a:p>
            <a:r>
              <a:rPr lang="zh-CN" altLang="en-US" sz="1600"/>
              <a:t>五类结算边界。</a:t>
            </a:r>
            <a:endParaRPr lang="zh-CN" altLang="en-US" sz="1600"/>
          </a:p>
          <a:p>
            <a:r>
              <a:rPr lang="en-US" altLang="zh-CN" sz="1600"/>
              <a:t>1.</a:t>
            </a:r>
            <a:r>
              <a:rPr lang="zh-CN" altLang="en-US" sz="1600"/>
              <a:t>完整文件系统操作即将返回。</a:t>
            </a:r>
            <a:endParaRPr lang="zh-CN" altLang="en-US" sz="1600"/>
          </a:p>
          <a:p>
            <a:r>
              <a:rPr lang="en-US" altLang="zh-CN" sz="1600"/>
              <a:t>2.</a:t>
            </a:r>
            <a:r>
              <a:rPr lang="zh-CN" altLang="en-US" sz="1600"/>
              <a:t>协议参与对象即将被释放或销毁。</a:t>
            </a:r>
            <a:endParaRPr lang="zh-CN" altLang="en-US" sz="1600"/>
          </a:p>
          <a:p>
            <a:r>
              <a:rPr lang="en-US" altLang="zh-CN" sz="1600"/>
              <a:t>3.</a:t>
            </a:r>
            <a:r>
              <a:rPr lang="zh-CN" altLang="en-US" sz="1600"/>
              <a:t>事务即将提交</a:t>
            </a:r>
            <a:endParaRPr lang="zh-CN" altLang="en-US" sz="1600"/>
          </a:p>
          <a:p>
            <a:r>
              <a:rPr lang="en-US" altLang="zh-CN" sz="1600"/>
              <a:t>4.</a:t>
            </a:r>
            <a:r>
              <a:rPr lang="zh-CN" altLang="en-US" sz="1600"/>
              <a:t>系统已经建立</a:t>
            </a:r>
            <a:r>
              <a:rPr lang="en-US" altLang="zh-CN" sz="1600"/>
              <a:t> journal</a:t>
            </a:r>
            <a:r>
              <a:rPr lang="zh-CN" altLang="en-US" sz="1600"/>
              <a:t>、</a:t>
            </a:r>
            <a:r>
              <a:rPr lang="en-US" altLang="zh-CN" sz="1600"/>
              <a:t>orphan </a:t>
            </a:r>
            <a:r>
              <a:rPr lang="zh-CN" altLang="en-US" sz="1600"/>
              <a:t>或其他持久恢复记录，并进入恢复责任验证阶段。</a:t>
            </a:r>
            <a:endParaRPr lang="zh-CN" altLang="en-US" sz="1600"/>
          </a:p>
          <a:p>
            <a:r>
              <a:rPr lang="en-US" altLang="zh-CN" sz="1600"/>
              <a:t>5.</a:t>
            </a:r>
            <a:r>
              <a:rPr lang="zh-CN" altLang="en-US" sz="1600"/>
              <a:t>文件系统进入</a:t>
            </a:r>
            <a:r>
              <a:rPr lang="en-US" altLang="zh-CN" sz="1600"/>
              <a:t> fatal shutdown</a:t>
            </a:r>
            <a:r>
              <a:rPr lang="zh-CN" altLang="en-US" sz="1600"/>
              <a:t>、强制只读或其他阻止正常观察的状态。</a:t>
            </a:r>
            <a:endParaRPr lang="zh-CN" altLang="en-US" sz="1600"/>
          </a:p>
          <a:p>
            <a:endParaRPr lang="zh-CN" altLang="en-US" sz="1600"/>
          </a:p>
        </p:txBody>
      </p:sp>
      <p:sp>
        <p:nvSpPr>
          <p:cNvPr id="20" name="文本框 19"/>
          <p:cNvSpPr txBox="1"/>
          <p:nvPr/>
        </p:nvSpPr>
        <p:spPr>
          <a:xfrm>
            <a:off x="6522085" y="579120"/>
            <a:ext cx="5472430" cy="5429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确定结算边界后：</a:t>
            </a:r>
            <a:endParaRPr lang="zh-CN" altLang="en-US" sz="1600"/>
          </a:p>
          <a:p>
            <a:r>
              <a:rPr lang="zh-CN" altLang="en-US" sz="1600">
                <a:sym typeface="+mn-ea"/>
              </a:rPr>
              <a:t>工具</a:t>
            </a:r>
            <a:r>
              <a:rPr lang="zh-CN" altLang="en-US" sz="1600"/>
              <a:t>联合检查五项内容。</a:t>
            </a:r>
            <a:endParaRPr lang="zh-CN" altLang="en-US" sz="1600"/>
          </a:p>
          <a:p>
            <a:r>
              <a:rPr lang="en-US" altLang="zh-CN" sz="1600"/>
              <a:t>1. </a:t>
            </a:r>
            <a:r>
              <a:rPr lang="zh-CN" altLang="en-US" sz="1600"/>
              <a:t>跨对象元数据关系是否合法。</a:t>
            </a:r>
            <a:endParaRPr lang="zh-CN" altLang="en-US" sz="1600"/>
          </a:p>
          <a:p>
            <a:r>
              <a:rPr lang="en-US" altLang="zh-CN" sz="1600"/>
              <a:t>2. </a:t>
            </a:r>
            <a:r>
              <a:rPr lang="zh-CN" altLang="en-US" sz="1600"/>
              <a:t>协议产生的义务是否：</a:t>
            </a:r>
            <a:endParaRPr lang="zh-CN" altLang="en-US" sz="1600"/>
          </a:p>
          <a:p>
            <a:r>
              <a:rPr lang="zh-CN" altLang="en-US" sz="1600"/>
              <a:t>已经完成</a:t>
            </a:r>
            <a:endParaRPr lang="zh-CN" altLang="en-US" sz="1600"/>
          </a:p>
          <a:p>
            <a:r>
              <a:rPr lang="zh-CN" altLang="en-US" sz="1600"/>
              <a:t>或者合法转移给其他责任主体</a:t>
            </a:r>
            <a:endParaRPr lang="zh-CN" altLang="en-US" sz="1600"/>
          </a:p>
          <a:p>
            <a:r>
              <a:rPr lang="en-US" altLang="zh-CN" sz="1600"/>
              <a:t>3. </a:t>
            </a:r>
            <a:r>
              <a:rPr lang="zh-CN" altLang="en-US" sz="1600"/>
              <a:t>责任声明必须同时满足：</a:t>
            </a:r>
            <a:endParaRPr lang="zh-CN" altLang="en-US" sz="1600"/>
          </a:p>
          <a:p>
            <a:r>
              <a:rPr lang="en-US" altLang="zh-CN" sz="1600"/>
              <a:t>authority   </a:t>
            </a:r>
            <a:r>
              <a:rPr lang="zh-CN" altLang="en-US" sz="1600"/>
              <a:t>该主体是否有权接管</a:t>
            </a:r>
            <a:endParaRPr lang="zh-CN" altLang="en-US" sz="1600"/>
          </a:p>
          <a:p>
            <a:r>
              <a:rPr lang="en-US" altLang="zh-CN" sz="1600"/>
              <a:t>coverage    </a:t>
            </a:r>
            <a:r>
              <a:rPr lang="zh-CN" altLang="en-US" sz="1600"/>
              <a:t>是否覆盖这个具体义务</a:t>
            </a:r>
            <a:endParaRPr lang="zh-CN" altLang="en-US" sz="1600"/>
          </a:p>
          <a:p>
            <a:r>
              <a:rPr lang="en-US" altLang="zh-CN" sz="1600"/>
              <a:t>activation  </a:t>
            </a:r>
            <a:r>
              <a:rPr lang="zh-CN" altLang="en-US" sz="1600"/>
              <a:t>接管机制是否已经生效</a:t>
            </a:r>
            <a:endParaRPr lang="zh-CN" altLang="en-US" sz="1600"/>
          </a:p>
          <a:p>
            <a:r>
              <a:rPr lang="en-US" altLang="zh-CN" sz="1600"/>
              <a:t>lifetime    </a:t>
            </a:r>
            <a:r>
              <a:rPr lang="zh-CN" altLang="en-US" sz="1600"/>
              <a:t>接管者是否仍然存活</a:t>
            </a:r>
            <a:endParaRPr lang="zh-CN" altLang="en-US" sz="1600"/>
          </a:p>
          <a:p>
            <a:r>
              <a:rPr lang="en-US" altLang="zh-CN" sz="1600"/>
              <a:t>4. </a:t>
            </a:r>
            <a:r>
              <a:rPr lang="zh-CN" altLang="en-US" sz="1600"/>
              <a:t>返回结果必须与协议完成阶段一致：</a:t>
            </a:r>
            <a:endParaRPr lang="zh-CN" altLang="en-US" sz="1600"/>
          </a:p>
          <a:p>
            <a:r>
              <a:rPr lang="en-US" altLang="zh-CN" sz="1600"/>
              <a:t>5. </a:t>
            </a:r>
            <a:r>
              <a:rPr lang="zh-CN" altLang="en-US" sz="1600"/>
              <a:t>错误状态是否仍可能被正常代码观察。</a:t>
            </a:r>
            <a:endParaRPr lang="zh-CN" altLang="en-US" sz="1600"/>
          </a:p>
          <a:p>
            <a:endParaRPr lang="en-US" altLang="zh-CN" sz="1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11" name="表格 10"/>
          <p:cNvGraphicFramePr/>
          <p:nvPr/>
        </p:nvGraphicFramePr>
        <p:xfrm>
          <a:off x="579099" y="708745"/>
          <a:ext cx="11391265" cy="3886200"/>
        </p:xfrm>
        <a:graphic>
          <a:graphicData uri="http://schemas.openxmlformats.org/drawingml/2006/table">
            <a:tbl>
              <a:tblPr/>
              <a:tblGrid>
                <a:gridCol w="2190750"/>
                <a:gridCol w="3048000"/>
              </a:tblGrid>
              <a:tr h="6477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阶段</a:t>
                      </a:r>
                      <a:endParaRPr sz="142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解决的问题</a:t>
                      </a:r>
                      <a:endParaRPr sz="142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1–2 证据与类型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源码修改意味着什么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3 实例重建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哪些事件属于同一操作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4–5 状态与义务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关系是否保持、还欠什么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6 责任传播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谁继续完成义务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 结算判定</a:t>
                      </a:r>
                      <a:endParaRPr sz="1275" b="1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何时检查、最终是否合法</a:t>
                      </a:r>
                      <a:endParaRPr sz="1275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L="91435" marR="91435" marT="45717" marB="45717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459105" y="1308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Bug</a:t>
            </a:r>
            <a:r>
              <a:rPr lang="zh-CN" altLang="en-US"/>
              <a:t>展示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357505" y="629285"/>
            <a:ext cx="7384415" cy="5631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int fs_link(struct inode *dir, const char *name, struct inode *inode)</a:t>
            </a:r>
            <a:endParaRPr lang="en-US" altLang="zh-CN"/>
          </a:p>
          <a:p>
            <a:r>
              <a:rPr lang="en-US" altLang="zh-CN"/>
              <a:t>{</a:t>
            </a:r>
            <a:endParaRPr lang="en-US" altLang="zh-CN"/>
          </a:p>
          <a:p>
            <a:r>
              <a:rPr lang="en-US" altLang="zh-CN"/>
              <a:t>    int ret;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ret = insert_dirent(dir, name, inode);</a:t>
            </a:r>
            <a:endParaRPr lang="en-US" altLang="zh-CN"/>
          </a:p>
          <a:p>
            <a:r>
              <a:rPr lang="en-US" altLang="zh-CN"/>
              <a:t>    if (ret)</a:t>
            </a:r>
            <a:endParaRPr lang="en-US" altLang="zh-CN"/>
          </a:p>
          <a:p>
            <a:r>
              <a:rPr lang="en-US" altLang="zh-CN"/>
              <a:t>        return ret;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inc_nlink(inode);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ret = journal_metadata(dir, inode);</a:t>
            </a:r>
            <a:endParaRPr lang="en-US" altLang="zh-CN"/>
          </a:p>
          <a:p>
            <a:r>
              <a:rPr lang="en-US" altLang="zh-CN"/>
              <a:t>    if (ret)</a:t>
            </a:r>
            <a:endParaRPr lang="en-US" altLang="zh-CN"/>
          </a:p>
          <a:p>
            <a:r>
              <a:rPr lang="en-US" altLang="zh-CN"/>
              <a:t>        goto rollback;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return 0;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rollback:</a:t>
            </a:r>
            <a:endParaRPr lang="en-US" altLang="zh-CN"/>
          </a:p>
          <a:p>
            <a:r>
              <a:rPr lang="en-US" altLang="zh-CN"/>
              <a:t>    remove_dirent(dir, name);</a:t>
            </a:r>
            <a:endParaRPr lang="en-US" altLang="zh-CN"/>
          </a:p>
          <a:p>
            <a:r>
              <a:rPr lang="en-US" altLang="zh-CN"/>
              <a:t>        return ret;</a:t>
            </a:r>
            <a:endParaRPr lang="en-US" altLang="zh-CN"/>
          </a:p>
          <a:p>
            <a:r>
              <a:rPr lang="en-US" altLang="zh-CN"/>
              <a:t>}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507990" y="1969770"/>
            <a:ext cx="406400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从单个字段看：</a:t>
            </a:r>
            <a:endParaRPr lang="zh-CN" altLang="en-US"/>
          </a:p>
          <a:p>
            <a:r>
              <a:rPr lang="zh-CN" altLang="en-US"/>
              <a:t>目录项已经删除</a:t>
            </a:r>
            <a:endParaRPr lang="zh-CN" altLang="en-US"/>
          </a:p>
          <a:p>
            <a:r>
              <a:rPr lang="zh-CN" altLang="en-US"/>
              <a:t>函数也返回了错误</a:t>
            </a:r>
            <a:endParaRPr lang="zh-CN" altLang="en-US"/>
          </a:p>
          <a:p>
            <a:r>
              <a:rPr lang="zh-CN" altLang="en-US"/>
              <a:t>似乎完成了回滚。</a:t>
            </a:r>
            <a:endParaRPr lang="zh-CN" altLang="en-US"/>
          </a:p>
          <a:p>
            <a:r>
              <a:rPr lang="zh-CN" altLang="en-US"/>
              <a:t>但联合检查两个对象后发现：</a:t>
            </a:r>
            <a:endParaRPr lang="zh-CN" altLang="en-US"/>
          </a:p>
          <a:p>
            <a:r>
              <a:rPr lang="zh-CN" altLang="en-US"/>
              <a:t>目录项对</a:t>
            </a:r>
            <a:r>
              <a:rPr lang="en-US" altLang="zh-CN"/>
              <a:t> inode </a:t>
            </a:r>
            <a:r>
              <a:rPr lang="zh-CN" altLang="en-US"/>
              <a:t>的引用增量</a:t>
            </a:r>
            <a:r>
              <a:rPr lang="en-US" altLang="zh-CN"/>
              <a:t> = 0</a:t>
            </a:r>
            <a:endParaRPr lang="en-US" altLang="zh-CN"/>
          </a:p>
          <a:p>
            <a:r>
              <a:rPr lang="en-US" altLang="zh-CN"/>
              <a:t>inode link count </a:t>
            </a:r>
            <a:r>
              <a:rPr lang="zh-CN" altLang="en-US"/>
              <a:t>增量</a:t>
            </a:r>
            <a:r>
              <a:rPr lang="en-US" altLang="zh-CN"/>
              <a:t>      = +1</a:t>
            </a:r>
            <a:endParaRPr lang="en-US" altLang="zh-CN"/>
          </a:p>
          <a:p>
            <a:r>
              <a:rPr lang="zh-CN" altLang="en-US"/>
              <a:t>关系不再一致。</a:t>
            </a:r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242570" y="238760"/>
            <a:ext cx="40640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1. </a:t>
            </a:r>
            <a:r>
              <a:rPr lang="zh-CN" altLang="en-US"/>
              <a:t>提取源码</a:t>
            </a:r>
            <a:r>
              <a:rPr lang="en-US" altLang="zh-CN"/>
              <a:t> effect</a:t>
            </a:r>
            <a:endParaRPr lang="en-US" altLang="zh-CN"/>
          </a:p>
          <a:p>
            <a:r>
              <a:rPr lang="en-US" altLang="zh-CN"/>
              <a:t>insert_dirent(dir, name, inode)</a:t>
            </a:r>
            <a:endParaRPr lang="en-US" altLang="zh-CN"/>
          </a:p>
          <a:p>
            <a:r>
              <a:rPr lang="en-US" altLang="zh-CN"/>
              <a:t>inc_nlink(inode)</a:t>
            </a:r>
            <a:endParaRPr lang="en-US" altLang="zh-CN"/>
          </a:p>
          <a:p>
            <a:r>
              <a:rPr lang="en-US" altLang="zh-CN"/>
              <a:t>journal_metadata(...) fails</a:t>
            </a:r>
            <a:endParaRPr lang="en-US" altLang="zh-CN"/>
          </a:p>
          <a:p>
            <a:r>
              <a:rPr lang="en-US" altLang="zh-CN"/>
              <a:t>remove_dirent(dir, name, inode)</a:t>
            </a:r>
            <a:endParaRPr lang="en-US" altLang="zh-CN"/>
          </a:p>
          <a:p>
            <a:r>
              <a:rPr lang="en-US" altLang="zh-CN"/>
              <a:t>return error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42570" y="2225675"/>
            <a:ext cx="4064000" cy="4246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2. </a:t>
            </a:r>
            <a:r>
              <a:rPr lang="zh-CN" altLang="en-US"/>
              <a:t>转成类型化事件</a:t>
            </a:r>
            <a:endParaRPr lang="zh-CN" altLang="en-US"/>
          </a:p>
          <a:p>
            <a:r>
              <a:rPr lang="en-US" altLang="zh-CN"/>
              <a:t>REFERENCE_ADD(</a:t>
            </a:r>
            <a:endParaRPr lang="en-US" altLang="zh-CN"/>
          </a:p>
          <a:p>
            <a:r>
              <a:rPr lang="en-US" altLang="zh-CN"/>
              <a:t>    source = Dirent(dir, name),</a:t>
            </a:r>
            <a:endParaRPr lang="en-US" altLang="zh-CN"/>
          </a:p>
          <a:p>
            <a:r>
              <a:rPr lang="en-US" altLang="zh-CN"/>
              <a:t>    target = inode</a:t>
            </a:r>
            <a:endParaRPr lang="en-US" altLang="zh-CN"/>
          </a:p>
          <a:p>
            <a:r>
              <a:rPr lang="en-US" altLang="zh-CN"/>
              <a:t>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COUNTER_DELTA(</a:t>
            </a:r>
            <a:endParaRPr lang="en-US" altLang="zh-CN"/>
          </a:p>
          <a:p>
            <a:r>
              <a:rPr lang="en-US" altLang="zh-CN"/>
              <a:t>    field = inode.i_nlink,</a:t>
            </a:r>
            <a:endParaRPr lang="en-US" altLang="zh-CN"/>
          </a:p>
          <a:p>
            <a:r>
              <a:rPr lang="en-US" altLang="zh-CN"/>
              <a:t>    delta = +1</a:t>
            </a:r>
            <a:endParaRPr lang="en-US" altLang="zh-CN"/>
          </a:p>
          <a:p>
            <a:r>
              <a:rPr lang="en-US" altLang="zh-CN"/>
              <a:t>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REFERENCE_REMOVE(</a:t>
            </a:r>
            <a:endParaRPr lang="en-US" altLang="zh-CN"/>
          </a:p>
          <a:p>
            <a:r>
              <a:rPr lang="en-US" altLang="zh-CN"/>
              <a:t>    source = Dirent(dir, name),</a:t>
            </a:r>
            <a:endParaRPr lang="en-US" altLang="zh-CN"/>
          </a:p>
          <a:p>
            <a:r>
              <a:rPr lang="en-US" altLang="zh-CN"/>
              <a:t>    target = inode</a:t>
            </a:r>
            <a:endParaRPr lang="en-US" altLang="zh-CN"/>
          </a:p>
          <a:p>
            <a:r>
              <a:rPr lang="en-US" altLang="zh-CN"/>
              <a:t>)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5189855" y="400685"/>
            <a:ext cx="40640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DirectoryLinkInstance {</a:t>
            </a:r>
            <a:endParaRPr lang="en-US" altLang="zh-CN"/>
          </a:p>
          <a:p>
            <a:r>
              <a:rPr lang="en-US" altLang="zh-CN"/>
              <a:t>    directory = dir#A</a:t>
            </a:r>
            <a:endParaRPr lang="en-US" altLang="zh-CN"/>
          </a:p>
          <a:p>
            <a:r>
              <a:rPr lang="en-US" altLang="zh-CN"/>
              <a:t>    inode     = inode#B</a:t>
            </a:r>
            <a:endParaRPr lang="en-US" altLang="zh-CN"/>
          </a:p>
          <a:p>
            <a:r>
              <a:rPr lang="en-US" altLang="zh-CN"/>
              <a:t>    name      = "new_name"</a:t>
            </a:r>
            <a:endParaRPr lang="en-US" altLang="zh-CN"/>
          </a:p>
          <a:p>
            <a:r>
              <a:rPr lang="en-US" altLang="zh-CN"/>
              <a:t>    epoch     = current link attempt</a:t>
            </a:r>
            <a:endParaRPr lang="en-US" altLang="zh-CN"/>
          </a:p>
          <a:p>
            <a:r>
              <a:rPr lang="en-US" altLang="zh-CN"/>
              <a:t>}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5325110" y="1714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3. </a:t>
            </a:r>
            <a:r>
              <a:rPr lang="zh-CN" altLang="en-US"/>
              <a:t>重建协议实例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703570" y="2590800"/>
            <a:ext cx="406400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4. </a:t>
            </a:r>
            <a:r>
              <a:rPr lang="zh-CN" altLang="en-US"/>
              <a:t>计算状态增量</a:t>
            </a:r>
            <a:endParaRPr lang="zh-CN" altLang="en-US"/>
          </a:p>
          <a:p>
            <a:r>
              <a:rPr lang="en-US" altLang="zh-CN"/>
              <a:t>S0:</a:t>
            </a:r>
            <a:endParaRPr lang="en-US" altLang="zh-CN"/>
          </a:p>
          <a:p>
            <a:r>
              <a:rPr lang="en-US" altLang="zh-CN"/>
              <a:t>  reference = absent</a:t>
            </a:r>
            <a:endParaRPr lang="en-US" altLang="zh-CN"/>
          </a:p>
          <a:p>
            <a:r>
              <a:rPr lang="en-US" altLang="zh-CN"/>
              <a:t>  i_nlink = N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Δ:</a:t>
            </a:r>
            <a:endParaRPr lang="en-US" altLang="zh-CN"/>
          </a:p>
          <a:p>
            <a:r>
              <a:rPr lang="en-US" altLang="zh-CN"/>
              <a:t>  reference += 1</a:t>
            </a:r>
            <a:endParaRPr lang="en-US" altLang="zh-CN"/>
          </a:p>
          <a:p>
            <a:r>
              <a:rPr lang="en-US" altLang="zh-CN"/>
              <a:t>  i_nlink += 1</a:t>
            </a:r>
            <a:endParaRPr lang="en-US" altLang="zh-CN"/>
          </a:p>
          <a:p>
            <a:r>
              <a:rPr lang="en-US" altLang="zh-CN"/>
              <a:t>  reference -= 1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Sf:</a:t>
            </a:r>
            <a:endParaRPr lang="en-US" altLang="zh-CN"/>
          </a:p>
          <a:p>
            <a:r>
              <a:rPr lang="en-US" altLang="zh-CN"/>
              <a:t>  reference = absent</a:t>
            </a:r>
            <a:endParaRPr lang="en-US" altLang="zh-CN"/>
          </a:p>
          <a:p>
            <a:r>
              <a:rPr lang="en-US" altLang="zh-CN"/>
              <a:t>  i_nlink = N + 1</a:t>
            </a:r>
            <a:endParaRPr lang="en-US" altLang="zh-C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661670" y="144145"/>
            <a:ext cx="5434330" cy="6176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5. </a:t>
            </a:r>
            <a:r>
              <a:rPr lang="zh-CN" altLang="en-US"/>
              <a:t>产生未完成义务</a:t>
            </a:r>
            <a:endParaRPr lang="zh-CN" altLang="en-US"/>
          </a:p>
          <a:p>
            <a:r>
              <a:rPr lang="zh-CN" altLang="en-US"/>
              <a:t>执行：</a:t>
            </a:r>
            <a:endParaRPr lang="zh-CN" altLang="en-US"/>
          </a:p>
          <a:p>
            <a:r>
              <a:rPr lang="en-US" altLang="zh-CN"/>
              <a:t>REFERENCE_REMOVE(dirent, inode)</a:t>
            </a:r>
            <a:endParaRPr lang="en-US" altLang="zh-CN"/>
          </a:p>
          <a:p>
            <a:r>
              <a:rPr lang="zh-CN" altLang="en-US"/>
              <a:t>后，协议要求：</a:t>
            </a:r>
            <a:endParaRPr lang="zh-CN" altLang="en-US"/>
          </a:p>
          <a:p>
            <a:r>
              <a:rPr lang="en-US" altLang="zh-CN"/>
              <a:t>COUNTER_DELTA(inode.i_nlink, -1)</a:t>
            </a:r>
            <a:endParaRPr lang="en-US" altLang="zh-CN"/>
          </a:p>
          <a:p>
            <a:r>
              <a:rPr lang="zh-CN" altLang="en-US"/>
              <a:t>但错误路径中不存在这个事件，因此：</a:t>
            </a:r>
            <a:endParaRPr lang="zh-CN" altLang="en-US"/>
          </a:p>
          <a:p>
            <a:r>
              <a:rPr lang="en-US" altLang="zh-CN"/>
              <a:t>Obligation:</a:t>
            </a:r>
            <a:endParaRPr lang="en-US" altLang="zh-CN"/>
          </a:p>
          <a:p>
            <a:r>
              <a:rPr lang="en-US" altLang="zh-CN"/>
              <a:t>  type     = RESTORE_LINK_COUNT</a:t>
            </a:r>
            <a:endParaRPr lang="en-US" altLang="zh-CN"/>
          </a:p>
          <a:p>
            <a:r>
              <a:rPr lang="en-US" altLang="zh-CN"/>
              <a:t>  state    = OPEN</a:t>
            </a:r>
            <a:endParaRPr lang="en-US" altLang="zh-CN"/>
          </a:p>
          <a:p>
            <a:r>
              <a:rPr lang="en-US" altLang="zh-CN"/>
              <a:t>  deadline = OperationReturn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6. </a:t>
            </a:r>
            <a:r>
              <a:rPr lang="zh-CN" altLang="en-US"/>
              <a:t>结算与报告</a:t>
            </a:r>
            <a:endParaRPr lang="zh-CN" altLang="en-US"/>
          </a:p>
          <a:p>
            <a:r>
              <a:rPr lang="zh-CN" altLang="en-US"/>
              <a:t>到达错误返回时：</a:t>
            </a:r>
            <a:endParaRPr lang="zh-CN" altLang="en-US"/>
          </a:p>
          <a:p>
            <a:r>
              <a:rPr lang="en-US" altLang="zh-CN"/>
              <a:t>phase                = ABORTED</a:t>
            </a:r>
            <a:endParaRPr lang="en-US" altLang="zh-CN"/>
          </a:p>
          <a:p>
            <a:r>
              <a:rPr lang="en-US" altLang="zh-CN"/>
              <a:t>dirent                = absent</a:t>
            </a:r>
            <a:endParaRPr lang="en-US" altLang="zh-CN"/>
          </a:p>
          <a:p>
            <a:r>
              <a:rPr lang="en-US" altLang="zh-CN"/>
              <a:t>inode.i_nlink         = N + 1</a:t>
            </a:r>
            <a:endParaRPr lang="en-US" altLang="zh-CN"/>
          </a:p>
          <a:p>
            <a:r>
              <a:rPr lang="en-US" altLang="zh-CN"/>
              <a:t>RESTORE_LINK_COUNT    = OPEN</a:t>
            </a:r>
            <a:endParaRPr lang="en-US" altLang="zh-CN"/>
          </a:p>
          <a:p>
            <a:r>
              <a:rPr lang="en-US" altLang="zh-CN"/>
              <a:t>valid recovery claim = none</a:t>
            </a:r>
            <a:endParaRPr lang="en-US" altLang="zh-CN"/>
          </a:p>
          <a:p>
            <a:r>
              <a:rPr lang="en-US" altLang="zh-CN"/>
              <a:t>outcome               = error</a:t>
            </a:r>
            <a:endParaRPr lang="en-US" altLang="zh-CN"/>
          </a:p>
          <a:p>
            <a:r>
              <a:rPr lang="zh-CN" altLang="en-US"/>
              <a:t>返回值与失败阶段一致，但跨对象关系不一致：</a:t>
            </a:r>
            <a:endParaRPr lang="zh-CN" altLang="en-US"/>
          </a:p>
          <a:p>
            <a:r>
              <a:rPr lang="en-US" altLang="zh-CN"/>
              <a:t>AcceptP = false</a:t>
            </a:r>
            <a:endParaRPr lang="en-US" altLang="zh-C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596265" y="1968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statetype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805815" y="698500"/>
            <a:ext cx="9512300" cy="83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由编译器静态追踪对象当前处于什么状态，并根据该状态决定此刻允许执行哪些操作。</a:t>
            </a:r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22.5,&quot;left&quot;:565.4705511811023,&quot;top&quot;:115.5,&quot;width&quot;:358.5294488188976}"/>
</p:tagLst>
</file>

<file path=ppt/tags/tag2.xml><?xml version="1.0" encoding="utf-8"?>
<p:tagLst xmlns:p="http://schemas.openxmlformats.org/presentationml/2006/main">
  <p:tag name="KSO_WM_DIAGRAM_VIRTUALLY_FRAME" val="{&quot;height&quot;:322.5,&quot;left&quot;:565.4705511811023,&quot;top&quot;:115.5,&quot;width&quot;:358.5294488188976}"/>
</p:tagLst>
</file>

<file path=ppt/tags/tag3.xml><?xml version="1.0" encoding="utf-8"?>
<p:tagLst xmlns:p="http://schemas.openxmlformats.org/presentationml/2006/main">
  <p:tag name="KSO_WM_DIAGRAM_VIRTUALLY_FRAME" val="{&quot;height&quot;:322.5,&quot;left&quot;:565.4705511811023,&quot;top&quot;:115.5,&quot;width&quot;:358.5294488188976}"/>
</p:tagLst>
</file>

<file path=ppt/tags/tag4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5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6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7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8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9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10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11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12.xml><?xml version="1.0" encoding="utf-8"?>
<p:tagLst xmlns:p="http://schemas.openxmlformats.org/presentationml/2006/main">
  <p:tag name="KSO_WM_DIAGRAM_VIRTUALLY_FRAME" val="{&quot;height&quot;:116.8,&quot;left&quot;:35.99811023622047,&quot;top&quot;:115.5,&quot;width&quot;:890.9018897637795}"/>
</p:tagLst>
</file>

<file path=ppt/tags/tag13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4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5.xml><?xml version="1.0" encoding="utf-8"?>
<p:tagLst xmlns:p="http://schemas.openxmlformats.org/presentationml/2006/main">
  <p:tag name="KSO_WM_DIAGRAM_VIRTUALLY_FRAME" val="{&quot;height&quot;:116.8,&quot;left&quot;:36,&quot;top&quot;:115.5,&quot;width&quot;:890.9}"/>
</p:tagLst>
</file>

<file path=ppt/tags/tag16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17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18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19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0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1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2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3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4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5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6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7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8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29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0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1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2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3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4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5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6.xml><?xml version="1.0" encoding="utf-8"?>
<p:tagLst xmlns:p="http://schemas.openxmlformats.org/presentationml/2006/main">
  <p:tag name="KSO_WM_DIAGRAM_VIRTUALLY_FRAME" val="{&quot;height&quot;:274.49156250000004,&quot;left&quot;:280.4853543307087,&quot;top&quot;:208.50320312499997,&quot;width&quot;:524.1455050442913}"/>
</p:tagLst>
</file>

<file path=ppt/tags/tag37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38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39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0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1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2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3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4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5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6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ags/tag47.xml><?xml version="1.0" encoding="utf-8"?>
<p:tagLst xmlns:p="http://schemas.openxmlformats.org/presentationml/2006/main">
  <p:tag name="KSO_WM_DIAGRAM_VIRTUALLY_FRAME" val="{&quot;height&quot;:316.6,&quot;left&quot;:20.748359374999996,&quot;top&quot;:59.85,&quot;width&quot;:888.20429687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8030</Words>
  <Application>WPS 演示</Application>
  <PresentationFormat>On-screen Show (16:9)</PresentationFormat>
  <Paragraphs>734</Paragraphs>
  <Slides>29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Arial</vt:lpstr>
      <vt:lpstr>宋体</vt:lpstr>
      <vt:lpstr>Wingdings</vt:lpstr>
      <vt:lpstr>微软雅黑</vt:lpstr>
      <vt:lpstr>微软雅黑</vt:lpstr>
      <vt:lpstr>Consolas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针对于元数据的错误路径</dc:title>
  <dc:creator>OpenAI</dc:creator>
  <dc:subject>文件系统元数据错误路径</dc:subject>
  <cp:lastModifiedBy>闫光辉</cp:lastModifiedBy>
  <cp:revision>33</cp:revision>
  <dcterms:created xsi:type="dcterms:W3CDTF">2026-07-22T02:40:00Z</dcterms:created>
  <dcterms:modified xsi:type="dcterms:W3CDTF">2026-07-30T06:41:13Z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2052-12.1.0.24031</vt:lpwstr>
  </property>
  <property fmtid="{D5CDD505-2E9C-101B-9397-08002B2CF9AE}" pid="3" name="ICV">
    <vt:lpwstr>6B6EE9BB661E4E79A26EEC84B145AE37_12</vt:lpwstr>
  </property>
</Properties>
</file>