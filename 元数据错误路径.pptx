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</p:sldIdLst>
  <p:sldSz cx="12191365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1" d="1"/>
          <a:sy n="1" d="1"/>
        </p:scale>
        <p:origin x="0" y="0"/>
      </p:cViewPr>
      <p:guideLst/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1" Type="http://schemas.openxmlformats.org/officeDocument/2006/relationships/tableStyles" Target="tableStyles.xml"/><Relationship Id="rId40" Type="http://schemas.openxmlformats.org/officeDocument/2006/relationships/viewProps" Target="viewProps.xml"/><Relationship Id="rId4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38" Type="http://schemas.openxmlformats.org/officeDocument/2006/relationships/slide" Target="slides/slide35.xml"/><Relationship Id="rId37" Type="http://schemas.openxmlformats.org/officeDocument/2006/relationships/slide" Target="slides/slide34.xml"/><Relationship Id="rId36" Type="http://schemas.openxmlformats.org/officeDocument/2006/relationships/slide" Target="slides/slide33.xml"/><Relationship Id="rId35" Type="http://schemas.openxmlformats.org/officeDocument/2006/relationships/slide" Target="slides/slide32.xml"/><Relationship Id="rId34" Type="http://schemas.openxmlformats.org/officeDocument/2006/relationships/slide" Target="slides/slide31.xml"/><Relationship Id="rId33" Type="http://schemas.openxmlformats.org/officeDocument/2006/relationships/slide" Target="slides/slide30.xml"/><Relationship Id="rId32" Type="http://schemas.openxmlformats.org/officeDocument/2006/relationships/slide" Target="slides/slide29.xml"/><Relationship Id="rId31" Type="http://schemas.openxmlformats.org/officeDocument/2006/relationships/slide" Target="slides/slide28.xml"/><Relationship Id="rId30" Type="http://schemas.openxmlformats.org/officeDocument/2006/relationships/slide" Target="slides/slide27.xml"/><Relationship Id="rId3" Type="http://schemas.openxmlformats.org/officeDocument/2006/relationships/slide" Target="slides/slide1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Header Placeholder"/>
          <p:cNvSpPr/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5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6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7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8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9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0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2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3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第一步解决字符串不可推理问题。相同变量名不保证同一对象，不同表达式也可能指向同一对象；类型化事件必须保留原始源码与身份推导链。无法证明时输出 UNKNOWN。</a:t>
            </a:r>
          </a:p>
          <a:p/>
          <a:p>
            <a:r>
              <a:t>[Sources]</a:t>
            </a:r>
          </a:p>
          <a:p>
            <a:r>
              <a:t>- E:/yanjiusheng/阅读论文/file_system/SE_EOD/PROJECT_HANDOFF.md</a:t>
            </a:r>
          </a:p>
          <a:p>
            <a:r>
              <a:t>- C:/Users/yan12/.codex/attachments/d7a7215a-5065-4d78-94c1-caeecf056841/pasted-text.txt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4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png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/>
        </p:nvSpPr>
        <p:spPr>
          <a:xfrm>
            <a:off x="685800" y="1417320"/>
            <a:ext cx="8138160" cy="685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400" b="1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针对于元数据的错误路径</a:t>
            </a:r>
            <a:endParaRPr sz="3400" b="1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Shape 1"/>
          <p:cNvSpPr>
            <a:spLocks noGrp="1"/>
          </p:cNvSpPr>
          <p:nvPr/>
        </p:nvSpPr>
        <p:spPr>
          <a:xfrm>
            <a:off x="713232" y="2331720"/>
            <a:ext cx="6217920" cy="0"/>
          </a:xfrm>
          <a:prstGeom prst="line">
            <a:avLst/>
          </a:prstGeom>
          <a:noFill/>
          <a:ln w="15240">
            <a:solidFill>
              <a:srgbClr val="111111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/>
        </p:nvSpPr>
        <p:spPr>
          <a:xfrm>
            <a:off x="502920" y="310896"/>
            <a:ext cx="1005840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2400" b="1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Bug 分类总览</a:t>
            </a:r>
            <a:endParaRPr sz="2400" b="1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Shape 1"/>
          <p:cNvSpPr>
            <a:spLocks noGrp="1"/>
          </p:cNvSpPr>
          <p:nvPr/>
        </p:nvSpPr>
        <p:spPr>
          <a:xfrm>
            <a:off x="502920" y="868680"/>
            <a:ext cx="11155680" cy="0"/>
          </a:xfrm>
          <a:prstGeom prst="line">
            <a:avLst/>
          </a:prstGeom>
          <a:noFill/>
          <a:ln w="15240">
            <a:solidFill>
              <a:srgbClr val="111111"/>
            </a:solidFill>
            <a:prstDash val="solid"/>
          </a:ln>
        </p:spPr>
      </p:sp>
      <p:sp>
        <p:nvSpPr>
          <p:cNvPr id="4" name="Text 2"/>
          <p:cNvSpPr>
            <a:spLocks noGrp="1"/>
          </p:cNvSpPr>
          <p:nvPr/>
        </p:nvSpPr>
        <p:spPr>
          <a:xfrm>
            <a:off x="11155680" y="329184"/>
            <a:ext cx="50292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00">
                <a:solidFill>
                  <a:srgbClr val="555555"/>
                </a:solidFill>
              </a:rPr>
              <a:t>03</a:t>
            </a:r>
            <a:endParaRPr sz="1000">
              <a:solidFill>
                <a:srgbClr val="555555"/>
              </a:solidFill>
            </a:endParaRPr>
          </a:p>
        </p:txBody>
      </p:sp>
      <p:sp>
        <p:nvSpPr>
          <p:cNvPr id="6" name="Text 4"/>
          <p:cNvSpPr>
            <a:spLocks noGrp="1"/>
          </p:cNvSpPr>
          <p:nvPr/>
        </p:nvSpPr>
        <p:spPr>
          <a:xfrm>
            <a:off x="731520" y="1325880"/>
            <a:ext cx="3657600" cy="658368"/>
          </a:xfrm>
          <a:prstGeom prst="rect">
            <a:avLst/>
          </a:prstGeom>
          <a:solidFill>
            <a:srgbClr val="F2F2F2"/>
          </a:solidFill>
          <a:ln w="8890">
            <a:solidFill>
              <a:srgbClr val="111111"/>
            </a:solidFill>
          </a:ln>
        </p:spPr>
        <p:txBody>
          <a:bodyPr wrap="square" lIns="889" tIns="889" rIns="889" bIns="889" anchor="ctr">
            <a:normAutofit/>
          </a:bodyPr>
          <a:lstStyle/>
          <a:p>
            <a:pPr marL="0" indent="0" algn="l">
              <a:buNone/>
            </a:pPr>
            <a:r>
              <a:rPr sz="1400" b="1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类别</a:t>
            </a:r>
            <a:endParaRPr sz="1400" b="1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Text 5"/>
          <p:cNvSpPr>
            <a:spLocks noGrp="1"/>
          </p:cNvSpPr>
          <p:nvPr/>
        </p:nvSpPr>
        <p:spPr>
          <a:xfrm>
            <a:off x="4389120" y="1325880"/>
            <a:ext cx="1097280" cy="658368"/>
          </a:xfrm>
          <a:prstGeom prst="rect">
            <a:avLst/>
          </a:prstGeom>
          <a:solidFill>
            <a:srgbClr val="F2F2F2"/>
          </a:solidFill>
          <a:ln w="8890">
            <a:solidFill>
              <a:srgbClr val="111111"/>
            </a:solidFill>
          </a:ln>
        </p:spPr>
        <p:txBody>
          <a:bodyPr wrap="square" lIns="889" tIns="889" rIns="889" bIns="889" anchor="ctr">
            <a:normAutofit/>
          </a:bodyPr>
          <a:lstStyle/>
          <a:p>
            <a:pPr marL="0" indent="0" algn="ctr">
              <a:buNone/>
            </a:pPr>
            <a:r>
              <a:rPr sz="1400" b="1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数量</a:t>
            </a:r>
            <a:endParaRPr sz="1400" b="1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Text 6"/>
          <p:cNvSpPr>
            <a:spLocks noGrp="1"/>
          </p:cNvSpPr>
          <p:nvPr/>
        </p:nvSpPr>
        <p:spPr>
          <a:xfrm>
            <a:off x="5486400" y="1325880"/>
            <a:ext cx="5897880" cy="658368"/>
          </a:xfrm>
          <a:prstGeom prst="rect">
            <a:avLst/>
          </a:prstGeom>
          <a:solidFill>
            <a:srgbClr val="F2F2F2"/>
          </a:solidFill>
          <a:ln w="8890">
            <a:solidFill>
              <a:srgbClr val="111111"/>
            </a:solidFill>
          </a:ln>
        </p:spPr>
        <p:txBody>
          <a:bodyPr wrap="square" lIns="889" tIns="889" rIns="889" bIns="889" anchor="ctr">
            <a:normAutofit/>
          </a:bodyPr>
          <a:lstStyle/>
          <a:p>
            <a:pPr marL="0" indent="0" algn="ctr">
              <a:buNone/>
            </a:pPr>
            <a:r>
              <a:rPr sz="1400" b="1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核心失效点</a:t>
            </a:r>
            <a:endParaRPr sz="1400" b="1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Text 7"/>
          <p:cNvSpPr>
            <a:spLocks noGrp="1"/>
          </p:cNvSpPr>
          <p:nvPr/>
        </p:nvSpPr>
        <p:spPr>
          <a:xfrm>
            <a:off x="731520" y="1984248"/>
            <a:ext cx="3657600" cy="658368"/>
          </a:xfrm>
          <a:prstGeom prst="rect">
            <a:avLst/>
          </a:prstGeom>
          <a:solidFill>
            <a:srgbClr val="FFFFFF"/>
          </a:solidFill>
          <a:ln w="8890">
            <a:solidFill>
              <a:srgbClr val="111111"/>
            </a:solidFill>
          </a:ln>
        </p:spPr>
        <p:txBody>
          <a:bodyPr wrap="square" lIns="889" tIns="889" rIns="889" bIns="889" anchor="ctr">
            <a:normAutofit/>
          </a:bodyPr>
          <a:lstStyle/>
          <a:p>
            <a:pPr marL="0" indent="0" algn="l">
              <a:buNone/>
            </a:pPr>
            <a:r>
              <a:rPr sz="140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元数据错误被吞</a:t>
            </a:r>
            <a:endParaRPr sz="140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Text 8"/>
          <p:cNvSpPr>
            <a:spLocks noGrp="1"/>
          </p:cNvSpPr>
          <p:nvPr/>
        </p:nvSpPr>
        <p:spPr>
          <a:xfrm>
            <a:off x="4389120" y="1984248"/>
            <a:ext cx="1097280" cy="658368"/>
          </a:xfrm>
          <a:prstGeom prst="rect">
            <a:avLst/>
          </a:prstGeom>
          <a:solidFill>
            <a:srgbClr val="FFFFFF"/>
          </a:solidFill>
          <a:ln w="8890">
            <a:solidFill>
              <a:srgbClr val="111111"/>
            </a:solidFill>
          </a:ln>
        </p:spPr>
        <p:txBody>
          <a:bodyPr wrap="square" lIns="889" tIns="889" rIns="889" bIns="889" anchor="ctr">
            <a:normAutofit/>
          </a:bodyPr>
          <a:lstStyle/>
          <a:p>
            <a:pPr marL="0" indent="0" algn="ctr">
              <a:buNone/>
            </a:pPr>
            <a:r>
              <a:rPr sz="140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</a:t>
            </a:r>
            <a:endParaRPr sz="140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Text 9"/>
          <p:cNvSpPr>
            <a:spLocks noGrp="1"/>
          </p:cNvSpPr>
          <p:nvPr/>
        </p:nvSpPr>
        <p:spPr>
          <a:xfrm>
            <a:off x="5486400" y="1984248"/>
            <a:ext cx="5897880" cy="658368"/>
          </a:xfrm>
          <a:prstGeom prst="rect">
            <a:avLst/>
          </a:prstGeom>
          <a:solidFill>
            <a:srgbClr val="FFFFFF"/>
          </a:solidFill>
          <a:ln w="8890">
            <a:solidFill>
              <a:srgbClr val="111111"/>
            </a:solidFill>
          </a:ln>
        </p:spPr>
        <p:txBody>
          <a:bodyPr wrap="square" lIns="889" tIns="889" rIns="889" bIns="889" anchor="ctr">
            <a:normAutofit/>
          </a:bodyPr>
          <a:lstStyle/>
          <a:p>
            <a:pPr marL="0" indent="0" algn="ctr">
              <a:buNone/>
            </a:pPr>
            <a:r>
              <a:rPr sz="140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必要步骤失败，但最终 return 0</a:t>
            </a:r>
            <a:endParaRPr sz="140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Text 10"/>
          <p:cNvSpPr>
            <a:spLocks noGrp="1"/>
          </p:cNvSpPr>
          <p:nvPr/>
        </p:nvSpPr>
        <p:spPr>
          <a:xfrm>
            <a:off x="731520" y="2642616"/>
            <a:ext cx="3657600" cy="658368"/>
          </a:xfrm>
          <a:prstGeom prst="rect">
            <a:avLst/>
          </a:prstGeom>
          <a:solidFill>
            <a:srgbClr val="FFFFFF"/>
          </a:solidFill>
          <a:ln w="8890">
            <a:solidFill>
              <a:srgbClr val="111111"/>
            </a:solidFill>
          </a:ln>
        </p:spPr>
        <p:txBody>
          <a:bodyPr wrap="square" lIns="889" tIns="889" rIns="889" bIns="889" anchor="ctr">
            <a:normAutofit/>
          </a:bodyPr>
          <a:lstStyle/>
          <a:p>
            <a:pPr marL="0" indent="0" algn="l">
              <a:buNone/>
            </a:pPr>
            <a:r>
              <a:rPr sz="140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元数据修改后回滚不完整</a:t>
            </a:r>
            <a:endParaRPr sz="140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Text 11"/>
          <p:cNvSpPr>
            <a:spLocks noGrp="1"/>
          </p:cNvSpPr>
          <p:nvPr/>
        </p:nvSpPr>
        <p:spPr>
          <a:xfrm>
            <a:off x="4389120" y="2642616"/>
            <a:ext cx="1097280" cy="658368"/>
          </a:xfrm>
          <a:prstGeom prst="rect">
            <a:avLst/>
          </a:prstGeom>
          <a:solidFill>
            <a:srgbClr val="FFFFFF"/>
          </a:solidFill>
          <a:ln w="8890">
            <a:solidFill>
              <a:srgbClr val="111111"/>
            </a:solidFill>
          </a:ln>
        </p:spPr>
        <p:txBody>
          <a:bodyPr wrap="square" lIns="889" tIns="889" rIns="889" bIns="889" anchor="ctr">
            <a:normAutofit/>
          </a:bodyPr>
          <a:lstStyle/>
          <a:p>
            <a:pPr marL="0" indent="0" algn="ctr">
              <a:buNone/>
            </a:pPr>
            <a:r>
              <a:rPr sz="140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</a:t>
            </a:r>
            <a:endParaRPr sz="140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Text 12"/>
          <p:cNvSpPr>
            <a:spLocks noGrp="1"/>
          </p:cNvSpPr>
          <p:nvPr/>
        </p:nvSpPr>
        <p:spPr>
          <a:xfrm>
            <a:off x="5486400" y="2642616"/>
            <a:ext cx="5897880" cy="658368"/>
          </a:xfrm>
          <a:prstGeom prst="rect">
            <a:avLst/>
          </a:prstGeom>
          <a:solidFill>
            <a:srgbClr val="FFFFFF"/>
          </a:solidFill>
          <a:ln w="8890">
            <a:solidFill>
              <a:srgbClr val="111111"/>
            </a:solidFill>
          </a:ln>
        </p:spPr>
        <p:txBody>
          <a:bodyPr wrap="square" lIns="889" tIns="889" rIns="889" bIns="889" anchor="ctr">
            <a:normAutofit/>
          </a:bodyPr>
          <a:lstStyle/>
          <a:p>
            <a:pPr marL="0" indent="0" algn="ctr">
              <a:buNone/>
            </a:pPr>
            <a:r>
              <a:rPr sz="140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多阶段修改失败，只撤销局部状态</a:t>
            </a:r>
            <a:endParaRPr sz="140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5" name="Text 13"/>
          <p:cNvSpPr>
            <a:spLocks noGrp="1"/>
          </p:cNvSpPr>
          <p:nvPr/>
        </p:nvSpPr>
        <p:spPr>
          <a:xfrm>
            <a:off x="731520" y="3300984"/>
            <a:ext cx="3657600" cy="658368"/>
          </a:xfrm>
          <a:prstGeom prst="rect">
            <a:avLst/>
          </a:prstGeom>
          <a:solidFill>
            <a:srgbClr val="FFFFFF"/>
          </a:solidFill>
          <a:ln w="8890">
            <a:solidFill>
              <a:srgbClr val="111111"/>
            </a:solidFill>
          </a:ln>
        </p:spPr>
        <p:txBody>
          <a:bodyPr wrap="square" lIns="889" tIns="889" rIns="889" bIns="889" anchor="ctr">
            <a:normAutofit/>
          </a:bodyPr>
          <a:lstStyle/>
          <a:p>
            <a:pPr marL="0" indent="0" algn="l">
              <a:buNone/>
            </a:pPr>
            <a:r>
              <a:rPr sz="140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返回值 / 技术状态污染</a:t>
            </a:r>
            <a:endParaRPr sz="140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Text 14"/>
          <p:cNvSpPr>
            <a:spLocks noGrp="1"/>
          </p:cNvSpPr>
          <p:nvPr/>
        </p:nvSpPr>
        <p:spPr>
          <a:xfrm>
            <a:off x="4389120" y="3300984"/>
            <a:ext cx="1097280" cy="658368"/>
          </a:xfrm>
          <a:prstGeom prst="rect">
            <a:avLst/>
          </a:prstGeom>
          <a:solidFill>
            <a:srgbClr val="FFFFFF"/>
          </a:solidFill>
          <a:ln w="8890">
            <a:solidFill>
              <a:srgbClr val="111111"/>
            </a:solidFill>
          </a:ln>
        </p:spPr>
        <p:txBody>
          <a:bodyPr wrap="square" lIns="889" tIns="889" rIns="889" bIns="889" anchor="ctr">
            <a:normAutofit/>
          </a:bodyPr>
          <a:lstStyle/>
          <a:p>
            <a:pPr marL="0" indent="0" algn="ctr">
              <a:buNone/>
            </a:pPr>
            <a:r>
              <a:rPr sz="140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</a:t>
            </a:r>
            <a:endParaRPr sz="140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Text 15"/>
          <p:cNvSpPr>
            <a:spLocks noGrp="1"/>
          </p:cNvSpPr>
          <p:nvPr/>
        </p:nvSpPr>
        <p:spPr>
          <a:xfrm>
            <a:off x="5486400" y="3300984"/>
            <a:ext cx="5897880" cy="658368"/>
          </a:xfrm>
          <a:prstGeom prst="rect">
            <a:avLst/>
          </a:prstGeom>
          <a:solidFill>
            <a:srgbClr val="FFFFFF"/>
          </a:solidFill>
          <a:ln w="8890">
            <a:solidFill>
              <a:srgbClr val="111111"/>
            </a:solidFill>
          </a:ln>
        </p:spPr>
        <p:txBody>
          <a:bodyPr wrap="square" lIns="889" tIns="889" rIns="889" bIns="889" anchor="ctr">
            <a:normAutofit/>
          </a:bodyPr>
          <a:lstStyle/>
          <a:p>
            <a:pPr marL="0" indent="0" algn="ctr">
              <a:buNone/>
            </a:pPr>
            <a:r>
              <a:rPr sz="140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变量残留，返回语义与实际状态不一致</a:t>
            </a:r>
            <a:endParaRPr sz="140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" name="Text 16"/>
          <p:cNvSpPr>
            <a:spLocks noGrp="1"/>
          </p:cNvSpPr>
          <p:nvPr/>
        </p:nvSpPr>
        <p:spPr>
          <a:xfrm>
            <a:off x="731520" y="3959352"/>
            <a:ext cx="3657600" cy="658368"/>
          </a:xfrm>
          <a:prstGeom prst="rect">
            <a:avLst/>
          </a:prstGeom>
          <a:solidFill>
            <a:srgbClr val="FFFFFF"/>
          </a:solidFill>
          <a:ln w="8890">
            <a:solidFill>
              <a:srgbClr val="111111"/>
            </a:solidFill>
          </a:ln>
        </p:spPr>
        <p:txBody>
          <a:bodyPr wrap="square" lIns="889" tIns="889" rIns="889" bIns="889" anchor="ctr">
            <a:normAutofit/>
          </a:bodyPr>
          <a:lstStyle/>
          <a:p>
            <a:pPr marL="0" indent="0" algn="l">
              <a:buNone/>
            </a:pPr>
            <a:r>
              <a:rPr sz="140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纯资源释放缺失</a:t>
            </a:r>
            <a:endParaRPr sz="140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Text 17"/>
          <p:cNvSpPr>
            <a:spLocks noGrp="1"/>
          </p:cNvSpPr>
          <p:nvPr/>
        </p:nvSpPr>
        <p:spPr>
          <a:xfrm>
            <a:off x="4389120" y="3959352"/>
            <a:ext cx="1097280" cy="658368"/>
          </a:xfrm>
          <a:prstGeom prst="rect">
            <a:avLst/>
          </a:prstGeom>
          <a:solidFill>
            <a:srgbClr val="FFFFFF"/>
          </a:solidFill>
          <a:ln w="8890">
            <a:solidFill>
              <a:srgbClr val="111111"/>
            </a:solidFill>
          </a:ln>
        </p:spPr>
        <p:txBody>
          <a:bodyPr wrap="square" lIns="889" tIns="889" rIns="889" bIns="889" anchor="ctr">
            <a:normAutofit/>
          </a:bodyPr>
          <a:lstStyle/>
          <a:p>
            <a:pPr marL="0" indent="0" algn="ctr">
              <a:buNone/>
            </a:pPr>
            <a:r>
              <a:rPr sz="140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8</a:t>
            </a:r>
            <a:endParaRPr sz="140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0" name="Text 18"/>
          <p:cNvSpPr>
            <a:spLocks noGrp="1"/>
          </p:cNvSpPr>
          <p:nvPr/>
        </p:nvSpPr>
        <p:spPr>
          <a:xfrm>
            <a:off x="5486400" y="3959352"/>
            <a:ext cx="5897880" cy="658368"/>
          </a:xfrm>
          <a:prstGeom prst="rect">
            <a:avLst/>
          </a:prstGeom>
          <a:solidFill>
            <a:srgbClr val="FFFFFF"/>
          </a:solidFill>
          <a:ln w="8890">
            <a:solidFill>
              <a:srgbClr val="111111"/>
            </a:solidFill>
          </a:ln>
        </p:spPr>
        <p:txBody>
          <a:bodyPr wrap="square" lIns="889" tIns="889" rIns="889" bIns="889" anchor="ctr">
            <a:normAutofit/>
          </a:bodyPr>
          <a:lstStyle/>
          <a:p>
            <a:pPr marL="0" indent="0" algn="ctr">
              <a:buNone/>
            </a:pPr>
            <a:r>
              <a:rPr sz="140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资源生命周期未完整闭合</a:t>
            </a:r>
            <a:endParaRPr sz="140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/>
        </p:nvSpPr>
        <p:spPr>
          <a:xfrm>
            <a:off x="502920" y="310896"/>
            <a:ext cx="1005840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2400" b="1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类型一：元数据错误被吞</a:t>
            </a:r>
            <a:endParaRPr sz="2400" b="1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Shape 1"/>
          <p:cNvSpPr>
            <a:spLocks noGrp="1"/>
          </p:cNvSpPr>
          <p:nvPr/>
        </p:nvSpPr>
        <p:spPr>
          <a:xfrm>
            <a:off x="502920" y="868680"/>
            <a:ext cx="11155680" cy="0"/>
          </a:xfrm>
          <a:prstGeom prst="line">
            <a:avLst/>
          </a:prstGeom>
          <a:noFill/>
          <a:ln w="15240">
            <a:solidFill>
              <a:srgbClr val="111111"/>
            </a:solidFill>
            <a:prstDash val="solid"/>
          </a:ln>
        </p:spPr>
      </p:sp>
      <p:sp>
        <p:nvSpPr>
          <p:cNvPr id="4" name="Text 2"/>
          <p:cNvSpPr>
            <a:spLocks noGrp="1"/>
          </p:cNvSpPr>
          <p:nvPr/>
        </p:nvSpPr>
        <p:spPr>
          <a:xfrm>
            <a:off x="11155680" y="329184"/>
            <a:ext cx="50292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00">
                <a:solidFill>
                  <a:srgbClr val="555555"/>
                </a:solidFill>
              </a:rPr>
              <a:t>04</a:t>
            </a:r>
            <a:endParaRPr sz="1000">
              <a:solidFill>
                <a:srgbClr val="555555"/>
              </a:solidFill>
            </a:endParaRPr>
          </a:p>
        </p:txBody>
      </p:sp>
      <p:sp>
        <p:nvSpPr>
          <p:cNvPr id="6" name="Text 4"/>
          <p:cNvSpPr>
            <a:spLocks noGrp="1"/>
          </p:cNvSpPr>
          <p:nvPr/>
        </p:nvSpPr>
        <p:spPr>
          <a:xfrm>
            <a:off x="731520" y="1143000"/>
            <a:ext cx="1828800" cy="256032"/>
          </a:xfrm>
          <a:prstGeom prst="rect">
            <a:avLst/>
          </a:prstGeom>
          <a:noFill/>
        </p:spPr>
        <p:txBody>
          <a:bodyPr wrap="square" lIns="1016" tIns="1016" rIns="1016" bIns="1016" anchor="ctr">
            <a:normAutofit/>
          </a:bodyPr>
          <a:lstStyle/>
          <a:p>
            <a:pPr marL="0" indent="0" algn="l">
              <a:lnSpc>
                <a:spcPct val="95000"/>
              </a:lnSpc>
              <a:buNone/>
            </a:pPr>
            <a:r>
              <a:rPr sz="1400" b="1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典型模式</a:t>
            </a:r>
            <a:endParaRPr sz="1400" b="1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Text 5"/>
          <p:cNvSpPr>
            <a:spLocks noGrp="1"/>
          </p:cNvSpPr>
          <p:nvPr/>
        </p:nvSpPr>
        <p:spPr>
          <a:xfrm>
            <a:off x="868680" y="1508760"/>
            <a:ext cx="397764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</p:spPr>
        <p:txBody>
          <a:bodyPr wrap="square" lIns="889" tIns="889" rIns="889" bIns="889" anchor="ctr">
            <a:normAutofit/>
          </a:bodyPr>
          <a:lstStyle/>
          <a:p>
            <a:pPr marL="0" indent="0" algn="ctr">
              <a:buNone/>
            </a:pPr>
            <a:r>
              <a:rPr sz="135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底层元数据操作返回</a:t>
            </a:r>
            <a:endParaRPr sz="135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0" indent="0" algn="ctr">
              <a:buNone/>
            </a:pPr>
            <a:r>
              <a:rPr sz="135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-EIO / -ENOMEM / -EFSCORRUPTED</a:t>
            </a:r>
            <a:endParaRPr sz="135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Shape 6"/>
          <p:cNvSpPr>
            <a:spLocks noGrp="1"/>
          </p:cNvSpPr>
          <p:nvPr/>
        </p:nvSpPr>
        <p:spPr>
          <a:xfrm>
            <a:off x="2862072" y="2066544"/>
            <a:ext cx="0" cy="237744"/>
          </a:xfrm>
          <a:prstGeom prst="line">
            <a:avLst/>
          </a:prstGeom>
          <a:noFill/>
          <a:ln w="11430">
            <a:solidFill>
              <a:srgbClr val="111111"/>
            </a:solidFill>
            <a:prstDash val="solid"/>
            <a:headEnd type="none"/>
            <a:tailEnd type="triangle"/>
          </a:ln>
        </p:spPr>
      </p:sp>
      <p:sp>
        <p:nvSpPr>
          <p:cNvPr id="9" name="Text 7"/>
          <p:cNvSpPr>
            <a:spLocks noGrp="1"/>
          </p:cNvSpPr>
          <p:nvPr/>
        </p:nvSpPr>
        <p:spPr>
          <a:xfrm>
            <a:off x="868680" y="2359152"/>
            <a:ext cx="397764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</p:spPr>
        <p:txBody>
          <a:bodyPr wrap="square" lIns="889" tIns="889" rIns="889" bIns="889" anchor="ctr">
            <a:normAutofit/>
          </a:bodyPr>
          <a:lstStyle/>
          <a:p>
            <a:pPr marL="0" indent="0" algn="ctr">
              <a:buNone/>
            </a:pPr>
            <a:r>
              <a:rPr sz="135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错误保存在 ret / error</a:t>
            </a:r>
            <a:endParaRPr sz="135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Shape 8"/>
          <p:cNvSpPr>
            <a:spLocks noGrp="1"/>
          </p:cNvSpPr>
          <p:nvPr/>
        </p:nvSpPr>
        <p:spPr>
          <a:xfrm>
            <a:off x="2862072" y="2916936"/>
            <a:ext cx="0" cy="237744"/>
          </a:xfrm>
          <a:prstGeom prst="line">
            <a:avLst/>
          </a:prstGeom>
          <a:noFill/>
          <a:ln w="11430">
            <a:solidFill>
              <a:srgbClr val="111111"/>
            </a:solidFill>
            <a:prstDash val="solid"/>
            <a:headEnd type="none"/>
            <a:tailEnd type="triangle"/>
          </a:ln>
        </p:spPr>
      </p:sp>
      <p:sp>
        <p:nvSpPr>
          <p:cNvPr id="11" name="Text 9"/>
          <p:cNvSpPr>
            <a:spLocks noGrp="1"/>
          </p:cNvSpPr>
          <p:nvPr/>
        </p:nvSpPr>
        <p:spPr>
          <a:xfrm>
            <a:off x="868680" y="3209544"/>
            <a:ext cx="397764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</p:spPr>
        <p:txBody>
          <a:bodyPr wrap="square" lIns="889" tIns="889" rIns="889" bIns="889" anchor="ctr">
            <a:normAutofit/>
          </a:bodyPr>
          <a:lstStyle/>
          <a:p>
            <a:pPr marL="0" indent="0" algn="ctr">
              <a:buNone/>
            </a:pPr>
            <a:r>
              <a:rPr sz="135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跳到统一清理路径 out:</a:t>
            </a:r>
            <a:endParaRPr sz="135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Shape 10"/>
          <p:cNvSpPr>
            <a:spLocks noGrp="1"/>
          </p:cNvSpPr>
          <p:nvPr/>
        </p:nvSpPr>
        <p:spPr>
          <a:xfrm>
            <a:off x="2862072" y="3767328"/>
            <a:ext cx="0" cy="237744"/>
          </a:xfrm>
          <a:prstGeom prst="line">
            <a:avLst/>
          </a:prstGeom>
          <a:noFill/>
          <a:ln w="11430">
            <a:solidFill>
              <a:srgbClr val="111111"/>
            </a:solidFill>
            <a:prstDash val="solid"/>
            <a:headEnd type="none"/>
            <a:tailEnd type="triangle"/>
          </a:ln>
        </p:spPr>
      </p:sp>
      <p:sp>
        <p:nvSpPr>
          <p:cNvPr id="13" name="Text 11"/>
          <p:cNvSpPr>
            <a:spLocks noGrp="1"/>
          </p:cNvSpPr>
          <p:nvPr/>
        </p:nvSpPr>
        <p:spPr>
          <a:xfrm>
            <a:off x="868680" y="4059936"/>
            <a:ext cx="3977640" cy="530352"/>
          </a:xfrm>
          <a:prstGeom prst="rect">
            <a:avLst/>
          </a:prstGeom>
          <a:solidFill>
            <a:srgbClr val="F2F2F2"/>
          </a:solidFill>
          <a:ln w="12700">
            <a:solidFill>
              <a:srgbClr val="111111"/>
            </a:solidFill>
          </a:ln>
        </p:spPr>
        <p:txBody>
          <a:bodyPr wrap="square" lIns="889" tIns="889" rIns="889" bIns="889" anchor="ctr">
            <a:normAutofit/>
          </a:bodyPr>
          <a:lstStyle/>
          <a:p>
            <a:pPr marL="0" indent="0" algn="ctr">
              <a:buNone/>
            </a:pPr>
            <a:r>
              <a:rPr sz="135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清理资源后 return 0</a:t>
            </a:r>
            <a:endParaRPr sz="135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Shape 12"/>
          <p:cNvSpPr>
            <a:spLocks noGrp="1"/>
          </p:cNvSpPr>
          <p:nvPr/>
        </p:nvSpPr>
        <p:spPr>
          <a:xfrm>
            <a:off x="2862072" y="4617720"/>
            <a:ext cx="0" cy="237744"/>
          </a:xfrm>
          <a:prstGeom prst="line">
            <a:avLst/>
          </a:prstGeom>
          <a:noFill/>
          <a:ln w="11430">
            <a:solidFill>
              <a:srgbClr val="111111"/>
            </a:solidFill>
            <a:prstDash val="solid"/>
            <a:headEnd type="none"/>
            <a:tailEnd type="triangle"/>
          </a:ln>
        </p:spPr>
      </p:sp>
      <p:sp>
        <p:nvSpPr>
          <p:cNvPr id="15" name="Text 13"/>
          <p:cNvSpPr>
            <a:spLocks noGrp="1"/>
          </p:cNvSpPr>
          <p:nvPr/>
        </p:nvSpPr>
        <p:spPr>
          <a:xfrm>
            <a:off x="868680" y="4910328"/>
            <a:ext cx="397764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</p:spPr>
        <p:txBody>
          <a:bodyPr wrap="square" lIns="889" tIns="889" rIns="889" bIns="889" anchor="ctr">
            <a:normAutofit/>
          </a:bodyPr>
          <a:lstStyle/>
          <a:p>
            <a:pPr marL="0" indent="0" algn="ctr">
              <a:buNone/>
            </a:pPr>
            <a:r>
              <a:rPr sz="135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上层误判为成功</a:t>
            </a:r>
            <a:endParaRPr sz="135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Text 14"/>
          <p:cNvSpPr>
            <a:spLocks noGrp="1"/>
          </p:cNvSpPr>
          <p:nvPr/>
        </p:nvSpPr>
        <p:spPr>
          <a:xfrm>
            <a:off x="5669280" y="1325880"/>
            <a:ext cx="2011680" cy="292608"/>
          </a:xfrm>
          <a:prstGeom prst="rect">
            <a:avLst/>
          </a:prstGeom>
          <a:noFill/>
        </p:spPr>
        <p:txBody>
          <a:bodyPr wrap="square" lIns="1016" tIns="1016" rIns="1016" bIns="1016" anchor="ctr">
            <a:normAutofit/>
          </a:bodyPr>
          <a:lstStyle/>
          <a:p>
            <a:pPr marL="0" indent="0" algn="l">
              <a:lnSpc>
                <a:spcPct val="95000"/>
              </a:lnSpc>
              <a:buNone/>
            </a:pPr>
            <a:r>
              <a:rPr sz="1400" b="1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破坏的规则</a:t>
            </a:r>
            <a:endParaRPr sz="1400" b="1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Text 15"/>
          <p:cNvSpPr>
            <a:spLocks noGrp="1"/>
          </p:cNvSpPr>
          <p:nvPr/>
        </p:nvSpPr>
        <p:spPr>
          <a:xfrm>
            <a:off x="5669280" y="1783080"/>
            <a:ext cx="4526280" cy="960120"/>
          </a:xfrm>
          <a:prstGeom prst="rect">
            <a:avLst/>
          </a:prstGeom>
          <a:solidFill>
            <a:srgbClr val="F2F2F2"/>
          </a:solidFill>
          <a:ln w="12700">
            <a:solidFill>
              <a:srgbClr val="111111"/>
            </a:solidFill>
          </a:ln>
        </p:spPr>
        <p:txBody>
          <a:bodyPr wrap="square" lIns="889" tIns="889" rIns="889" bIns="889" anchor="ctr">
            <a:normAutofit/>
          </a:bodyPr>
          <a:lstStyle/>
          <a:p>
            <a:pPr marL="0" indent="0" algn="ctr">
              <a:buNone/>
            </a:pPr>
            <a:r>
              <a:rPr sz="1800" b="1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“返回成功”</a:t>
            </a:r>
            <a:endParaRPr sz="1800" b="1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0" indent="0" algn="ctr">
              <a:buNone/>
            </a:pPr>
            <a:r>
              <a:rPr sz="1800" b="1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必须意味着</a:t>
            </a:r>
            <a:endParaRPr sz="1800" b="1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0" indent="0" algn="ctr">
              <a:buNone/>
            </a:pPr>
            <a:r>
              <a:rPr sz="1800" b="1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元数据操作完整成功</a:t>
            </a:r>
            <a:endParaRPr sz="1800" b="1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" name="Text 16"/>
          <p:cNvSpPr>
            <a:spLocks noGrp="1"/>
          </p:cNvSpPr>
          <p:nvPr/>
        </p:nvSpPr>
        <p:spPr>
          <a:xfrm>
            <a:off x="5669280" y="3246120"/>
            <a:ext cx="5029200" cy="804672"/>
          </a:xfrm>
          <a:prstGeom prst="rect">
            <a:avLst/>
          </a:prstGeom>
          <a:noFill/>
        </p:spPr>
        <p:txBody>
          <a:bodyPr wrap="square" lIns="1016" tIns="1016" rIns="1016" bIns="1016" anchor="ctr">
            <a:normAutofit/>
          </a:bodyPr>
          <a:lstStyle/>
          <a:p>
            <a:pPr marL="0" indent="0" algn="l">
              <a:lnSpc>
                <a:spcPct val="95000"/>
              </a:lnSpc>
              <a:buNone/>
            </a:pPr>
            <a:r>
              <a:rPr sz="150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后果：调用者没有机会停止、回滚或取消事务，错误会被带入后续恢复、扩容或提交流程。</a:t>
            </a:r>
            <a:endParaRPr sz="150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Text 17"/>
          <p:cNvSpPr>
            <a:spLocks noGrp="1"/>
          </p:cNvSpPr>
          <p:nvPr/>
        </p:nvSpPr>
        <p:spPr>
          <a:xfrm>
            <a:off x="5669280" y="4800600"/>
            <a:ext cx="50292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</p:spPr>
        <p:txBody>
          <a:bodyPr wrap="square" lIns="889" tIns="889" rIns="889" bIns="889" anchor="ctr">
            <a:normAutofit/>
          </a:bodyPr>
          <a:lstStyle/>
          <a:p>
            <a:pPr marL="0" indent="0" algn="ctr">
              <a:buNone/>
            </a:pPr>
            <a:r>
              <a:rPr sz="1600" b="1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总结：必要元数据步骤失败，不得进入成功出口。</a:t>
            </a:r>
            <a:endParaRPr sz="1600" b="1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/>
        </p:nvSpPr>
        <p:spPr>
          <a:xfrm>
            <a:off x="502920" y="310896"/>
            <a:ext cx="1005840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2400" b="1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例子：ext4 fast commit replay 中的局部不一致</a:t>
            </a:r>
            <a:endParaRPr sz="2400" b="1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Shape 1"/>
          <p:cNvSpPr>
            <a:spLocks noGrp="1"/>
          </p:cNvSpPr>
          <p:nvPr/>
        </p:nvSpPr>
        <p:spPr>
          <a:xfrm>
            <a:off x="502920" y="868680"/>
            <a:ext cx="11155680" cy="0"/>
          </a:xfrm>
          <a:prstGeom prst="line">
            <a:avLst/>
          </a:prstGeom>
          <a:noFill/>
          <a:ln w="15240">
            <a:solidFill>
              <a:srgbClr val="111111"/>
            </a:solidFill>
            <a:prstDash val="solid"/>
          </a:ln>
        </p:spPr>
      </p:sp>
      <p:sp>
        <p:nvSpPr>
          <p:cNvPr id="4" name="Text 2"/>
          <p:cNvSpPr>
            <a:spLocks noGrp="1"/>
          </p:cNvSpPr>
          <p:nvPr/>
        </p:nvSpPr>
        <p:spPr>
          <a:xfrm>
            <a:off x="11155680" y="329184"/>
            <a:ext cx="50292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00">
                <a:solidFill>
                  <a:srgbClr val="555555"/>
                </a:solidFill>
              </a:rPr>
              <a:t>05</a:t>
            </a:r>
            <a:endParaRPr sz="1000">
              <a:solidFill>
                <a:srgbClr val="555555"/>
              </a:solidFill>
            </a:endParaRPr>
          </a:p>
        </p:txBody>
      </p:sp>
      <p:sp>
        <p:nvSpPr>
          <p:cNvPr id="6" name="Text 4"/>
          <p:cNvSpPr>
            <a:spLocks noGrp="1"/>
          </p:cNvSpPr>
          <p:nvPr/>
        </p:nvSpPr>
        <p:spPr>
          <a:xfrm>
            <a:off x="822960" y="1325880"/>
            <a:ext cx="29718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</p:spPr>
        <p:txBody>
          <a:bodyPr wrap="square" lIns="889" tIns="889" rIns="889" bIns="889" anchor="ctr">
            <a:normAutofit/>
          </a:bodyPr>
          <a:lstStyle/>
          <a:p>
            <a:pPr marL="0" indent="0" algn="ctr">
              <a:buNone/>
            </a:pPr>
            <a:r>
              <a:rPr sz="138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初始：inode extent</a:t>
            </a:r>
            <a:endParaRPr sz="138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0" indent="0" algn="ctr">
              <a:buNone/>
            </a:pPr>
            <a:r>
              <a:rPr sz="138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逻辑块 100–199 → 物理块 5000–5099</a:t>
            </a:r>
            <a:endParaRPr sz="138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Shape 5"/>
          <p:cNvSpPr>
            <a:spLocks noGrp="1"/>
          </p:cNvSpPr>
          <p:nvPr/>
        </p:nvSpPr>
        <p:spPr>
          <a:xfrm>
            <a:off x="3886200" y="1682496"/>
            <a:ext cx="731520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  <a:headEnd type="none"/>
            <a:tailEnd type="triangle"/>
          </a:ln>
        </p:spPr>
      </p:sp>
      <p:sp>
        <p:nvSpPr>
          <p:cNvPr id="8" name="Text 6"/>
          <p:cNvSpPr>
            <a:spLocks noGrp="1"/>
          </p:cNvSpPr>
          <p:nvPr/>
        </p:nvSpPr>
        <p:spPr>
          <a:xfrm>
            <a:off x="4709160" y="1143000"/>
            <a:ext cx="2331720" cy="1078992"/>
          </a:xfrm>
          <a:prstGeom prst="rect">
            <a:avLst/>
          </a:prstGeom>
          <a:solidFill>
            <a:srgbClr val="F2F2F2"/>
          </a:solidFill>
          <a:ln w="12700">
            <a:solidFill>
              <a:srgbClr val="111111"/>
            </a:solidFill>
          </a:ln>
        </p:spPr>
        <p:txBody>
          <a:bodyPr wrap="square" lIns="889" tIns="889" rIns="889" bIns="889" anchor="ctr">
            <a:normAutofit/>
          </a:bodyPr>
          <a:lstStyle/>
          <a:p>
            <a:pPr marL="0" indent="0" algn="ctr">
              <a:buNone/>
            </a:pPr>
            <a:r>
              <a:rPr sz="135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步骤 1</a:t>
            </a:r>
            <a:endParaRPr sz="135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0" indent="0" algn="ctr">
              <a:buNone/>
            </a:pPr>
            <a:r>
              <a:rPr sz="135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ext4_mb_mark_bb()</a:t>
            </a:r>
            <a:endParaRPr sz="135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0" indent="0" algn="ctr">
              <a:buNone/>
            </a:pPr>
            <a:r>
              <a:rPr sz="135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把物理块标记为空闲</a:t>
            </a:r>
            <a:endParaRPr sz="135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Shape 7"/>
          <p:cNvSpPr>
            <a:spLocks noGrp="1"/>
          </p:cNvSpPr>
          <p:nvPr/>
        </p:nvSpPr>
        <p:spPr>
          <a:xfrm>
            <a:off x="7150608" y="1682496"/>
            <a:ext cx="731520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  <a:headEnd type="none"/>
            <a:tailEnd type="triangle"/>
          </a:ln>
        </p:spPr>
      </p:sp>
      <p:sp>
        <p:nvSpPr>
          <p:cNvPr id="10" name="Text 8"/>
          <p:cNvSpPr>
            <a:spLocks noGrp="1"/>
          </p:cNvSpPr>
          <p:nvPr/>
        </p:nvSpPr>
        <p:spPr>
          <a:xfrm>
            <a:off x="7973568" y="1143000"/>
            <a:ext cx="274320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</p:spPr>
        <p:txBody>
          <a:bodyPr wrap="square" lIns="889" tIns="889" rIns="889" bIns="889" anchor="ctr">
            <a:normAutofit/>
          </a:bodyPr>
          <a:lstStyle/>
          <a:p>
            <a:pPr marL="0" indent="0" algn="ctr">
              <a:buNone/>
            </a:pPr>
            <a:r>
              <a:rPr sz="135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步骤 2 失败</a:t>
            </a:r>
            <a:endParaRPr sz="135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0" indent="0" algn="ctr">
              <a:buNone/>
            </a:pPr>
            <a:r>
              <a:rPr sz="135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ext4_ext_remove_space()</a:t>
            </a:r>
            <a:endParaRPr sz="135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0" indent="0" algn="ctr">
              <a:buNone/>
            </a:pPr>
            <a:r>
              <a:rPr sz="135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没有删除 extent</a:t>
            </a:r>
            <a:endParaRPr sz="135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Text 9"/>
          <p:cNvSpPr>
            <a:spLocks noGrp="1"/>
          </p:cNvSpPr>
          <p:nvPr/>
        </p:nvSpPr>
        <p:spPr>
          <a:xfrm>
            <a:off x="1188720" y="3063240"/>
            <a:ext cx="2926080" cy="530352"/>
          </a:xfrm>
          <a:prstGeom prst="rect">
            <a:avLst/>
          </a:prstGeom>
          <a:solidFill>
            <a:srgbClr val="F2F2F2"/>
          </a:solidFill>
          <a:ln w="8890">
            <a:solidFill>
              <a:srgbClr val="111111"/>
            </a:solidFill>
          </a:ln>
        </p:spPr>
        <p:txBody>
          <a:bodyPr wrap="square" lIns="889" tIns="889" rIns="889" bIns="889" anchor="ctr">
            <a:normAutofit/>
          </a:bodyPr>
          <a:lstStyle/>
          <a:p>
            <a:pPr marL="0" indent="0" algn="l">
              <a:buNone/>
            </a:pPr>
            <a:r>
              <a:rPr sz="1350" b="1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对象</a:t>
            </a:r>
            <a:endParaRPr sz="1350" b="1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Text 10"/>
          <p:cNvSpPr>
            <a:spLocks noGrp="1"/>
          </p:cNvSpPr>
          <p:nvPr/>
        </p:nvSpPr>
        <p:spPr>
          <a:xfrm>
            <a:off x="4114800" y="3063240"/>
            <a:ext cx="6035040" cy="530352"/>
          </a:xfrm>
          <a:prstGeom prst="rect">
            <a:avLst/>
          </a:prstGeom>
          <a:solidFill>
            <a:srgbClr val="F2F2F2"/>
          </a:solidFill>
          <a:ln w="8890">
            <a:solidFill>
              <a:srgbClr val="111111"/>
            </a:solidFill>
          </a:ln>
        </p:spPr>
        <p:txBody>
          <a:bodyPr wrap="square" lIns="889" tIns="889" rIns="889" bIns="889" anchor="ctr">
            <a:normAutofit/>
          </a:bodyPr>
          <a:lstStyle/>
          <a:p>
            <a:pPr marL="0" indent="0" algn="ctr">
              <a:buNone/>
            </a:pPr>
            <a:r>
              <a:rPr sz="1350" b="1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函数退出后的状态</a:t>
            </a:r>
            <a:endParaRPr sz="1350" b="1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Text 11"/>
          <p:cNvSpPr>
            <a:spLocks noGrp="1"/>
          </p:cNvSpPr>
          <p:nvPr/>
        </p:nvSpPr>
        <p:spPr>
          <a:xfrm>
            <a:off x="1188720" y="3593592"/>
            <a:ext cx="2926080" cy="530352"/>
          </a:xfrm>
          <a:prstGeom prst="rect">
            <a:avLst/>
          </a:prstGeom>
          <a:solidFill>
            <a:srgbClr val="FFFFFF"/>
          </a:solidFill>
          <a:ln w="8890">
            <a:solidFill>
              <a:srgbClr val="111111"/>
            </a:solidFill>
          </a:ln>
        </p:spPr>
        <p:txBody>
          <a:bodyPr wrap="square" lIns="889" tIns="889" rIns="889" bIns="889" anchor="ctr">
            <a:normAutofit/>
          </a:bodyPr>
          <a:lstStyle/>
          <a:p>
            <a:pPr marL="0" indent="0" algn="l">
              <a:buNone/>
            </a:pPr>
            <a:r>
              <a:rPr sz="135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inode extent</a:t>
            </a:r>
            <a:endParaRPr sz="135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Text 12"/>
          <p:cNvSpPr>
            <a:spLocks noGrp="1"/>
          </p:cNvSpPr>
          <p:nvPr/>
        </p:nvSpPr>
        <p:spPr>
          <a:xfrm>
            <a:off x="4114800" y="3593592"/>
            <a:ext cx="6035040" cy="530352"/>
          </a:xfrm>
          <a:prstGeom prst="rect">
            <a:avLst/>
          </a:prstGeom>
          <a:solidFill>
            <a:srgbClr val="FFFFFF"/>
          </a:solidFill>
          <a:ln w="8890">
            <a:solidFill>
              <a:srgbClr val="111111"/>
            </a:solidFill>
          </a:ln>
        </p:spPr>
        <p:txBody>
          <a:bodyPr wrap="square" lIns="889" tIns="889" rIns="889" bIns="889" anchor="ctr">
            <a:normAutofit/>
          </a:bodyPr>
          <a:lstStyle/>
          <a:p>
            <a:pPr marL="0" indent="0" algn="ctr">
              <a:buNone/>
            </a:pPr>
            <a:r>
              <a:rPr sz="135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仍然引用 5000–5099</a:t>
            </a:r>
            <a:endParaRPr sz="135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5" name="Text 13"/>
          <p:cNvSpPr>
            <a:spLocks noGrp="1"/>
          </p:cNvSpPr>
          <p:nvPr/>
        </p:nvSpPr>
        <p:spPr>
          <a:xfrm>
            <a:off x="1188720" y="4123944"/>
            <a:ext cx="2926080" cy="530352"/>
          </a:xfrm>
          <a:prstGeom prst="rect">
            <a:avLst/>
          </a:prstGeom>
          <a:solidFill>
            <a:srgbClr val="FFFFFF"/>
          </a:solidFill>
          <a:ln w="8890">
            <a:solidFill>
              <a:srgbClr val="111111"/>
            </a:solidFill>
          </a:ln>
        </p:spPr>
        <p:txBody>
          <a:bodyPr wrap="square" lIns="889" tIns="889" rIns="889" bIns="889" anchor="ctr">
            <a:normAutofit/>
          </a:bodyPr>
          <a:lstStyle/>
          <a:p>
            <a:pPr marL="0" indent="0" algn="l">
              <a:buNone/>
            </a:pPr>
            <a:r>
              <a:rPr sz="135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块分配状态</a:t>
            </a:r>
            <a:endParaRPr sz="135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Text 14"/>
          <p:cNvSpPr>
            <a:spLocks noGrp="1"/>
          </p:cNvSpPr>
          <p:nvPr/>
        </p:nvSpPr>
        <p:spPr>
          <a:xfrm>
            <a:off x="4114800" y="4123944"/>
            <a:ext cx="6035040" cy="530352"/>
          </a:xfrm>
          <a:prstGeom prst="rect">
            <a:avLst/>
          </a:prstGeom>
          <a:solidFill>
            <a:srgbClr val="FFFFFF"/>
          </a:solidFill>
          <a:ln w="8890">
            <a:solidFill>
              <a:srgbClr val="111111"/>
            </a:solidFill>
          </a:ln>
        </p:spPr>
        <p:txBody>
          <a:bodyPr wrap="square" lIns="889" tIns="889" rIns="889" bIns="889" anchor="ctr">
            <a:normAutofit/>
          </a:bodyPr>
          <a:lstStyle/>
          <a:p>
            <a:pPr marL="0" indent="0" algn="ctr">
              <a:buNone/>
            </a:pPr>
            <a:r>
              <a:rPr sz="135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5000–5099 已被标为空闲</a:t>
            </a:r>
            <a:endParaRPr sz="135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Text 15"/>
          <p:cNvSpPr>
            <a:spLocks noGrp="1"/>
          </p:cNvSpPr>
          <p:nvPr/>
        </p:nvSpPr>
        <p:spPr>
          <a:xfrm>
            <a:off x="1188720" y="4654296"/>
            <a:ext cx="2926080" cy="530352"/>
          </a:xfrm>
          <a:prstGeom prst="rect">
            <a:avLst/>
          </a:prstGeom>
          <a:solidFill>
            <a:srgbClr val="FFFFFF"/>
          </a:solidFill>
          <a:ln w="8890">
            <a:solidFill>
              <a:srgbClr val="111111"/>
            </a:solidFill>
          </a:ln>
        </p:spPr>
        <p:txBody>
          <a:bodyPr wrap="square" lIns="889" tIns="889" rIns="889" bIns="889" anchor="ctr">
            <a:normAutofit/>
          </a:bodyPr>
          <a:lstStyle/>
          <a:p>
            <a:pPr marL="0" indent="0" algn="l">
              <a:buNone/>
            </a:pPr>
            <a:r>
              <a:rPr sz="135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返回值</a:t>
            </a:r>
            <a:endParaRPr sz="135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" name="Text 16"/>
          <p:cNvSpPr>
            <a:spLocks noGrp="1"/>
          </p:cNvSpPr>
          <p:nvPr/>
        </p:nvSpPr>
        <p:spPr>
          <a:xfrm>
            <a:off x="4114800" y="4654296"/>
            <a:ext cx="6035040" cy="530352"/>
          </a:xfrm>
          <a:prstGeom prst="rect">
            <a:avLst/>
          </a:prstGeom>
          <a:solidFill>
            <a:srgbClr val="FFFFFF"/>
          </a:solidFill>
          <a:ln w="8890">
            <a:solidFill>
              <a:srgbClr val="111111"/>
            </a:solidFill>
          </a:ln>
        </p:spPr>
        <p:txBody>
          <a:bodyPr wrap="square" lIns="889" tIns="889" rIns="889" bIns="889" anchor="ctr">
            <a:normAutofit/>
          </a:bodyPr>
          <a:lstStyle/>
          <a:p>
            <a:pPr marL="0" indent="0" algn="ctr">
              <a:buNone/>
            </a:pPr>
            <a:r>
              <a:rPr sz="135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return 0，向上报告成功</a:t>
            </a:r>
            <a:endParaRPr sz="135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Text 17"/>
          <p:cNvSpPr>
            <a:spLocks noGrp="1"/>
          </p:cNvSpPr>
          <p:nvPr/>
        </p:nvSpPr>
        <p:spPr>
          <a:xfrm>
            <a:off x="1417320" y="5394960"/>
            <a:ext cx="8961120" cy="530352"/>
          </a:xfrm>
          <a:prstGeom prst="rect">
            <a:avLst/>
          </a:prstGeom>
          <a:solidFill>
            <a:srgbClr val="F2F2F2"/>
          </a:solidFill>
          <a:ln w="12700">
            <a:solidFill>
              <a:srgbClr val="111111"/>
            </a:solidFill>
          </a:ln>
        </p:spPr>
        <p:txBody>
          <a:bodyPr wrap="square" lIns="889" tIns="889" rIns="889" bIns="889" anchor="ctr">
            <a:normAutofit/>
          </a:bodyPr>
          <a:lstStyle/>
          <a:p>
            <a:pPr marL="0" indent="0" algn="ctr">
              <a:buNone/>
            </a:pPr>
            <a:r>
              <a:rPr sz="1600" b="1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矛盾：同一批物理块同时“被 inode 引用”又“可被重新分配”。</a:t>
            </a:r>
            <a:endParaRPr sz="1600" b="1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/>
        </p:nvSpPr>
        <p:spPr>
          <a:xfrm>
            <a:off x="502920" y="310896"/>
            <a:ext cx="1005840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2400" b="1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类型二：元数据修改后回滚不完整</a:t>
            </a:r>
            <a:endParaRPr sz="2400" b="1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Shape 1"/>
          <p:cNvSpPr>
            <a:spLocks noGrp="1"/>
          </p:cNvSpPr>
          <p:nvPr/>
        </p:nvSpPr>
        <p:spPr>
          <a:xfrm>
            <a:off x="502920" y="868680"/>
            <a:ext cx="11155680" cy="0"/>
          </a:xfrm>
          <a:prstGeom prst="line">
            <a:avLst/>
          </a:prstGeom>
          <a:noFill/>
          <a:ln w="15240">
            <a:solidFill>
              <a:srgbClr val="111111"/>
            </a:solidFill>
            <a:prstDash val="solid"/>
          </a:ln>
        </p:spPr>
      </p:sp>
      <p:sp>
        <p:nvSpPr>
          <p:cNvPr id="4" name="Text 2"/>
          <p:cNvSpPr>
            <a:spLocks noGrp="1"/>
          </p:cNvSpPr>
          <p:nvPr/>
        </p:nvSpPr>
        <p:spPr>
          <a:xfrm>
            <a:off x="11155680" y="329184"/>
            <a:ext cx="50292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00">
                <a:solidFill>
                  <a:srgbClr val="555555"/>
                </a:solidFill>
              </a:rPr>
              <a:t>06</a:t>
            </a:r>
            <a:endParaRPr sz="1000">
              <a:solidFill>
                <a:srgbClr val="555555"/>
              </a:solidFill>
            </a:endParaRPr>
          </a:p>
        </p:txBody>
      </p:sp>
      <p:sp>
        <p:nvSpPr>
          <p:cNvPr id="5" name="Text 3"/>
          <p:cNvSpPr>
            <a:spLocks noGrp="1"/>
          </p:cNvSpPr>
          <p:nvPr/>
        </p:nvSpPr>
        <p:spPr>
          <a:xfrm>
            <a:off x="502920" y="6446520"/>
            <a:ext cx="8686800" cy="2011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">
                <a:solidFill>
                  <a:srgbClr val="777777"/>
                </a:solidFill>
              </a:rPr>
              <a:t>文件系统元数据错误路径 · 错误传播 / 回滚 / 状态同步</a:t>
            </a:r>
            <a:endParaRPr sz="800">
              <a:solidFill>
                <a:srgbClr val="777777"/>
              </a:solidFill>
            </a:endParaRPr>
          </a:p>
        </p:txBody>
      </p:sp>
      <p:sp>
        <p:nvSpPr>
          <p:cNvPr id="6" name="Text 4"/>
          <p:cNvSpPr>
            <a:spLocks noGrp="1"/>
          </p:cNvSpPr>
          <p:nvPr/>
        </p:nvSpPr>
        <p:spPr>
          <a:xfrm>
            <a:off x="731520" y="1143000"/>
            <a:ext cx="10058400" cy="365760"/>
          </a:xfrm>
          <a:prstGeom prst="rect">
            <a:avLst/>
          </a:prstGeom>
          <a:noFill/>
        </p:spPr>
        <p:txBody>
          <a:bodyPr wrap="square" lIns="1016" tIns="1016" rIns="1016" bIns="1016" anchor="ctr">
            <a:normAutofit/>
          </a:bodyPr>
          <a:lstStyle/>
          <a:p>
            <a:pPr marL="0" indent="0" algn="l">
              <a:lnSpc>
                <a:spcPct val="95000"/>
              </a:lnSpc>
              <a:buNone/>
            </a:pPr>
            <a:r>
              <a:rPr sz="170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多阶段状态转换没有被当作“失败原子”的事务来实现。</a:t>
            </a:r>
            <a:endParaRPr sz="170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Text 5"/>
          <p:cNvSpPr>
            <a:spLocks noGrp="1"/>
          </p:cNvSpPr>
          <p:nvPr/>
        </p:nvSpPr>
        <p:spPr>
          <a:xfrm>
            <a:off x="868680" y="1828800"/>
            <a:ext cx="196596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</p:spPr>
        <p:txBody>
          <a:bodyPr wrap="square" lIns="889" tIns="889" rIns="889" bIns="889" anchor="ctr">
            <a:normAutofit/>
          </a:bodyPr>
          <a:lstStyle/>
          <a:p>
            <a:pPr marL="0" indent="0" algn="ctr">
              <a:buNone/>
            </a:pPr>
            <a:r>
              <a:rPr sz="1500" b="1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状态 1</a:t>
            </a:r>
            <a:endParaRPr sz="1500" b="1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0" indent="0" algn="ctr">
              <a:buNone/>
            </a:pPr>
            <a:r>
              <a:rPr sz="1500" b="1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已修改</a:t>
            </a:r>
            <a:endParaRPr sz="1500" b="1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Text 6"/>
          <p:cNvSpPr>
            <a:spLocks noGrp="1"/>
          </p:cNvSpPr>
          <p:nvPr/>
        </p:nvSpPr>
        <p:spPr>
          <a:xfrm>
            <a:off x="3611880" y="1828800"/>
            <a:ext cx="196596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</p:spPr>
        <p:txBody>
          <a:bodyPr wrap="square" lIns="889" tIns="889" rIns="889" bIns="889" anchor="ctr">
            <a:normAutofit/>
          </a:bodyPr>
          <a:lstStyle/>
          <a:p>
            <a:pPr marL="0" indent="0" algn="ctr">
              <a:buNone/>
            </a:pPr>
            <a:r>
              <a:rPr sz="1500" b="1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状态 2</a:t>
            </a:r>
            <a:endParaRPr sz="1500" b="1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0" indent="0" algn="ctr">
              <a:buNone/>
            </a:pPr>
            <a:r>
              <a:rPr sz="1500" b="1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已修改</a:t>
            </a:r>
            <a:endParaRPr sz="1500" b="1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Text 7"/>
          <p:cNvSpPr>
            <a:spLocks noGrp="1"/>
          </p:cNvSpPr>
          <p:nvPr/>
        </p:nvSpPr>
        <p:spPr>
          <a:xfrm>
            <a:off x="6355080" y="1828800"/>
            <a:ext cx="1965960" cy="685800"/>
          </a:xfrm>
          <a:prstGeom prst="rect">
            <a:avLst/>
          </a:prstGeom>
          <a:solidFill>
            <a:srgbClr val="F2F2F2"/>
          </a:solidFill>
          <a:ln w="12700">
            <a:solidFill>
              <a:srgbClr val="111111"/>
            </a:solidFill>
          </a:ln>
        </p:spPr>
        <p:txBody>
          <a:bodyPr wrap="square" lIns="889" tIns="889" rIns="889" bIns="889" anchor="ctr">
            <a:normAutofit/>
          </a:bodyPr>
          <a:lstStyle/>
          <a:p>
            <a:pPr marL="0" indent="0" algn="ctr">
              <a:buNone/>
            </a:pPr>
            <a:r>
              <a:rPr sz="1500" b="1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状态 3</a:t>
            </a:r>
            <a:endParaRPr sz="1500" b="1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0" indent="0" algn="ctr">
              <a:buNone/>
            </a:pPr>
            <a:r>
              <a:rPr sz="1500" b="1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失败</a:t>
            </a:r>
            <a:endParaRPr sz="1500" b="1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Shape 8"/>
          <p:cNvSpPr>
            <a:spLocks noGrp="1"/>
          </p:cNvSpPr>
          <p:nvPr/>
        </p:nvSpPr>
        <p:spPr>
          <a:xfrm>
            <a:off x="2880360" y="2176272"/>
            <a:ext cx="640080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  <a:headEnd type="none"/>
            <a:tailEnd type="triangle"/>
          </a:ln>
        </p:spPr>
      </p:sp>
      <p:sp>
        <p:nvSpPr>
          <p:cNvPr id="11" name="Shape 9"/>
          <p:cNvSpPr>
            <a:spLocks noGrp="1"/>
          </p:cNvSpPr>
          <p:nvPr/>
        </p:nvSpPr>
        <p:spPr>
          <a:xfrm>
            <a:off x="5623560" y="2176272"/>
            <a:ext cx="640080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  <a:headEnd type="none"/>
            <a:tailEnd type="triangle"/>
          </a:ln>
        </p:spPr>
      </p:sp>
      <p:sp>
        <p:nvSpPr>
          <p:cNvPr id="12" name="Text 10"/>
          <p:cNvSpPr>
            <a:spLocks noGrp="1"/>
          </p:cNvSpPr>
          <p:nvPr/>
        </p:nvSpPr>
        <p:spPr>
          <a:xfrm>
            <a:off x="2103120" y="3246120"/>
            <a:ext cx="324612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</p:spPr>
        <p:txBody>
          <a:bodyPr wrap="square" lIns="889" tIns="889" rIns="889" bIns="889" anchor="ctr">
            <a:normAutofit/>
          </a:bodyPr>
          <a:lstStyle/>
          <a:p>
            <a:pPr marL="0" indent="0" algn="ctr">
              <a:buNone/>
            </a:pPr>
            <a:r>
              <a:rPr sz="160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错误路径只清理一部分对象</a:t>
            </a:r>
            <a:endParaRPr sz="160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Shape 11"/>
          <p:cNvSpPr>
            <a:spLocks noGrp="1"/>
          </p:cNvSpPr>
          <p:nvPr/>
        </p:nvSpPr>
        <p:spPr>
          <a:xfrm>
            <a:off x="5440680" y="3547872"/>
            <a:ext cx="731520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  <a:headEnd type="none"/>
            <a:tailEnd type="triangle"/>
          </a:ln>
        </p:spPr>
      </p:sp>
      <p:sp>
        <p:nvSpPr>
          <p:cNvPr id="14" name="Text 12"/>
          <p:cNvSpPr>
            <a:spLocks noGrp="1"/>
          </p:cNvSpPr>
          <p:nvPr/>
        </p:nvSpPr>
        <p:spPr>
          <a:xfrm>
            <a:off x="6309360" y="3090672"/>
            <a:ext cx="3886200" cy="914400"/>
          </a:xfrm>
          <a:prstGeom prst="rect">
            <a:avLst/>
          </a:prstGeom>
          <a:solidFill>
            <a:srgbClr val="F2F2F2"/>
          </a:solidFill>
          <a:ln w="12700">
            <a:solidFill>
              <a:srgbClr val="111111"/>
            </a:solidFill>
          </a:ln>
        </p:spPr>
        <p:txBody>
          <a:bodyPr wrap="square" lIns="889" tIns="889" rIns="889" bIns="889" anchor="ctr">
            <a:normAutofit/>
          </a:bodyPr>
          <a:lstStyle/>
          <a:p>
            <a:pPr marL="0" indent="0" algn="ctr">
              <a:buNone/>
            </a:pPr>
            <a:r>
              <a:rPr sz="1550" b="1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指针 / 链表 / 引用 / 计数</a:t>
            </a:r>
            <a:endParaRPr sz="1550" b="1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0" indent="0" algn="ctr">
              <a:buNone/>
            </a:pPr>
            <a:r>
              <a:rPr sz="1550" b="1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仍停留在中间状态</a:t>
            </a:r>
            <a:endParaRPr sz="1550" b="1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5" name="Text 13"/>
          <p:cNvSpPr>
            <a:spLocks noGrp="1"/>
          </p:cNvSpPr>
          <p:nvPr/>
        </p:nvSpPr>
        <p:spPr>
          <a:xfrm>
            <a:off x="1005840" y="4892040"/>
            <a:ext cx="9966960" cy="594360"/>
          </a:xfrm>
          <a:prstGeom prst="rect">
            <a:avLst/>
          </a:prstGeom>
          <a:noFill/>
        </p:spPr>
        <p:txBody>
          <a:bodyPr wrap="square" lIns="1016" tIns="1016" rIns="1016" bIns="1016" anchor="ctr">
            <a:normAutofit/>
          </a:bodyPr>
          <a:lstStyle/>
          <a:p>
            <a:pPr marL="0" indent="0" algn="ctr">
              <a:lnSpc>
                <a:spcPct val="95000"/>
              </a:lnSpc>
              <a:buNone/>
            </a:pPr>
            <a:r>
              <a:rPr sz="160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应有原则：失败路径必须按逆向顺序恢复所有已改变的不变量，或进入明确的中止、延迟清理机制。</a:t>
            </a:r>
            <a:endParaRPr sz="160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/>
        </p:nvSpPr>
        <p:spPr>
          <a:xfrm>
            <a:off x="502920" y="310896"/>
            <a:ext cx="1005840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2400" b="1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类型三：返回值 / 技术状态污染</a:t>
            </a:r>
            <a:endParaRPr sz="2400" b="1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Shape 1"/>
          <p:cNvSpPr>
            <a:spLocks noGrp="1"/>
          </p:cNvSpPr>
          <p:nvPr/>
        </p:nvSpPr>
        <p:spPr>
          <a:xfrm>
            <a:off x="502920" y="868680"/>
            <a:ext cx="11155680" cy="0"/>
          </a:xfrm>
          <a:prstGeom prst="line">
            <a:avLst/>
          </a:prstGeom>
          <a:noFill/>
          <a:ln w="15240">
            <a:solidFill>
              <a:srgbClr val="111111"/>
            </a:solidFill>
            <a:prstDash val="solid"/>
          </a:ln>
        </p:spPr>
      </p:sp>
      <p:sp>
        <p:nvSpPr>
          <p:cNvPr id="4" name="Text 2"/>
          <p:cNvSpPr>
            <a:spLocks noGrp="1"/>
          </p:cNvSpPr>
          <p:nvPr/>
        </p:nvSpPr>
        <p:spPr>
          <a:xfrm>
            <a:off x="11155680" y="329184"/>
            <a:ext cx="50292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00">
                <a:solidFill>
                  <a:srgbClr val="555555"/>
                </a:solidFill>
              </a:rPr>
              <a:t>08</a:t>
            </a:r>
            <a:endParaRPr sz="1000">
              <a:solidFill>
                <a:srgbClr val="555555"/>
              </a:solidFill>
            </a:endParaRPr>
          </a:p>
        </p:txBody>
      </p:sp>
      <p:sp>
        <p:nvSpPr>
          <p:cNvPr id="5" name="Text 3"/>
          <p:cNvSpPr>
            <a:spLocks noGrp="1"/>
          </p:cNvSpPr>
          <p:nvPr/>
        </p:nvSpPr>
        <p:spPr>
          <a:xfrm>
            <a:off x="502920" y="6446520"/>
            <a:ext cx="8686800" cy="2011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">
                <a:solidFill>
                  <a:srgbClr val="777777"/>
                </a:solidFill>
              </a:rPr>
              <a:t>文件系统元数据错误路径 · 错误传播 / 回滚 / 状态同步</a:t>
            </a:r>
            <a:endParaRPr sz="800">
              <a:solidFill>
                <a:srgbClr val="777777"/>
              </a:solidFill>
            </a:endParaRPr>
          </a:p>
        </p:txBody>
      </p:sp>
      <p:sp>
        <p:nvSpPr>
          <p:cNvPr id="6" name="Text 4"/>
          <p:cNvSpPr>
            <a:spLocks noGrp="1"/>
          </p:cNvSpPr>
          <p:nvPr/>
        </p:nvSpPr>
        <p:spPr>
          <a:xfrm>
            <a:off x="731520" y="1078992"/>
            <a:ext cx="10607040" cy="411480"/>
          </a:xfrm>
          <a:prstGeom prst="rect">
            <a:avLst/>
          </a:prstGeom>
          <a:noFill/>
        </p:spPr>
        <p:txBody>
          <a:bodyPr wrap="square" lIns="1016" tIns="1016" rIns="1016" bIns="1016" anchor="ctr">
            <a:normAutofit/>
          </a:bodyPr>
          <a:lstStyle/>
          <a:p>
            <a:pPr marL="0" indent="0" algn="l">
              <a:lnSpc>
                <a:spcPct val="95000"/>
              </a:lnSpc>
              <a:buNone/>
            </a:pPr>
            <a:r>
              <a:rPr sz="160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一个变量在前一阶段表示错误，进入下一阶段后却没有重新初始化；后续代码仍按旧语义解释它。</a:t>
            </a:r>
            <a:endParaRPr sz="160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Text 5"/>
          <p:cNvSpPr>
            <a:spLocks noGrp="1"/>
          </p:cNvSpPr>
          <p:nvPr/>
        </p:nvSpPr>
        <p:spPr>
          <a:xfrm>
            <a:off x="868680" y="1828800"/>
            <a:ext cx="23774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</p:spPr>
        <p:txBody>
          <a:bodyPr wrap="square" lIns="889" tIns="889" rIns="889" bIns="889" anchor="ctr">
            <a:normAutofit/>
          </a:bodyPr>
          <a:lstStyle/>
          <a:p>
            <a:pPr marL="0" indent="0" algn="ctr">
              <a:buNone/>
            </a:pPr>
            <a:r>
              <a:rPr sz="140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第一次目标：</a:t>
            </a:r>
            <a:endParaRPr sz="140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0" indent="0" algn="ctr">
              <a:buNone/>
            </a:pPr>
            <a:r>
              <a:rPr sz="140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extra_isize 16 → 64</a:t>
            </a:r>
            <a:endParaRPr sz="140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0" indent="0" algn="ctr">
              <a:buNone/>
            </a:pPr>
            <a:r>
              <a:rPr sz="140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需要 48 字节</a:t>
            </a:r>
            <a:endParaRPr sz="140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Shape 6"/>
          <p:cNvSpPr>
            <a:spLocks noGrp="1"/>
          </p:cNvSpPr>
          <p:nvPr/>
        </p:nvSpPr>
        <p:spPr>
          <a:xfrm>
            <a:off x="3337560" y="2267712"/>
            <a:ext cx="640080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  <a:headEnd type="none"/>
            <a:tailEnd type="triangle"/>
          </a:ln>
        </p:spPr>
      </p:sp>
      <p:sp>
        <p:nvSpPr>
          <p:cNvPr id="9" name="Text 7"/>
          <p:cNvSpPr>
            <a:spLocks noGrp="1"/>
          </p:cNvSpPr>
          <p:nvPr/>
        </p:nvSpPr>
        <p:spPr>
          <a:xfrm>
            <a:off x="4069080" y="1737360"/>
            <a:ext cx="2560320" cy="1051560"/>
          </a:xfrm>
          <a:prstGeom prst="rect">
            <a:avLst/>
          </a:prstGeom>
          <a:solidFill>
            <a:srgbClr val="F2F2F2"/>
          </a:solidFill>
          <a:ln w="12700">
            <a:solidFill>
              <a:srgbClr val="111111"/>
            </a:solidFill>
          </a:ln>
        </p:spPr>
        <p:txBody>
          <a:bodyPr wrap="square" lIns="889" tIns="889" rIns="889" bIns="889" anchor="ctr">
            <a:normAutofit/>
          </a:bodyPr>
          <a:lstStyle/>
          <a:p>
            <a:pPr marL="0" indent="0" algn="ctr">
              <a:buNone/>
            </a:pPr>
            <a:r>
              <a:rPr sz="135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内部空闲只有 20 字节</a:t>
            </a:r>
            <a:endParaRPr sz="135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0" indent="0" algn="ctr">
              <a:buNone/>
            </a:pPr>
            <a:r>
              <a:rPr sz="135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移动 xattr 失败</a:t>
            </a:r>
            <a:endParaRPr sz="135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0" indent="0" algn="ctr">
              <a:buNone/>
            </a:pPr>
            <a:r>
              <a:rPr sz="135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error = -ENOSPC</a:t>
            </a:r>
            <a:endParaRPr sz="135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Shape 8"/>
          <p:cNvSpPr>
            <a:spLocks noGrp="1"/>
          </p:cNvSpPr>
          <p:nvPr/>
        </p:nvSpPr>
        <p:spPr>
          <a:xfrm>
            <a:off x="6720840" y="2267712"/>
            <a:ext cx="640080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  <a:headEnd type="none"/>
            <a:tailEnd type="triangle"/>
          </a:ln>
        </p:spPr>
      </p:sp>
      <p:sp>
        <p:nvSpPr>
          <p:cNvPr id="11" name="Text 9"/>
          <p:cNvSpPr>
            <a:spLocks noGrp="1"/>
          </p:cNvSpPr>
          <p:nvPr/>
        </p:nvSpPr>
        <p:spPr>
          <a:xfrm>
            <a:off x="7452360" y="1828800"/>
            <a:ext cx="26060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</p:spPr>
        <p:txBody>
          <a:bodyPr wrap="square" lIns="889" tIns="889" rIns="889" bIns="889" anchor="ctr">
            <a:normAutofit/>
          </a:bodyPr>
          <a:lstStyle/>
          <a:p>
            <a:pPr marL="0" indent="0" algn="ctr">
              <a:buNone/>
            </a:pPr>
            <a:r>
              <a:rPr sz="140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fallback：</a:t>
            </a:r>
            <a:endParaRPr sz="140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0" indent="0" algn="ctr">
              <a:buNone/>
            </a:pPr>
            <a:r>
              <a:rPr sz="140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extra_isize 16 → 32</a:t>
            </a:r>
            <a:endParaRPr sz="140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0" indent="0" algn="ctr">
              <a:buNone/>
            </a:pPr>
            <a:r>
              <a:rPr sz="140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需要 16 字节，可成功</a:t>
            </a:r>
            <a:endParaRPr sz="140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Shape 10"/>
          <p:cNvSpPr>
            <a:spLocks noGrp="1"/>
          </p:cNvSpPr>
          <p:nvPr/>
        </p:nvSpPr>
        <p:spPr>
          <a:xfrm>
            <a:off x="8759952" y="2788920"/>
            <a:ext cx="0" cy="73152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  <a:headEnd type="none"/>
            <a:tailEnd type="triangle"/>
          </a:ln>
        </p:spPr>
      </p:sp>
      <p:sp>
        <p:nvSpPr>
          <p:cNvPr id="13" name="Text 11"/>
          <p:cNvSpPr>
            <a:spLocks noGrp="1"/>
          </p:cNvSpPr>
          <p:nvPr/>
        </p:nvSpPr>
        <p:spPr>
          <a:xfrm>
            <a:off x="6995160" y="3611880"/>
            <a:ext cx="3429000" cy="914400"/>
          </a:xfrm>
          <a:prstGeom prst="rect">
            <a:avLst/>
          </a:prstGeom>
          <a:solidFill>
            <a:srgbClr val="F2F2F2"/>
          </a:solidFill>
          <a:ln w="12700">
            <a:solidFill>
              <a:srgbClr val="111111"/>
            </a:solidFill>
          </a:ln>
        </p:spPr>
        <p:txBody>
          <a:bodyPr wrap="square" lIns="889" tIns="889" rIns="889" bIns="889" anchor="ctr">
            <a:normAutofit/>
          </a:bodyPr>
          <a:lstStyle/>
          <a:p>
            <a:pPr marL="0" indent="0" algn="ctr">
              <a:buNone/>
            </a:pPr>
            <a:r>
              <a:rPr sz="1500" b="1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实际元数据已更新为 32</a:t>
            </a:r>
            <a:endParaRPr sz="1500" b="1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0" indent="0" algn="ctr">
              <a:buNone/>
            </a:pPr>
            <a:r>
              <a:rPr sz="1500" b="1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但 error 仍残留 -ENOSPC</a:t>
            </a:r>
            <a:endParaRPr sz="1500" b="1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0" indent="0" algn="ctr">
              <a:buNone/>
            </a:pPr>
            <a:r>
              <a:rPr sz="1500" b="1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调用者收到失败</a:t>
            </a:r>
            <a:endParaRPr sz="1500" b="1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Text 12"/>
          <p:cNvSpPr>
            <a:spLocks noGrp="1"/>
          </p:cNvSpPr>
          <p:nvPr/>
        </p:nvSpPr>
        <p:spPr>
          <a:xfrm>
            <a:off x="1097280" y="5166360"/>
            <a:ext cx="9692640" cy="457200"/>
          </a:xfrm>
          <a:prstGeom prst="rect">
            <a:avLst/>
          </a:prstGeom>
          <a:noFill/>
        </p:spPr>
        <p:txBody>
          <a:bodyPr wrap="square" lIns="1016" tIns="1016" rIns="1016" bIns="1016" anchor="ctr">
            <a:normAutofit/>
          </a:bodyPr>
          <a:lstStyle/>
          <a:p>
            <a:pPr marL="0" indent="0" algn="ctr">
              <a:lnSpc>
                <a:spcPct val="95000"/>
              </a:lnSpc>
              <a:buNone/>
            </a:pPr>
            <a:r>
              <a:rPr sz="1700" b="1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结论：返回状态、实际元数据修改状态、空间计数必须同步更新。</a:t>
            </a:r>
            <a:endParaRPr sz="1700" b="1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/>
        </p:nvSpPr>
        <p:spPr>
          <a:xfrm>
            <a:off x="502920" y="310896"/>
            <a:ext cx="1005840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2400" b="1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三条总结规则</a:t>
            </a:r>
            <a:endParaRPr sz="2400" b="1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Shape 1"/>
          <p:cNvSpPr>
            <a:spLocks noGrp="1"/>
          </p:cNvSpPr>
          <p:nvPr/>
        </p:nvSpPr>
        <p:spPr>
          <a:xfrm>
            <a:off x="502920" y="868680"/>
            <a:ext cx="11155680" cy="0"/>
          </a:xfrm>
          <a:prstGeom prst="line">
            <a:avLst/>
          </a:prstGeom>
          <a:noFill/>
          <a:ln w="15240">
            <a:solidFill>
              <a:srgbClr val="111111"/>
            </a:solidFill>
            <a:prstDash val="solid"/>
          </a:ln>
        </p:spPr>
      </p:sp>
      <p:sp>
        <p:nvSpPr>
          <p:cNvPr id="4" name="Text 2"/>
          <p:cNvSpPr>
            <a:spLocks noGrp="1"/>
          </p:cNvSpPr>
          <p:nvPr/>
        </p:nvSpPr>
        <p:spPr>
          <a:xfrm>
            <a:off x="11155680" y="329184"/>
            <a:ext cx="50292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00">
                <a:solidFill>
                  <a:srgbClr val="555555"/>
                </a:solidFill>
              </a:rPr>
              <a:t>09</a:t>
            </a:r>
            <a:endParaRPr sz="1000">
              <a:solidFill>
                <a:srgbClr val="555555"/>
              </a:solidFill>
            </a:endParaRPr>
          </a:p>
        </p:txBody>
      </p:sp>
      <p:sp>
        <p:nvSpPr>
          <p:cNvPr id="5" name="Text 3"/>
          <p:cNvSpPr>
            <a:spLocks noGrp="1"/>
          </p:cNvSpPr>
          <p:nvPr/>
        </p:nvSpPr>
        <p:spPr>
          <a:xfrm>
            <a:off x="502920" y="6446520"/>
            <a:ext cx="8686800" cy="2011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">
                <a:solidFill>
                  <a:srgbClr val="777777"/>
                </a:solidFill>
              </a:rPr>
              <a:t>文件系统元数据错误路径 · 错误传播 / 回滚 / 状态同步</a:t>
            </a:r>
            <a:endParaRPr sz="800">
              <a:solidFill>
                <a:srgbClr val="777777"/>
              </a:solidFill>
            </a:endParaRPr>
          </a:p>
        </p:txBody>
      </p:sp>
      <p:sp>
        <p:nvSpPr>
          <p:cNvPr id="6" name="Text 4"/>
          <p:cNvSpPr>
            <a:spLocks noGrp="1"/>
          </p:cNvSpPr>
          <p:nvPr/>
        </p:nvSpPr>
        <p:spPr>
          <a:xfrm>
            <a:off x="822960" y="1325880"/>
            <a:ext cx="3246120" cy="594360"/>
          </a:xfrm>
          <a:prstGeom prst="rect">
            <a:avLst/>
          </a:prstGeom>
          <a:solidFill>
            <a:srgbClr val="F2F2F2"/>
          </a:solidFill>
          <a:ln w="12700">
            <a:solidFill>
              <a:srgbClr val="111111"/>
            </a:solidFill>
          </a:ln>
        </p:spPr>
        <p:txBody>
          <a:bodyPr wrap="square" lIns="889" tIns="889" rIns="889" bIns="889" anchor="ctr">
            <a:normAutofit/>
          </a:bodyPr>
          <a:lstStyle/>
          <a:p>
            <a:pPr marL="0" indent="0" algn="ctr">
              <a:buNone/>
            </a:pPr>
            <a:r>
              <a:rPr sz="1600" b="1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规则 1：错误必须传播</a:t>
            </a:r>
            <a:endParaRPr sz="1600" b="1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Text 5"/>
          <p:cNvSpPr>
            <a:spLocks noGrp="1"/>
          </p:cNvSpPr>
          <p:nvPr/>
        </p:nvSpPr>
        <p:spPr>
          <a:xfrm>
            <a:off x="4343400" y="1353312"/>
            <a:ext cx="6629400" cy="502920"/>
          </a:xfrm>
          <a:prstGeom prst="rect">
            <a:avLst/>
          </a:prstGeom>
          <a:noFill/>
        </p:spPr>
        <p:txBody>
          <a:bodyPr wrap="square" lIns="1016" tIns="1016" rIns="1016" bIns="1016" anchor="ctr">
            <a:normAutofit/>
          </a:bodyPr>
          <a:lstStyle/>
          <a:p>
            <a:pPr marL="0" indent="0" algn="l">
              <a:lnSpc>
                <a:spcPct val="95000"/>
              </a:lnSpc>
              <a:buNone/>
            </a:pPr>
            <a:r>
              <a:rPr sz="155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未被恢复、重试、替代或回滚的必要元数据步骤失败，不得到达成功出口。</a:t>
            </a:r>
            <a:endParaRPr sz="155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Shape 6"/>
          <p:cNvSpPr>
            <a:spLocks noGrp="1"/>
          </p:cNvSpPr>
          <p:nvPr/>
        </p:nvSpPr>
        <p:spPr>
          <a:xfrm>
            <a:off x="822960" y="2148840"/>
            <a:ext cx="10058400" cy="0"/>
          </a:xfrm>
          <a:prstGeom prst="line">
            <a:avLst/>
          </a:prstGeom>
          <a:noFill/>
          <a:ln w="10160">
            <a:solidFill>
              <a:srgbClr val="CFCFCF"/>
            </a:solidFill>
            <a:prstDash val="solid"/>
          </a:ln>
        </p:spPr>
      </p:sp>
      <p:sp>
        <p:nvSpPr>
          <p:cNvPr id="9" name="Text 7"/>
          <p:cNvSpPr>
            <a:spLocks noGrp="1"/>
          </p:cNvSpPr>
          <p:nvPr/>
        </p:nvSpPr>
        <p:spPr>
          <a:xfrm>
            <a:off x="822960" y="2743200"/>
            <a:ext cx="3246120" cy="594360"/>
          </a:xfrm>
          <a:prstGeom prst="rect">
            <a:avLst/>
          </a:prstGeom>
          <a:solidFill>
            <a:srgbClr val="F2F2F2"/>
          </a:solidFill>
          <a:ln w="12700">
            <a:solidFill>
              <a:srgbClr val="111111"/>
            </a:solidFill>
          </a:ln>
        </p:spPr>
        <p:txBody>
          <a:bodyPr wrap="square" lIns="889" tIns="889" rIns="889" bIns="889" anchor="ctr">
            <a:normAutofit/>
          </a:bodyPr>
          <a:lstStyle/>
          <a:p>
            <a:pPr marL="0" indent="0" algn="ctr">
              <a:buNone/>
            </a:pPr>
            <a:r>
              <a:rPr sz="1600" b="1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规则 2：失败后恢复所有状态</a:t>
            </a:r>
            <a:endParaRPr sz="1600" b="1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Text 8"/>
          <p:cNvSpPr>
            <a:spLocks noGrp="1"/>
          </p:cNvSpPr>
          <p:nvPr/>
        </p:nvSpPr>
        <p:spPr>
          <a:xfrm>
            <a:off x="4343400" y="2770632"/>
            <a:ext cx="6629400" cy="502920"/>
          </a:xfrm>
          <a:prstGeom prst="rect">
            <a:avLst/>
          </a:prstGeom>
          <a:noFill/>
        </p:spPr>
        <p:txBody>
          <a:bodyPr wrap="square" lIns="1016" tIns="1016" rIns="1016" bIns="1016" anchor="ctr">
            <a:normAutofit/>
          </a:bodyPr>
          <a:lstStyle/>
          <a:p>
            <a:pPr marL="0" indent="0" algn="l">
              <a:lnSpc>
                <a:spcPct val="95000"/>
              </a:lnSpc>
              <a:buNone/>
            </a:pPr>
            <a:r>
              <a:rPr sz="155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多阶段操作失败时，必须撤销已执行的状态转换，或纳入明确中止 / 恢复 / 延迟清理机制。</a:t>
            </a:r>
            <a:endParaRPr sz="155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Shape 9"/>
          <p:cNvSpPr>
            <a:spLocks noGrp="1"/>
          </p:cNvSpPr>
          <p:nvPr/>
        </p:nvSpPr>
        <p:spPr>
          <a:xfrm>
            <a:off x="822960" y="3566160"/>
            <a:ext cx="10058400" cy="0"/>
          </a:xfrm>
          <a:prstGeom prst="line">
            <a:avLst/>
          </a:prstGeom>
          <a:noFill/>
          <a:ln w="10160">
            <a:solidFill>
              <a:srgbClr val="CFCFCF"/>
            </a:solidFill>
            <a:prstDash val="solid"/>
          </a:ln>
        </p:spPr>
      </p:sp>
      <p:sp>
        <p:nvSpPr>
          <p:cNvPr id="12" name="Text 10"/>
          <p:cNvSpPr>
            <a:spLocks noGrp="1"/>
          </p:cNvSpPr>
          <p:nvPr/>
        </p:nvSpPr>
        <p:spPr>
          <a:xfrm>
            <a:off x="822960" y="4160520"/>
            <a:ext cx="3246120" cy="594360"/>
          </a:xfrm>
          <a:prstGeom prst="rect">
            <a:avLst/>
          </a:prstGeom>
          <a:solidFill>
            <a:srgbClr val="F2F2F2"/>
          </a:solidFill>
          <a:ln w="12700">
            <a:solidFill>
              <a:srgbClr val="111111"/>
            </a:solidFill>
          </a:ln>
        </p:spPr>
        <p:txBody>
          <a:bodyPr wrap="square" lIns="889" tIns="889" rIns="889" bIns="889" anchor="ctr">
            <a:normAutofit/>
          </a:bodyPr>
          <a:lstStyle/>
          <a:p>
            <a:pPr marL="0" indent="0" algn="ctr">
              <a:buNone/>
            </a:pPr>
            <a:r>
              <a:rPr sz="1600" b="1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规则 3：返回值、元数据状态和空间计数同步</a:t>
            </a:r>
            <a:endParaRPr sz="1600" b="1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Text 11"/>
          <p:cNvSpPr>
            <a:spLocks noGrp="1"/>
          </p:cNvSpPr>
          <p:nvPr/>
        </p:nvSpPr>
        <p:spPr>
          <a:xfrm>
            <a:off x="4343400" y="4187952"/>
            <a:ext cx="6629400" cy="502920"/>
          </a:xfrm>
          <a:prstGeom prst="rect">
            <a:avLst/>
          </a:prstGeom>
          <a:noFill/>
        </p:spPr>
        <p:txBody>
          <a:bodyPr wrap="square" lIns="1016" tIns="1016" rIns="1016" bIns="1016" anchor="ctr">
            <a:normAutofit/>
          </a:bodyPr>
          <a:lstStyle/>
          <a:p>
            <a:pPr marL="0" indent="0" algn="l">
              <a:lnSpc>
                <a:spcPct val="95000"/>
              </a:lnSpc>
              <a:buNone/>
            </a:pPr>
            <a:r>
              <a:rPr sz="155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返回状态、状态机阶段、空间/引用记账必须形成协议允许的组合。</a:t>
            </a:r>
            <a:endParaRPr sz="155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Shape 12"/>
          <p:cNvSpPr>
            <a:spLocks noGrp="1"/>
          </p:cNvSpPr>
          <p:nvPr/>
        </p:nvSpPr>
        <p:spPr>
          <a:xfrm>
            <a:off x="822960" y="4983480"/>
            <a:ext cx="10058400" cy="0"/>
          </a:xfrm>
          <a:prstGeom prst="line">
            <a:avLst/>
          </a:prstGeom>
          <a:noFill/>
          <a:ln w="10160">
            <a:solidFill>
              <a:srgbClr val="CFCFCF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/>
        </p:nvSpPr>
        <p:spPr>
          <a:xfrm>
            <a:off x="502920" y="310896"/>
            <a:ext cx="1005840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2400" b="1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最终抽象：退出状态是否合法</a:t>
            </a:r>
            <a:endParaRPr sz="2400" b="1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Shape 1"/>
          <p:cNvSpPr>
            <a:spLocks noGrp="1"/>
          </p:cNvSpPr>
          <p:nvPr/>
        </p:nvSpPr>
        <p:spPr>
          <a:xfrm>
            <a:off x="502920" y="868680"/>
            <a:ext cx="11155680" cy="0"/>
          </a:xfrm>
          <a:prstGeom prst="line">
            <a:avLst/>
          </a:prstGeom>
          <a:noFill/>
          <a:ln w="15240">
            <a:solidFill>
              <a:srgbClr val="111111"/>
            </a:solidFill>
            <a:prstDash val="solid"/>
          </a:ln>
        </p:spPr>
      </p:sp>
      <p:sp>
        <p:nvSpPr>
          <p:cNvPr id="4" name="Text 2"/>
          <p:cNvSpPr>
            <a:spLocks noGrp="1"/>
          </p:cNvSpPr>
          <p:nvPr/>
        </p:nvSpPr>
        <p:spPr>
          <a:xfrm>
            <a:off x="11155680" y="329184"/>
            <a:ext cx="50292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00">
                <a:solidFill>
                  <a:srgbClr val="555555"/>
                </a:solidFill>
              </a:rPr>
              <a:t>10</a:t>
            </a:r>
            <a:endParaRPr sz="1000">
              <a:solidFill>
                <a:srgbClr val="555555"/>
              </a:solidFill>
            </a:endParaRPr>
          </a:p>
        </p:txBody>
      </p:sp>
      <p:sp>
        <p:nvSpPr>
          <p:cNvPr id="23" name="文本框 22"/>
          <p:cNvSpPr>
            <a:spLocks noGrp="1"/>
          </p:cNvSpPr>
          <p:nvPr/>
        </p:nvSpPr>
        <p:spPr>
          <a:xfrm>
            <a:off x="631508" y="1288733"/>
            <a:ext cx="5080000" cy="337185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sz="1600"/>
              <a:t>多阶段文件系统元数据操作的错误路径</a:t>
            </a:r>
            <a:endParaRPr sz="1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text"/>
          <p:cNvSpPr>
            <a:spLocks noGrp="1"/>
          </p:cNvSpPr>
          <p:nvPr/>
        </p:nvSpPr>
        <p:spPr>
          <a:xfrm>
            <a:off x="495274" y="1581246"/>
            <a:ext cx="8476808" cy="180965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buNone/>
              <a:defRPr sz="495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失败路径文件系统</a:t>
            </a:r>
            <a:endParaRPr b="1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buNone/>
              <a:defRPr sz="495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元数据残差分析</a:t>
            </a:r>
            <a:endParaRPr b="1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/>
        </p:nvSpPr>
        <p:spPr>
          <a:xfrm>
            <a:off x="457176" y="504977"/>
            <a:ext cx="11277013" cy="60956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buNone/>
              <a:defRPr sz="2775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</a:p>
        </p:txBody>
      </p:sp>
      <p:sp>
        <p:nvSpPr>
          <p:cNvPr id="5" name="code-MOTIVATING FAILURE SHAPE"/>
          <p:cNvSpPr>
            <a:spLocks noGrp="1"/>
          </p:cNvSpPr>
          <p:nvPr/>
        </p:nvSpPr>
        <p:spPr>
          <a:xfrm>
            <a:off x="457176" y="1466952"/>
            <a:ext cx="6286173" cy="4095537"/>
          </a:xfrm>
          <a:prstGeom prst="rect">
            <a:avLst/>
          </a:prstGeom>
          <a:solidFill>
            <a:srgbClr val="F7F7F7"/>
          </a:solidFill>
          <a:ln w="9525">
            <a:solidFill>
              <a:srgbClr val="BDBDBD"/>
            </a:solidFill>
            <a:prstDash val="solid"/>
          </a:ln>
        </p:spPr>
      </p:sp>
      <p:sp>
        <p:nvSpPr>
          <p:cNvPr id="6" name="bar-MOTIVATING FAILURE SHAPE"/>
          <p:cNvSpPr>
            <a:spLocks noGrp="1"/>
          </p:cNvSpPr>
          <p:nvPr/>
        </p:nvSpPr>
        <p:spPr>
          <a:xfrm>
            <a:off x="457176" y="1466952"/>
            <a:ext cx="66672" cy="4095537"/>
          </a:xfrm>
          <a:prstGeom prst="rect">
            <a:avLst/>
          </a:prstGeom>
          <a:solidFill>
            <a:srgbClr val="000000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7" name="text"/>
          <p:cNvSpPr>
            <a:spLocks noGrp="1"/>
          </p:cNvSpPr>
          <p:nvPr/>
        </p:nvSpPr>
        <p:spPr>
          <a:xfrm>
            <a:off x="647666" y="1600295"/>
            <a:ext cx="5924241" cy="22858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5714"/>
          </a:bodyPr>
          <a:lstStyle/>
          <a:p>
            <a:pPr algn="l">
              <a:buNone/>
              <a:defRPr sz="1050" b="1">
                <a:solidFill>
                  <a:srgbClr val="0000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b="1">
                <a:solidFill>
                  <a:srgbClr val="0000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MOTIVATING FAILURE SHAPE</a:t>
            </a:r>
            <a:endParaRPr b="1">
              <a:solidFill>
                <a:srgbClr val="000000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8" name="text"/>
          <p:cNvSpPr>
            <a:spLocks noGrp="1"/>
          </p:cNvSpPr>
          <p:nvPr/>
        </p:nvSpPr>
        <p:spPr>
          <a:xfrm>
            <a:off x="647666" y="1914604"/>
            <a:ext cx="5943290" cy="352406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buNone/>
              <a:defRPr sz="1425" b="0">
                <a:solidFill>
                  <a:srgbClr val="0000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b="0">
                <a:solidFill>
                  <a:srgbClr val="0000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publish(owner, metadata_state);     // 状态先对外可见</a:t>
            </a:r>
            <a:endParaRPr b="0">
              <a:solidFill>
                <a:srgbClr val="000000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buNone/>
              <a:defRPr sz="1425" b="0">
                <a:solidFill>
                  <a:srgbClr val="0000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b="0">
                <a:solidFill>
                  <a:srgbClr val="0000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update(counter_or_topology);</a:t>
            </a:r>
            <a:endParaRPr b="0">
              <a:solidFill>
                <a:srgbClr val="000000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/>
          <a:p>
            <a:pPr algn="l">
              <a:buNone/>
              <a:defRPr sz="1425" b="0">
                <a:solidFill>
                  <a:srgbClr val="0000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b="0">
                <a:solidFill>
                  <a:srgbClr val="0000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ret = later_operation();            // 后续步骤可能失败</a:t>
            </a:r>
            <a:endParaRPr b="0">
              <a:solidFill>
                <a:srgbClr val="000000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buNone/>
              <a:defRPr sz="1425" b="0">
                <a:solidFill>
                  <a:srgbClr val="0000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b="0">
                <a:solidFill>
                  <a:srgbClr val="0000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if (ret)</a:t>
            </a:r>
            <a:endParaRPr b="0">
              <a:solidFill>
                <a:srgbClr val="000000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buNone/>
              <a:defRPr sz="1425" b="0">
                <a:solidFill>
                  <a:srgbClr val="0000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b="0">
                <a:solidFill>
                  <a:srgbClr val="0000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  goto error;</a:t>
            </a:r>
            <a:endParaRPr b="0">
              <a:solidFill>
                <a:srgbClr val="000000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/>
          <a:p>
            <a:pPr algn="l">
              <a:buNone/>
              <a:defRPr sz="1425" b="0">
                <a:solidFill>
                  <a:srgbClr val="0000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b="0">
                <a:solidFill>
                  <a:srgbClr val="0000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error:</a:t>
            </a:r>
            <a:endParaRPr b="0">
              <a:solidFill>
                <a:srgbClr val="000000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buNone/>
              <a:defRPr sz="1425" b="0">
                <a:solidFill>
                  <a:srgbClr val="0000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b="0">
                <a:solidFill>
                  <a:srgbClr val="0000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  local_cleanup();                // 只清了一部分对象</a:t>
            </a:r>
            <a:endParaRPr b="0">
              <a:solidFill>
                <a:srgbClr val="000000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buNone/>
              <a:defRPr sz="1425" b="0">
                <a:solidFill>
                  <a:srgbClr val="0000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b="0">
                <a:solidFill>
                  <a:srgbClr val="0000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  return ret;</a:t>
            </a:r>
            <a:endParaRPr b="0">
              <a:solidFill>
                <a:srgbClr val="000000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9" name="panel-分析问题"/>
          <p:cNvSpPr>
            <a:spLocks noGrp="1"/>
          </p:cNvSpPr>
          <p:nvPr/>
        </p:nvSpPr>
        <p:spPr>
          <a:xfrm>
            <a:off x="7181476" y="1466952"/>
            <a:ext cx="4552713" cy="1200087"/>
          </a:xfrm>
          <a:prstGeom prst="rect">
            <a:avLst/>
          </a:prstGeom>
          <a:solidFill>
            <a:schemeClr val="bg2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0" name="text"/>
          <p:cNvSpPr>
            <a:spLocks noGrp="1"/>
          </p:cNvSpPr>
          <p:nvPr/>
        </p:nvSpPr>
        <p:spPr>
          <a:xfrm>
            <a:off x="7371966" y="1619344"/>
            <a:ext cx="4171733" cy="28573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buNone/>
              <a:defRPr sz="142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分析问题</a:t>
            </a:r>
            <a:endParaRPr sz="1400" b="1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text"/>
          <p:cNvSpPr>
            <a:spLocks noGrp="1"/>
          </p:cNvSpPr>
          <p:nvPr/>
        </p:nvSpPr>
        <p:spPr>
          <a:xfrm>
            <a:off x="7371966" y="1990800"/>
            <a:ext cx="4171733" cy="552421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buNone/>
              <a:defRPr sz="1390" b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00" b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错误路径上的 cleanup 是否真正覆盖了此前已经发布的元数据效果？</a:t>
            </a:r>
            <a:endParaRPr sz="1400" b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/>
        </p:nvSpPr>
        <p:spPr>
          <a:xfrm>
            <a:off x="457176" y="504977"/>
            <a:ext cx="11277013" cy="60956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buNone/>
              <a:defRPr sz="2775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核心抽象把状态变化表示为可匹配、可追踪的效果</a:t>
            </a:r>
            <a:endParaRPr b="1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title-rule"/>
          <p:cNvSpPr>
            <a:spLocks noGrp="1"/>
          </p:cNvSpPr>
          <p:nvPr/>
        </p:nvSpPr>
        <p:spPr>
          <a:xfrm>
            <a:off x="457176" y="1181217"/>
            <a:ext cx="11277013" cy="19049"/>
          </a:xfrm>
          <a:prstGeom prst="rect">
            <a:avLst/>
          </a:prstGeom>
          <a:solidFill>
            <a:srgbClr val="000000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5" name="panel-E_f · reaching effects"/>
          <p:cNvSpPr>
            <a:spLocks noGrp="1"/>
          </p:cNvSpPr>
          <p:nvPr/>
        </p:nvSpPr>
        <p:spPr>
          <a:xfrm>
            <a:off x="457176" y="1466952"/>
            <a:ext cx="2580015" cy="1261340"/>
          </a:xfrm>
          <a:prstGeom prst="rect">
            <a:avLst/>
          </a:prstGeom>
          <a:solidFill>
            <a:srgbClr val="F3F3F3"/>
          </a:solidFill>
          <a:ln w="9525">
            <a:solidFill>
              <a:srgbClr val="D8D8D8"/>
            </a:solidFill>
            <a:prstDash val="solid"/>
          </a:ln>
        </p:spPr>
      </p:sp>
      <p:sp>
        <p:nvSpPr>
          <p:cNvPr id="6" name="text"/>
          <p:cNvSpPr>
            <a:spLocks noGrp="1"/>
          </p:cNvSpPr>
          <p:nvPr/>
        </p:nvSpPr>
        <p:spPr>
          <a:xfrm>
            <a:off x="648288" y="1619842"/>
            <a:ext cx="2197790" cy="28666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buNone/>
              <a:defRPr sz="1425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0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E_f · reaching effects</a:t>
            </a:r>
            <a:endParaRPr sz="1400" b="1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text"/>
          <p:cNvSpPr>
            <a:spLocks noGrp="1"/>
          </p:cNvSpPr>
          <p:nvPr/>
        </p:nvSpPr>
        <p:spPr>
          <a:xfrm>
            <a:off x="648288" y="1992511"/>
            <a:ext cx="2197790" cy="61155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buNone/>
              <a:defRPr sz="1390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00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失败前已经生效，并在 CFG 上能够到达失败调用的元数据效果。</a:t>
            </a:r>
            <a:endParaRPr sz="1400" b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panel-C_f · cancellation"/>
          <p:cNvSpPr>
            <a:spLocks noGrp="1"/>
          </p:cNvSpPr>
          <p:nvPr/>
        </p:nvSpPr>
        <p:spPr>
          <a:xfrm>
            <a:off x="3323859" y="1466952"/>
            <a:ext cx="2580015" cy="1261340"/>
          </a:xfrm>
          <a:prstGeom prst="rect">
            <a:avLst/>
          </a:prstGeom>
          <a:solidFill>
            <a:srgbClr val="F3F3F3"/>
          </a:solidFill>
          <a:ln w="9525">
            <a:solidFill>
              <a:srgbClr val="D8D8D8"/>
            </a:solidFill>
            <a:prstDash val="solid"/>
          </a:ln>
        </p:spPr>
      </p:sp>
      <p:sp>
        <p:nvSpPr>
          <p:cNvPr id="9" name="text"/>
          <p:cNvSpPr>
            <a:spLocks noGrp="1"/>
          </p:cNvSpPr>
          <p:nvPr/>
        </p:nvSpPr>
        <p:spPr>
          <a:xfrm>
            <a:off x="3514971" y="1619842"/>
            <a:ext cx="2197790" cy="28666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buNone/>
              <a:defRPr sz="1425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0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C_f · cancellation</a:t>
            </a:r>
            <a:endParaRPr sz="1400" b="1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text"/>
          <p:cNvSpPr>
            <a:spLocks noGrp="1"/>
          </p:cNvSpPr>
          <p:nvPr/>
        </p:nvSpPr>
        <p:spPr>
          <a:xfrm>
            <a:off x="3514971" y="1992511"/>
            <a:ext cx="2197790" cy="61155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buNone/>
              <a:defRPr sz="1390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00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错误路径上对同一对象、键和值执行的逆向效果。</a:t>
            </a:r>
            <a:endParaRPr sz="1400" b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panel-T_f · protection"/>
          <p:cNvSpPr>
            <a:spLocks noGrp="1"/>
          </p:cNvSpPr>
          <p:nvPr/>
        </p:nvSpPr>
        <p:spPr>
          <a:xfrm>
            <a:off x="6190542" y="1466952"/>
            <a:ext cx="2580015" cy="1261340"/>
          </a:xfrm>
          <a:prstGeom prst="rect">
            <a:avLst/>
          </a:prstGeom>
          <a:solidFill>
            <a:srgbClr val="F3F3F3"/>
          </a:solidFill>
          <a:ln w="9525">
            <a:solidFill>
              <a:srgbClr val="D8D8D8"/>
            </a:solidFill>
            <a:prstDash val="solid"/>
          </a:ln>
        </p:spPr>
      </p:sp>
      <p:sp>
        <p:nvSpPr>
          <p:cNvPr id="12" name="text"/>
          <p:cNvSpPr>
            <a:spLocks noGrp="1"/>
          </p:cNvSpPr>
          <p:nvPr/>
        </p:nvSpPr>
        <p:spPr>
          <a:xfrm>
            <a:off x="6381654" y="1619842"/>
            <a:ext cx="2197790" cy="28666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buNone/>
              <a:defRPr sz="1425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0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T_f · protection</a:t>
            </a:r>
            <a:endParaRPr sz="1400" b="1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text"/>
          <p:cNvSpPr>
            <a:spLocks noGrp="1"/>
          </p:cNvSpPr>
          <p:nvPr/>
        </p:nvSpPr>
        <p:spPr>
          <a:xfrm>
            <a:off x="6381654" y="1992511"/>
            <a:ext cx="2197790" cy="61155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buNone/>
              <a:defRPr sz="1390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00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事务 abort、fatal shutdown等明确接管效果。</a:t>
            </a:r>
            <a:endParaRPr sz="1400" b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panel-R_f · residual"/>
          <p:cNvSpPr>
            <a:spLocks noGrp="1"/>
          </p:cNvSpPr>
          <p:nvPr/>
        </p:nvSpPr>
        <p:spPr>
          <a:xfrm>
            <a:off x="9057224" y="1466952"/>
            <a:ext cx="2713793" cy="1261340"/>
          </a:xfrm>
          <a:prstGeom prst="rect">
            <a:avLst/>
          </a:prstGeom>
          <a:solidFill>
            <a:schemeClr val="bg2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5" name="text"/>
          <p:cNvSpPr>
            <a:spLocks noGrp="1"/>
          </p:cNvSpPr>
          <p:nvPr/>
        </p:nvSpPr>
        <p:spPr>
          <a:xfrm>
            <a:off x="9248336" y="1619842"/>
            <a:ext cx="2331569" cy="28666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buNone/>
              <a:defRPr sz="142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R_f · residual</a:t>
            </a:r>
            <a:endParaRPr sz="1400" b="1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text"/>
          <p:cNvSpPr>
            <a:spLocks noGrp="1"/>
          </p:cNvSpPr>
          <p:nvPr/>
        </p:nvSpPr>
        <p:spPr>
          <a:xfrm>
            <a:off x="9248336" y="1992511"/>
            <a:ext cx="2331569" cy="61155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buNone/>
              <a:defRPr sz="1390" b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00" b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R_f = Normalize(E_f ⊕ C_f) − T_f</a:t>
            </a:r>
            <a:endParaRPr sz="1400" b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文本框 1"/>
          <p:cNvSpPr>
            <a:spLocks noGrp="1"/>
          </p:cNvSpPr>
          <p:nvPr/>
        </p:nvSpPr>
        <p:spPr>
          <a:xfrm>
            <a:off x="104775" y="159385"/>
            <a:ext cx="6096000" cy="30670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E_f · reaching effects</a:t>
            </a:r>
            <a:endParaRPr sz="1400" b="1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文本框 2"/>
          <p:cNvSpPr>
            <a:spLocks noGrp="1"/>
          </p:cNvSpPr>
          <p:nvPr/>
        </p:nvSpPr>
        <p:spPr>
          <a:xfrm>
            <a:off x="339725" y="591185"/>
            <a:ext cx="10419080" cy="604837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/>
              <a:t>具体工作</a:t>
            </a:r>
            <a:endParaRPr sz="1400"/>
          </a:p>
          <a:p>
            <a:r>
              <a:rPr sz="1400"/>
              <a:t>对于每个失败点</a:t>
            </a:r>
            <a:r>
              <a:rPr sz="1400"/>
              <a:t> f</a:t>
            </a:r>
            <a:r>
              <a:rPr sz="1400"/>
              <a:t>，从失败点向后遍历</a:t>
            </a:r>
            <a:r>
              <a:rPr sz="1400"/>
              <a:t> CFG</a:t>
            </a:r>
            <a:r>
              <a:rPr sz="1400"/>
              <a:t>，找出能够到达该失败点的元数据</a:t>
            </a:r>
            <a:r>
              <a:rPr sz="1400"/>
              <a:t> effect</a:t>
            </a:r>
            <a:r>
              <a:rPr sz="1400"/>
              <a:t>。</a:t>
            </a:r>
            <a:endParaRPr sz="1400"/>
          </a:p>
          <a:p>
            <a:endParaRPr sz="1400"/>
          </a:p>
          <a:p>
            <a:r>
              <a:rPr sz="1400"/>
              <a:t>主要来源包括：</a:t>
            </a:r>
            <a:endParaRPr sz="1400"/>
          </a:p>
          <a:p>
            <a:r>
              <a:rPr sz="1400"/>
              <a:t>当前函数中的直接字段修改</a:t>
            </a:r>
            <a:endParaRPr sz="1400"/>
          </a:p>
          <a:p>
            <a:r>
              <a:rPr sz="1400"/>
              <a:t>显式元数据</a:t>
            </a:r>
            <a:r>
              <a:rPr sz="1400"/>
              <a:t> API</a:t>
            </a:r>
            <a:endParaRPr sz="1400"/>
          </a:p>
          <a:p>
            <a:r>
              <a:rPr sz="1400"/>
              <a:t>跨函数</a:t>
            </a:r>
            <a:r>
              <a:rPr sz="1400"/>
              <a:t> summary </a:t>
            </a:r>
            <a:r>
              <a:rPr sz="1400"/>
              <a:t>投影</a:t>
            </a:r>
            <a:endParaRPr sz="1400"/>
          </a:p>
          <a:p>
            <a:endParaRPr sz="1400"/>
          </a:p>
          <a:p>
            <a:r>
              <a:rPr sz="1400"/>
              <a:t>它解决的是：</a:t>
            </a:r>
            <a:endParaRPr sz="1400"/>
          </a:p>
          <a:p>
            <a:r>
              <a:rPr sz="1400"/>
              <a:t>失败发生之前，哪些元数据修改已经执行，因而可能需要在错误路径中处理？</a:t>
            </a:r>
            <a:endParaRPr sz="1400"/>
          </a:p>
          <a:p>
            <a:endParaRPr sz="1400"/>
          </a:p>
          <a:p>
            <a:r>
              <a:rPr sz="1400"/>
              <a:t>没有</a:t>
            </a:r>
            <a:r>
              <a:rPr sz="1400"/>
              <a:t> E_f</a:t>
            </a:r>
            <a:r>
              <a:rPr sz="1400"/>
              <a:t>，工具只能看到错误路径上的</a:t>
            </a:r>
            <a:r>
              <a:rPr sz="1400"/>
              <a:t> cleanup</a:t>
            </a:r>
            <a:r>
              <a:rPr sz="1400"/>
              <a:t>，却不知道</a:t>
            </a:r>
            <a:r>
              <a:rPr sz="1400"/>
              <a:t> cleanup </a:t>
            </a:r>
            <a:r>
              <a:rPr sz="1400"/>
              <a:t>应该对应什么修改。</a:t>
            </a:r>
            <a:endParaRPr sz="1400"/>
          </a:p>
          <a:p>
            <a:endParaRPr sz="1400"/>
          </a:p>
          <a:p>
            <a:endParaRPr sz="1400"/>
          </a:p>
          <a:p>
            <a:r>
              <a:rPr sz="1400"/>
              <a:t>缺点：</a:t>
            </a:r>
            <a:endParaRPr sz="1400"/>
          </a:p>
          <a:p>
            <a:endParaRPr sz="1400"/>
          </a:p>
          <a:p>
            <a:r>
              <a:rPr sz="1400"/>
              <a:t>E_f </a:t>
            </a:r>
            <a:r>
              <a:rPr sz="1400"/>
              <a:t>记录的是单个</a:t>
            </a:r>
            <a:r>
              <a:rPr sz="1400"/>
              <a:t> effect</a:t>
            </a:r>
            <a:r>
              <a:rPr sz="1400"/>
              <a:t>：</a:t>
            </a:r>
            <a:endParaRPr sz="1400"/>
          </a:p>
          <a:p>
            <a:r>
              <a:rPr sz="1400"/>
              <a:t>被修改的根对象</a:t>
            </a:r>
            <a:r>
              <a:rPr sz="1400"/>
              <a:t>   </a:t>
            </a:r>
            <a:r>
              <a:rPr sz="1400"/>
              <a:t>被修改的字段或属性</a:t>
            </a:r>
            <a:r>
              <a:rPr sz="1400"/>
              <a:t>     </a:t>
            </a:r>
            <a:r>
              <a:rPr sz="1400"/>
              <a:t>修改类型</a:t>
            </a:r>
            <a:r>
              <a:rPr sz="1400"/>
              <a:t>       </a:t>
            </a:r>
            <a:r>
              <a:rPr sz="1400"/>
              <a:t>写入或操作的值</a:t>
            </a:r>
            <a:endParaRPr sz="1400"/>
          </a:p>
          <a:p>
            <a:r>
              <a:rPr sz="1400"/>
              <a:t>root +                key +                          delta +          value</a:t>
            </a:r>
            <a:endParaRPr sz="1400"/>
          </a:p>
          <a:p>
            <a:r>
              <a:rPr sz="1400"/>
              <a:t>例如：</a:t>
            </a:r>
            <a:endParaRPr sz="1400"/>
          </a:p>
          <a:p>
            <a:r>
              <a:rPr sz="1400"/>
              <a:t>SET inode.bitmap = allocated</a:t>
            </a:r>
            <a:endParaRPr sz="1400"/>
          </a:p>
          <a:p>
            <a:endParaRPr sz="1400"/>
          </a:p>
          <a:p>
            <a:endParaRPr sz="1400"/>
          </a:p>
          <a:p>
            <a:r>
              <a:rPr sz="1400"/>
              <a:t>但它不理解</a:t>
            </a:r>
            <a:r>
              <a:rPr sz="1400"/>
              <a:t>元数据之间的不变量：</a:t>
            </a:r>
            <a:endParaRPr sz="1400"/>
          </a:p>
          <a:p>
            <a:r>
              <a:rPr sz="1400"/>
              <a:t>Dentry(P,N,I) -&gt; AllocatedInode(I)</a:t>
            </a:r>
            <a:br>
              <a:rPr sz="1400"/>
            </a:br>
            <a:r>
              <a:rPr sz="1400"/>
              <a:t>如果父目录</a:t>
            </a:r>
            <a:r>
              <a:rPr sz="1400"/>
              <a:t> P </a:t>
            </a:r>
            <a:r>
              <a:rPr sz="1400"/>
              <a:t>中存在名称为</a:t>
            </a:r>
            <a:r>
              <a:rPr sz="1400"/>
              <a:t> N</a:t>
            </a:r>
            <a:r>
              <a:rPr sz="1400"/>
              <a:t>、指向</a:t>
            </a:r>
            <a:r>
              <a:rPr sz="1400"/>
              <a:t> inode I </a:t>
            </a:r>
            <a:r>
              <a:rPr sz="1400"/>
              <a:t>的目录项，那么</a:t>
            </a:r>
            <a:r>
              <a:rPr sz="1400"/>
              <a:t> inode I </a:t>
            </a:r>
            <a:r>
              <a:rPr sz="1400"/>
              <a:t>必须是已分配的。</a:t>
            </a:r>
            <a:endParaRPr sz="1400"/>
          </a:p>
          <a:p>
            <a:endParaRPr sz="14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文本框 1"/>
          <p:cNvSpPr>
            <a:spLocks noGrp="1"/>
          </p:cNvSpPr>
          <p:nvPr/>
        </p:nvSpPr>
        <p:spPr>
          <a:xfrm>
            <a:off x="247015" y="158115"/>
            <a:ext cx="4064000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C_f · cancellation</a:t>
            </a:r>
            <a:endParaRPr b="1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文本框 2"/>
          <p:cNvSpPr>
            <a:spLocks noGrp="1"/>
          </p:cNvSpPr>
          <p:nvPr/>
        </p:nvSpPr>
        <p:spPr>
          <a:xfrm>
            <a:off x="474980" y="526415"/>
            <a:ext cx="11358245" cy="612203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/>
              <a:t>具体工作</a:t>
            </a:r>
            <a:endParaRPr sz="1400"/>
          </a:p>
          <a:p>
            <a:r>
              <a:rPr sz="1400"/>
              <a:t>C_f </a:t>
            </a:r>
            <a:r>
              <a:rPr sz="1400"/>
              <a:t>收集能够撤销或补偿</a:t>
            </a:r>
            <a:r>
              <a:rPr sz="1400"/>
              <a:t> E_f </a:t>
            </a:r>
            <a:r>
              <a:rPr sz="1400"/>
              <a:t>的操作，</a:t>
            </a:r>
            <a:endParaRPr sz="1400"/>
          </a:p>
          <a:p>
            <a:r>
              <a:rPr sz="1400"/>
              <a:t>包括：</a:t>
            </a:r>
            <a:endParaRPr sz="1400"/>
          </a:p>
          <a:p>
            <a:r>
              <a:rPr sz="1400"/>
              <a:t>失败前已经执行的补偿</a:t>
            </a:r>
            <a:endParaRPr sz="1400"/>
          </a:p>
          <a:p>
            <a:r>
              <a:rPr sz="1400"/>
              <a:t>失败调用与错误检查之间的补偿</a:t>
            </a:r>
            <a:endParaRPr sz="1400"/>
          </a:p>
          <a:p>
            <a:r>
              <a:rPr sz="1400"/>
              <a:t>错误路径上执行的</a:t>
            </a:r>
            <a:r>
              <a:rPr sz="1400"/>
              <a:t> cleanup</a:t>
            </a:r>
            <a:endParaRPr sz="1400"/>
          </a:p>
          <a:p>
            <a:endParaRPr sz="1400"/>
          </a:p>
          <a:p>
            <a:r>
              <a:rPr sz="1400"/>
              <a:t>例如：</a:t>
            </a:r>
            <a:endParaRPr sz="1400"/>
          </a:p>
          <a:p>
            <a:r>
              <a:rPr sz="1400"/>
              <a:t>inode-&gt;i_blocks += nr;</a:t>
            </a:r>
            <a:endParaRPr sz="1400"/>
          </a:p>
          <a:p>
            <a:r>
              <a:rPr sz="1400"/>
              <a:t>ret = fail_metadata();</a:t>
            </a:r>
            <a:endParaRPr sz="1400"/>
          </a:p>
          <a:p>
            <a:r>
              <a:rPr sz="1400"/>
              <a:t>if (ret)</a:t>
            </a:r>
            <a:endParaRPr sz="1400"/>
          </a:p>
          <a:p>
            <a:r>
              <a:rPr sz="1400"/>
              <a:t>    inode-&gt;i_blocks -= nr;</a:t>
            </a:r>
            <a:endParaRPr sz="1400"/>
          </a:p>
          <a:p>
            <a:r>
              <a:rPr sz="1400"/>
              <a:t>得到：</a:t>
            </a:r>
            <a:endParaRPr sz="1400"/>
          </a:p>
          <a:p>
            <a:r>
              <a:rPr sz="1400"/>
              <a:t>E_f = { INC inode.i_blocks nr }</a:t>
            </a:r>
            <a:endParaRPr sz="1400"/>
          </a:p>
          <a:p>
            <a:r>
              <a:rPr sz="1400"/>
              <a:t>C_f = { DEC inode.i_blocks nr }</a:t>
            </a:r>
            <a:endParaRPr sz="1400"/>
          </a:p>
          <a:p>
            <a:r>
              <a:rPr sz="1400"/>
              <a:t>R_f = ∅</a:t>
            </a:r>
            <a:endParaRPr sz="1400"/>
          </a:p>
          <a:p>
            <a:endParaRPr sz="1400"/>
          </a:p>
          <a:p>
            <a:r>
              <a:rPr sz="1400"/>
              <a:t>它解决的是：</a:t>
            </a:r>
            <a:endParaRPr sz="1400"/>
          </a:p>
          <a:p>
            <a:r>
              <a:rPr sz="1400"/>
              <a:t>失败前虽然修改了元数据，但错误路径是否已经通过</a:t>
            </a:r>
            <a:r>
              <a:rPr sz="1400"/>
              <a:t> cleanup </a:t>
            </a:r>
            <a:r>
              <a:rPr sz="1400"/>
              <a:t>把该修改撤销？</a:t>
            </a:r>
            <a:endParaRPr sz="1400"/>
          </a:p>
          <a:p>
            <a:endParaRPr sz="1400"/>
          </a:p>
          <a:p>
            <a:r>
              <a:rPr sz="1400"/>
              <a:t>缺点</a:t>
            </a:r>
            <a:endParaRPr sz="1400"/>
          </a:p>
          <a:p>
            <a:r>
              <a:rPr sz="1400"/>
              <a:t>核心缺点是：</a:t>
            </a:r>
            <a:r>
              <a:rPr sz="1400"/>
              <a:t>C_f </a:t>
            </a:r>
            <a:r>
              <a:rPr sz="1400"/>
              <a:t>判断的是</a:t>
            </a:r>
            <a:r>
              <a:rPr sz="1400"/>
              <a:t>“effect </a:t>
            </a:r>
            <a:r>
              <a:rPr sz="1400"/>
              <a:t>是否被匹配关闭</a:t>
            </a:r>
            <a:r>
              <a:rPr sz="1400"/>
              <a:t>”</a:t>
            </a:r>
            <a:r>
              <a:rPr sz="1400"/>
              <a:t>，不是</a:t>
            </a:r>
            <a:r>
              <a:rPr sz="1400"/>
              <a:t>“cleanup </a:t>
            </a:r>
            <a:r>
              <a:rPr sz="1400"/>
              <a:t>后文件系统是否重新一致</a:t>
            </a:r>
            <a:r>
              <a:rPr sz="1400"/>
              <a:t>”</a:t>
            </a:r>
            <a:r>
              <a:rPr sz="1400"/>
              <a:t>。</a:t>
            </a:r>
            <a:endParaRPr sz="1400"/>
          </a:p>
          <a:p>
            <a:r>
              <a:rPr sz="1400"/>
              <a:t>例如：</a:t>
            </a:r>
            <a:endParaRPr sz="1400"/>
          </a:p>
          <a:p>
            <a:r>
              <a:rPr sz="1400"/>
              <a:t>ADD_DENTRY(P,N,I)</a:t>
            </a:r>
            <a:endParaRPr sz="1400"/>
          </a:p>
          <a:p>
            <a:r>
              <a:rPr sz="1400"/>
              <a:t>FREE_INODE(I)</a:t>
            </a:r>
            <a:endParaRPr sz="1400"/>
          </a:p>
          <a:p>
            <a:r>
              <a:rPr sz="1400"/>
              <a:t>即使</a:t>
            </a:r>
            <a:r>
              <a:rPr sz="1400"/>
              <a:t> inode </a:t>
            </a:r>
            <a:r>
              <a:rPr sz="1400"/>
              <a:t>自身的：</a:t>
            </a:r>
            <a:endParaRPr sz="1400"/>
          </a:p>
          <a:p>
            <a:r>
              <a:rPr sz="1400"/>
              <a:t>ALLOC_INODE(I) &lt;-&gt; FREE_INODE(I)</a:t>
            </a:r>
            <a:endParaRPr sz="1400"/>
          </a:p>
          <a:p>
            <a:r>
              <a:rPr sz="1400"/>
              <a:t>已经完成配对，目录项仍然指向已释放</a:t>
            </a:r>
            <a:r>
              <a:rPr sz="1400"/>
              <a:t> inode</a:t>
            </a:r>
            <a:r>
              <a:rPr sz="1400"/>
              <a:t>。当前</a:t>
            </a:r>
            <a:r>
              <a:rPr sz="1400"/>
              <a:t> C_f </a:t>
            </a:r>
            <a:r>
              <a:rPr sz="1400"/>
              <a:t>没有通用不变量执行器来检查这种跨对象问题。</a:t>
            </a:r>
            <a:endParaRPr sz="1400"/>
          </a:p>
          <a:p>
            <a:r>
              <a:rPr sz="1400"/>
              <a:t>本质上仍以匹配和关闭</a:t>
            </a:r>
            <a:r>
              <a:rPr sz="1400"/>
              <a:t> effect </a:t>
            </a:r>
            <a:r>
              <a:rPr sz="1400"/>
              <a:t>为中心。</a:t>
            </a:r>
            <a:endParaRPr sz="14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文本框 1"/>
          <p:cNvSpPr>
            <a:spLocks noGrp="1"/>
          </p:cNvSpPr>
          <p:nvPr/>
        </p:nvSpPr>
        <p:spPr>
          <a:xfrm>
            <a:off x="364490" y="151765"/>
            <a:ext cx="4064000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T_f · protection</a:t>
            </a:r>
            <a:endParaRPr b="1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文本框 2"/>
          <p:cNvSpPr>
            <a:spLocks noGrp="1"/>
          </p:cNvSpPr>
          <p:nvPr/>
        </p:nvSpPr>
        <p:spPr>
          <a:xfrm>
            <a:off x="377190" y="634365"/>
            <a:ext cx="11568430" cy="613092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/>
              <a:t>具体工作</a:t>
            </a:r>
            <a:endParaRPr sz="1400"/>
          </a:p>
          <a:p>
            <a:r>
              <a:rPr sz="1400"/>
              <a:t>T_f </a:t>
            </a:r>
            <a:r>
              <a:rPr sz="1400"/>
              <a:t>处理那些不需要在当前函数中直接逆转、而是被其他机制接管的</a:t>
            </a:r>
            <a:r>
              <a:rPr sz="1400"/>
              <a:t> effect</a:t>
            </a:r>
            <a:r>
              <a:rPr sz="1400"/>
              <a:t>。</a:t>
            </a:r>
            <a:endParaRPr sz="1400"/>
          </a:p>
          <a:p>
            <a:endParaRPr sz="1400"/>
          </a:p>
          <a:p>
            <a:r>
              <a:rPr sz="1400"/>
              <a:t>目前考虑：</a:t>
            </a:r>
            <a:endParaRPr sz="1400"/>
          </a:p>
          <a:p>
            <a:r>
              <a:rPr sz="1400"/>
              <a:t>transaction abort</a:t>
            </a:r>
            <a:endParaRPr sz="1400"/>
          </a:p>
          <a:p>
            <a:r>
              <a:rPr sz="1400"/>
              <a:t>journal ownership</a:t>
            </a:r>
            <a:endParaRPr sz="1400"/>
          </a:p>
          <a:p>
            <a:r>
              <a:rPr sz="1400"/>
              <a:t>orphan registration</a:t>
            </a:r>
            <a:endParaRPr sz="1400"/>
          </a:p>
          <a:p>
            <a:r>
              <a:rPr sz="1400"/>
              <a:t>recovery/replay ownership</a:t>
            </a:r>
            <a:endParaRPr sz="1400"/>
          </a:p>
          <a:p>
            <a:endParaRPr sz="1400"/>
          </a:p>
          <a:p>
            <a:r>
              <a:rPr sz="1400"/>
              <a:t>例如，一个</a:t>
            </a:r>
            <a:r>
              <a:rPr sz="1400"/>
              <a:t> effect </a:t>
            </a:r>
            <a:r>
              <a:rPr sz="1400"/>
              <a:t>已明确属于事务</a:t>
            </a:r>
            <a:r>
              <a:rPr sz="1400"/>
              <a:t> trans</a:t>
            </a:r>
            <a:r>
              <a:rPr sz="1400"/>
              <a:t>：</a:t>
            </a:r>
            <a:endParaRPr sz="1400"/>
          </a:p>
          <a:p>
            <a:r>
              <a:rPr sz="1400"/>
              <a:t>effect.transaction_ownership.transaction_root = trans</a:t>
            </a:r>
            <a:endParaRPr sz="1400"/>
          </a:p>
          <a:p>
            <a:r>
              <a:rPr sz="1400"/>
              <a:t>effect.visibility = TRANSACTION_LOCAL</a:t>
            </a:r>
            <a:endParaRPr sz="1400"/>
          </a:p>
          <a:p>
            <a:r>
              <a:rPr sz="1400"/>
              <a:t>错误路径又执行：</a:t>
            </a:r>
            <a:endParaRPr sz="1400"/>
          </a:p>
          <a:p>
            <a:r>
              <a:rPr sz="1400"/>
              <a:t>btrfs_abort_transaction(trans, err);</a:t>
            </a:r>
            <a:endParaRPr sz="1400"/>
          </a:p>
          <a:p>
            <a:r>
              <a:rPr sz="1400"/>
              <a:t>那么工具可以认定该</a:t>
            </a:r>
            <a:r>
              <a:rPr sz="1400"/>
              <a:t> effect </a:t>
            </a:r>
            <a:r>
              <a:rPr sz="1400"/>
              <a:t>被事务</a:t>
            </a:r>
            <a:r>
              <a:rPr sz="1400"/>
              <a:t> failure domain </a:t>
            </a:r>
            <a:r>
              <a:rPr sz="1400"/>
              <a:t>覆盖。</a:t>
            </a:r>
            <a:endParaRPr sz="1400"/>
          </a:p>
          <a:p>
            <a:endParaRPr sz="1400"/>
          </a:p>
          <a:p>
            <a:r>
              <a:rPr sz="1400"/>
              <a:t>它解决的是：</a:t>
            </a:r>
            <a:endParaRPr sz="1400"/>
          </a:p>
          <a:p>
            <a:r>
              <a:rPr sz="1400"/>
              <a:t>某个</a:t>
            </a:r>
            <a:r>
              <a:rPr sz="1400"/>
              <a:t> effect </a:t>
            </a:r>
            <a:r>
              <a:rPr sz="1400"/>
              <a:t>虽然没有被当前函数显式反向写回，但是否已经合法转交给事务、日志、恢复或终止机制？</a:t>
            </a:r>
            <a:endParaRPr sz="1400"/>
          </a:p>
          <a:p>
            <a:endParaRPr sz="1400"/>
          </a:p>
          <a:p>
            <a:r>
              <a:rPr sz="1400"/>
              <a:t>缺点</a:t>
            </a:r>
            <a:endParaRPr sz="1400"/>
          </a:p>
          <a:p>
            <a:r>
              <a:rPr sz="1400"/>
              <a:t>T_f </a:t>
            </a:r>
            <a:r>
              <a:rPr sz="1400"/>
              <a:t>当前仍然是</a:t>
            </a:r>
            <a:r>
              <a:rPr sz="1400"/>
              <a:t>“effect </a:t>
            </a:r>
            <a:r>
              <a:rPr sz="1400"/>
              <a:t>覆盖关系</a:t>
            </a:r>
            <a:r>
              <a:rPr sz="1400"/>
              <a:t>”</a:t>
            </a:r>
            <a:r>
              <a:rPr sz="1400"/>
              <a:t>，不是真正的恢复状态转换。</a:t>
            </a:r>
            <a:endParaRPr sz="1400"/>
          </a:p>
          <a:p>
            <a:r>
              <a:rPr sz="1400"/>
              <a:t>它不能完整执行：</a:t>
            </a:r>
            <a:endParaRPr sz="1400"/>
          </a:p>
          <a:p>
            <a:r>
              <a:rPr sz="1400"/>
              <a:t>哪些状态已经发布</a:t>
            </a:r>
            <a:endParaRPr sz="1400"/>
          </a:p>
          <a:p>
            <a:r>
              <a:rPr sz="1400"/>
              <a:t>也就是说，目前能够判断：</a:t>
            </a:r>
            <a:endParaRPr sz="1400"/>
          </a:p>
          <a:p>
            <a:r>
              <a:rPr sz="1400"/>
              <a:t>这个</a:t>
            </a:r>
            <a:r>
              <a:rPr sz="1400"/>
              <a:t> effect </a:t>
            </a:r>
            <a:r>
              <a:rPr sz="1400"/>
              <a:t>看起来属于该事务的保护范围</a:t>
            </a:r>
            <a:endParaRPr sz="1400"/>
          </a:p>
          <a:p>
            <a:r>
              <a:rPr sz="1400"/>
              <a:t>但不能计算：</a:t>
            </a:r>
            <a:endParaRPr sz="1400"/>
          </a:p>
          <a:p>
            <a:r>
              <a:rPr sz="1400"/>
              <a:t>S_final = Recover(Apply(S_initial, failure_path))</a:t>
            </a:r>
            <a:endParaRPr sz="1400"/>
          </a:p>
          <a:p>
            <a:r>
              <a:rPr sz="1400"/>
              <a:t>然后验证</a:t>
            </a:r>
            <a:r>
              <a:rPr sz="1400"/>
              <a:t> S_final </a:t>
            </a:r>
            <a:r>
              <a:rPr sz="1400"/>
              <a:t>的文件系统不变量。</a:t>
            </a:r>
            <a:endParaRPr sz="1400"/>
          </a:p>
          <a:p>
            <a:endParaRPr sz="14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文本框 1"/>
          <p:cNvSpPr>
            <a:spLocks noGrp="1"/>
          </p:cNvSpPr>
          <p:nvPr/>
        </p:nvSpPr>
        <p:spPr>
          <a:xfrm>
            <a:off x="210185" y="740410"/>
            <a:ext cx="11648440" cy="634047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/>
              <a:t>具体工作：</a:t>
            </a:r>
            <a:endParaRPr sz="1600"/>
          </a:p>
          <a:p>
            <a:r>
              <a:rPr sz="1600"/>
              <a:t>R_f = E_f </a:t>
            </a:r>
            <a:r>
              <a:rPr sz="1600"/>
              <a:t>中没有被</a:t>
            </a:r>
            <a:r>
              <a:rPr sz="1600"/>
              <a:t> C_f </a:t>
            </a:r>
            <a:r>
              <a:rPr sz="1600"/>
              <a:t>抵消、也没有被</a:t>
            </a:r>
            <a:r>
              <a:rPr sz="1600"/>
              <a:t> T_f </a:t>
            </a:r>
            <a:r>
              <a:rPr sz="1600"/>
              <a:t>保护的</a:t>
            </a:r>
            <a:r>
              <a:rPr sz="1600"/>
              <a:t> effect</a:t>
            </a:r>
            <a:endParaRPr sz="1600"/>
          </a:p>
          <a:p>
            <a:endParaRPr sz="1600"/>
          </a:p>
          <a:p>
            <a:r>
              <a:rPr sz="1600"/>
              <a:t>它解决的是：</a:t>
            </a:r>
            <a:endParaRPr sz="1600"/>
          </a:p>
          <a:p>
            <a:r>
              <a:rPr sz="1600"/>
              <a:t>到达错误出口时，哪些元数据修改仍缺少可证明的处理？</a:t>
            </a:r>
            <a:endParaRPr sz="1600"/>
          </a:p>
          <a:p>
            <a:endParaRPr sz="1600"/>
          </a:p>
          <a:p>
            <a:r>
              <a:rPr sz="1600"/>
              <a:t>R_f </a:t>
            </a:r>
            <a:r>
              <a:rPr sz="1600"/>
              <a:t>是最终</a:t>
            </a:r>
            <a:r>
              <a:rPr sz="1600"/>
              <a:t> witness</a:t>
            </a:r>
            <a:r>
              <a:rPr sz="1600"/>
              <a:t>，用来定位：</a:t>
            </a:r>
            <a:endParaRPr sz="1600"/>
          </a:p>
          <a:p>
            <a:r>
              <a:rPr sz="1600"/>
              <a:t>修改发生在哪里</a:t>
            </a:r>
            <a:endParaRPr sz="1600"/>
          </a:p>
          <a:p>
            <a:r>
              <a:rPr sz="1600"/>
              <a:t>失败点在哪里</a:t>
            </a:r>
            <a:endParaRPr sz="1600"/>
          </a:p>
          <a:p>
            <a:r>
              <a:rPr sz="1600"/>
              <a:t>错误出口在哪里</a:t>
            </a:r>
            <a:endParaRPr sz="1600"/>
          </a:p>
          <a:p>
            <a:r>
              <a:rPr sz="1600"/>
              <a:t>执行了什么</a:t>
            </a:r>
            <a:r>
              <a:rPr sz="1600"/>
              <a:t> cleanup</a:t>
            </a:r>
            <a:endParaRPr sz="1600"/>
          </a:p>
          <a:p>
            <a:r>
              <a:rPr sz="1600"/>
              <a:t>最终留下了什么</a:t>
            </a:r>
            <a:endParaRPr sz="1600"/>
          </a:p>
          <a:p>
            <a:r>
              <a:rPr sz="1600"/>
              <a:t>缺点</a:t>
            </a:r>
            <a:endParaRPr sz="1600"/>
          </a:p>
          <a:p>
            <a:r>
              <a:rPr sz="1600"/>
              <a:t>R_f = ∅ </a:t>
            </a:r>
            <a:r>
              <a:rPr sz="1600"/>
              <a:t>也不等于文件系统一定一致。因为所有局部</a:t>
            </a:r>
            <a:r>
              <a:rPr sz="1600"/>
              <a:t> effect </a:t>
            </a:r>
            <a:r>
              <a:rPr sz="1600"/>
              <a:t>即使都完成匹配，跨对象关系仍可能被破坏。</a:t>
            </a:r>
            <a:endParaRPr sz="1600"/>
          </a:p>
          <a:p>
            <a:endParaRPr sz="1600"/>
          </a:p>
        </p:txBody>
      </p:sp>
      <p:sp>
        <p:nvSpPr>
          <p:cNvPr id="3" name="文本框 2"/>
          <p:cNvSpPr>
            <a:spLocks noGrp="1"/>
          </p:cNvSpPr>
          <p:nvPr/>
        </p:nvSpPr>
        <p:spPr>
          <a:xfrm>
            <a:off x="318135" y="132715"/>
            <a:ext cx="4064000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R_f</a:t>
            </a:r>
            <a:r>
              <a:t>：</a:t>
            </a:r>
            <a:r>
              <a:t>Residuals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文本框 1"/>
          <p:cNvSpPr>
            <a:spLocks noGrp="1"/>
          </p:cNvSpPr>
          <p:nvPr/>
        </p:nvSpPr>
        <p:spPr>
          <a:xfrm>
            <a:off x="362585" y="35560"/>
            <a:ext cx="4064000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缺点展示</a:t>
            </a:r>
          </a:p>
        </p:txBody>
      </p:sp>
      <p:sp>
        <p:nvSpPr>
          <p:cNvPr id="3" name="文本框 2"/>
          <p:cNvSpPr>
            <a:spLocks noGrp="1"/>
          </p:cNvSpPr>
          <p:nvPr/>
        </p:nvSpPr>
        <p:spPr>
          <a:xfrm>
            <a:off x="599440" y="591185"/>
            <a:ext cx="4404360" cy="641667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/>
              <a:t>例如，操作失败前的合法状态是：</a:t>
            </a:r>
            <a:endParaRPr sz="1600"/>
          </a:p>
          <a:p>
            <a:r>
              <a:rPr sz="1600"/>
              <a:t>Dentry(P, "a") = I_old</a:t>
            </a:r>
            <a:endParaRPr sz="1600"/>
          </a:p>
          <a:p>
            <a:r>
              <a:rPr sz="1600"/>
              <a:t>Allocated(I_old) = true</a:t>
            </a:r>
            <a:endParaRPr sz="1600"/>
          </a:p>
          <a:p>
            <a:r>
              <a:rPr sz="1600"/>
              <a:t>LinkCount(I_old) = 1</a:t>
            </a:r>
            <a:endParaRPr sz="1600"/>
          </a:p>
          <a:p>
            <a:endParaRPr sz="1600"/>
          </a:p>
          <a:p>
            <a:r>
              <a:rPr sz="1600"/>
              <a:t>函数尝试用新</a:t>
            </a:r>
            <a:r>
              <a:rPr sz="1600"/>
              <a:t> inode </a:t>
            </a:r>
            <a:r>
              <a:rPr sz="1600"/>
              <a:t>替换该目录项：</a:t>
            </a:r>
            <a:endParaRPr sz="1600"/>
          </a:p>
          <a:p>
            <a:r>
              <a:rPr sz="1600"/>
              <a:t>new = alloc_inode();</a:t>
            </a:r>
            <a:endParaRPr sz="1600"/>
          </a:p>
          <a:p>
            <a:r>
              <a:rPr sz="1600"/>
              <a:t>set_dentry(parent, "a", new);</a:t>
            </a:r>
            <a:endParaRPr sz="1600"/>
          </a:p>
          <a:p>
            <a:endParaRPr sz="1600"/>
          </a:p>
          <a:p>
            <a:r>
              <a:rPr sz="1600"/>
              <a:t>ret = update_quota(new);</a:t>
            </a:r>
            <a:endParaRPr sz="1600"/>
          </a:p>
          <a:p>
            <a:r>
              <a:rPr sz="1600"/>
              <a:t>if (ret)</a:t>
            </a:r>
            <a:endParaRPr sz="1600"/>
          </a:p>
          <a:p>
            <a:r>
              <a:rPr sz="1600"/>
              <a:t>    goto error;</a:t>
            </a:r>
            <a:endParaRPr sz="1600"/>
          </a:p>
          <a:p>
            <a:endParaRPr sz="1600"/>
          </a:p>
          <a:p>
            <a:r>
              <a:rPr sz="1600"/>
              <a:t>error:</a:t>
            </a:r>
            <a:endParaRPr sz="1600"/>
          </a:p>
          <a:p>
            <a:r>
              <a:rPr sz="1600"/>
              <a:t>clear_dentry(parent, "a");</a:t>
            </a:r>
            <a:endParaRPr sz="1600"/>
          </a:p>
          <a:p>
            <a:r>
              <a:rPr sz="1600"/>
              <a:t>free_inode(new);</a:t>
            </a:r>
            <a:endParaRPr sz="1600"/>
          </a:p>
          <a:p>
            <a:r>
              <a:rPr sz="1600"/>
              <a:t>return ret;</a:t>
            </a:r>
            <a:endParaRPr sz="1600"/>
          </a:p>
          <a:p>
            <a:endParaRPr sz="1600"/>
          </a:p>
          <a:p>
            <a:r>
              <a:rPr sz="1600"/>
              <a:t>执行</a:t>
            </a:r>
            <a:r>
              <a:rPr sz="1600"/>
              <a:t> SET </a:t>
            </a:r>
            <a:r>
              <a:rPr sz="1600"/>
              <a:t>后：</a:t>
            </a:r>
            <a:endParaRPr sz="1600"/>
          </a:p>
          <a:p>
            <a:r>
              <a:rPr sz="1600"/>
              <a:t>P/"a" -&gt; I_new</a:t>
            </a:r>
            <a:endParaRPr sz="1600"/>
          </a:p>
          <a:p>
            <a:endParaRPr sz="1600"/>
          </a:p>
          <a:p>
            <a:r>
              <a:rPr sz="1600"/>
              <a:t>执行</a:t>
            </a:r>
            <a:r>
              <a:rPr sz="1600"/>
              <a:t> CLEAR </a:t>
            </a:r>
            <a:r>
              <a:rPr sz="1600"/>
              <a:t>后：</a:t>
            </a:r>
            <a:endParaRPr sz="1600"/>
          </a:p>
          <a:p>
            <a:r>
              <a:rPr sz="1600"/>
              <a:t>P/"a" -&gt; NULL</a:t>
            </a:r>
            <a:endParaRPr sz="1600"/>
          </a:p>
        </p:txBody>
      </p:sp>
      <p:sp>
        <p:nvSpPr>
          <p:cNvPr id="4" name="文本框 3"/>
          <p:cNvSpPr>
            <a:spLocks noGrp="1"/>
          </p:cNvSpPr>
          <p:nvPr/>
        </p:nvSpPr>
        <p:spPr>
          <a:xfrm>
            <a:off x="5561965" y="591185"/>
            <a:ext cx="4064000" cy="42767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/>
              <a:t>当前</a:t>
            </a:r>
            <a:r>
              <a:rPr sz="1600"/>
              <a:t> effect </a:t>
            </a:r>
            <a:r>
              <a:rPr sz="1600"/>
              <a:t>模型可能得到：</a:t>
            </a:r>
            <a:endParaRPr sz="1600"/>
          </a:p>
          <a:p>
            <a:r>
              <a:rPr sz="1600"/>
              <a:t>E_f:</a:t>
            </a:r>
            <a:endParaRPr sz="1600"/>
          </a:p>
          <a:p>
            <a:r>
              <a:rPr sz="1600"/>
              <a:t>  SET   Dentry(P, "a") = I_new</a:t>
            </a:r>
            <a:endParaRPr sz="1600"/>
          </a:p>
          <a:p>
            <a:r>
              <a:rPr sz="1600"/>
              <a:t>  ALLOC I_new</a:t>
            </a:r>
            <a:endParaRPr sz="1600"/>
          </a:p>
          <a:p>
            <a:endParaRPr sz="1600"/>
          </a:p>
          <a:p>
            <a:r>
              <a:rPr sz="1600"/>
              <a:t>C_f:</a:t>
            </a:r>
            <a:endParaRPr sz="1600"/>
          </a:p>
          <a:p>
            <a:r>
              <a:rPr sz="1600"/>
              <a:t>  CLEAR Dentry(P, "a")</a:t>
            </a:r>
            <a:endParaRPr sz="1600"/>
          </a:p>
          <a:p>
            <a:r>
              <a:rPr sz="1600"/>
              <a:t>  FREE  I_new</a:t>
            </a:r>
            <a:endParaRPr sz="1600"/>
          </a:p>
          <a:p>
            <a:r>
              <a:rPr sz="1600"/>
              <a:t>局部配对结果：</a:t>
            </a:r>
            <a:endParaRPr sz="1600"/>
          </a:p>
          <a:p>
            <a:r>
              <a:rPr sz="1600"/>
              <a:t>SET   &lt;-&gt; CLEAR</a:t>
            </a:r>
            <a:endParaRPr sz="1600"/>
          </a:p>
          <a:p>
            <a:r>
              <a:rPr sz="1600"/>
              <a:t>ALLOC &lt;-&gt; FREE</a:t>
            </a:r>
            <a:endParaRPr sz="1600"/>
          </a:p>
          <a:p>
            <a:endParaRPr sz="1600"/>
          </a:p>
          <a:p>
            <a:r>
              <a:rPr sz="1600"/>
              <a:t>R_f = ∅</a:t>
            </a:r>
            <a:endParaRPr sz="1600"/>
          </a:p>
          <a:p>
            <a:r>
              <a:rPr sz="1600"/>
              <a:t>但实际状态转换是：</a:t>
            </a:r>
            <a:endParaRPr sz="1600"/>
          </a:p>
          <a:p>
            <a:r>
              <a:rPr sz="1600"/>
              <a:t>初始：</a:t>
            </a:r>
            <a:endParaRPr sz="1600"/>
          </a:p>
          <a:p>
            <a:r>
              <a:rPr sz="1600"/>
              <a:t>P/"a" -&gt; I_old</a:t>
            </a:r>
            <a:endParaRPr sz="1600"/>
          </a:p>
          <a:p>
            <a:endParaRPr sz="16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文本框 2"/>
          <p:cNvSpPr>
            <a:spLocks noGrp="1"/>
          </p:cNvSpPr>
          <p:nvPr/>
        </p:nvSpPr>
        <p:spPr>
          <a:xfrm>
            <a:off x="283845" y="176530"/>
            <a:ext cx="4064000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跨对象关系型元数据</a:t>
            </a:r>
          </a:p>
        </p:txBody>
      </p:sp>
      <p:sp>
        <p:nvSpPr>
          <p:cNvPr id="4" name="文本框 3"/>
          <p:cNvSpPr>
            <a:spLocks noGrp="1"/>
          </p:cNvSpPr>
          <p:nvPr/>
        </p:nvSpPr>
        <p:spPr>
          <a:xfrm>
            <a:off x="413385" y="596900"/>
            <a:ext cx="5765165" cy="62611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/>
              <a:t>例子一：文件名</a:t>
            </a:r>
            <a:r>
              <a:rPr sz="1400"/>
              <a:t> a </a:t>
            </a:r>
            <a:r>
              <a:rPr sz="1400"/>
              <a:t>指向</a:t>
            </a:r>
            <a:r>
              <a:rPr sz="1400"/>
              <a:t> inode 100</a:t>
            </a:r>
            <a:endParaRPr sz="1400"/>
          </a:p>
          <a:p>
            <a:endParaRPr sz="1400"/>
          </a:p>
          <a:p>
            <a:r>
              <a:rPr sz="1400"/>
              <a:t>用户看到的是一个简单事实：</a:t>
            </a:r>
            <a:endParaRPr sz="1400"/>
          </a:p>
          <a:p>
            <a:r>
              <a:rPr sz="1400"/>
              <a:t>目录</a:t>
            </a:r>
            <a:r>
              <a:rPr sz="1400"/>
              <a:t> P </a:t>
            </a:r>
            <a:r>
              <a:rPr sz="1400"/>
              <a:t>中的文件名</a:t>
            </a:r>
            <a:r>
              <a:rPr sz="1400"/>
              <a:t> a </a:t>
            </a:r>
            <a:r>
              <a:rPr sz="1400"/>
              <a:t>对应</a:t>
            </a:r>
            <a:r>
              <a:rPr sz="1400"/>
              <a:t> inode 100</a:t>
            </a:r>
            <a:endParaRPr sz="1400"/>
          </a:p>
          <a:p>
            <a:endParaRPr sz="1400"/>
          </a:p>
          <a:p>
            <a:r>
              <a:rPr sz="1400"/>
              <a:t>但文件系统内部可能要同时维护：</a:t>
            </a:r>
            <a:endParaRPr sz="1400"/>
          </a:p>
          <a:p>
            <a:endParaRPr sz="1400"/>
          </a:p>
          <a:p>
            <a:r>
              <a:rPr sz="1400"/>
              <a:t>目录项：</a:t>
            </a:r>
            <a:endParaRPr sz="1400"/>
          </a:p>
          <a:p>
            <a:r>
              <a:rPr sz="1400"/>
              <a:t>P/a </a:t>
            </a:r>
            <a:r>
              <a:rPr sz="1400"/>
              <a:t>→</a:t>
            </a:r>
            <a:r>
              <a:rPr sz="1400"/>
              <a:t> inode 100</a:t>
            </a:r>
            <a:endParaRPr sz="1400"/>
          </a:p>
          <a:p>
            <a:endParaRPr sz="1400"/>
          </a:p>
          <a:p>
            <a:r>
              <a:rPr sz="1400"/>
              <a:t>inode </a:t>
            </a:r>
            <a:r>
              <a:rPr sz="1400"/>
              <a:t>位图：</a:t>
            </a:r>
            <a:endParaRPr sz="1400"/>
          </a:p>
          <a:p>
            <a:r>
              <a:rPr sz="1400"/>
              <a:t>inode 100 </a:t>
            </a:r>
            <a:r>
              <a:rPr sz="1400"/>
              <a:t>已分配</a:t>
            </a:r>
            <a:endParaRPr sz="1400"/>
          </a:p>
          <a:p>
            <a:endParaRPr sz="1400"/>
          </a:p>
          <a:p>
            <a:r>
              <a:rPr sz="1400"/>
              <a:t>inode </a:t>
            </a:r>
            <a:r>
              <a:rPr sz="1400"/>
              <a:t>内容：</a:t>
            </a:r>
            <a:endParaRPr sz="1400"/>
          </a:p>
          <a:p>
            <a:r>
              <a:rPr sz="1400"/>
              <a:t>inode 100 </a:t>
            </a:r>
            <a:r>
              <a:rPr sz="1400"/>
              <a:t>已初始化，类型为普通文件</a:t>
            </a:r>
            <a:endParaRPr sz="1400"/>
          </a:p>
          <a:p>
            <a:endParaRPr sz="1400"/>
          </a:p>
          <a:p>
            <a:r>
              <a:rPr sz="1400"/>
              <a:t>link count</a:t>
            </a:r>
            <a:r>
              <a:rPr sz="1400"/>
              <a:t>：</a:t>
            </a:r>
            <a:endParaRPr sz="1400"/>
          </a:p>
          <a:p>
            <a:r>
              <a:rPr sz="1400"/>
              <a:t>inode 100 </a:t>
            </a:r>
            <a:r>
              <a:rPr sz="1400"/>
              <a:t>的</a:t>
            </a:r>
            <a:r>
              <a:rPr sz="1400"/>
              <a:t> i_nlink </a:t>
            </a:r>
            <a:r>
              <a:rPr sz="1400"/>
              <a:t>包含</a:t>
            </a:r>
            <a:r>
              <a:rPr sz="1400"/>
              <a:t> P/a </a:t>
            </a:r>
            <a:r>
              <a:rPr sz="1400"/>
              <a:t>这条引用</a:t>
            </a:r>
            <a:endParaRPr sz="1400"/>
          </a:p>
          <a:p>
            <a:endParaRPr sz="1400"/>
          </a:p>
          <a:p>
            <a:r>
              <a:rPr sz="1400"/>
              <a:t>事务状态：</a:t>
            </a:r>
            <a:endParaRPr sz="1400"/>
          </a:p>
          <a:p>
            <a:r>
              <a:rPr sz="1400"/>
              <a:t>相关目录项和</a:t>
            </a:r>
            <a:r>
              <a:rPr sz="1400"/>
              <a:t> inode </a:t>
            </a:r>
            <a:r>
              <a:rPr sz="1400"/>
              <a:t>更新属于某个</a:t>
            </a:r>
            <a:r>
              <a:rPr sz="1400"/>
              <a:t> transaction</a:t>
            </a:r>
            <a:endParaRPr sz="1400"/>
          </a:p>
          <a:p>
            <a:endParaRPr sz="1400"/>
          </a:p>
          <a:p>
            <a:r>
              <a:rPr sz="1400"/>
              <a:t>恢复状态：</a:t>
            </a:r>
            <a:endParaRPr sz="1400"/>
          </a:p>
          <a:p>
            <a:r>
              <a:rPr sz="1400"/>
              <a:t>如果创建中途失败，</a:t>
            </a:r>
            <a:r>
              <a:rPr sz="1400"/>
              <a:t>inode 100 </a:t>
            </a:r>
            <a:r>
              <a:rPr sz="1400"/>
              <a:t>可能进入</a:t>
            </a:r>
            <a:r>
              <a:rPr sz="1400"/>
              <a:t> orphan list</a:t>
            </a:r>
            <a:endParaRPr sz="1400"/>
          </a:p>
          <a:p>
            <a:endParaRPr sz="1400"/>
          </a:p>
          <a:p>
            <a:endParaRPr sz="1400"/>
          </a:p>
        </p:txBody>
      </p:sp>
      <p:sp>
        <p:nvSpPr>
          <p:cNvPr id="5" name="文本框 4"/>
          <p:cNvSpPr>
            <a:spLocks noGrp="1"/>
          </p:cNvSpPr>
          <p:nvPr/>
        </p:nvSpPr>
        <p:spPr>
          <a:xfrm>
            <a:off x="7059295" y="544830"/>
            <a:ext cx="4064000" cy="6339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400"/>
              <a:t>例子二：设备</a:t>
            </a:r>
            <a:r>
              <a:rPr sz="1400"/>
              <a:t> D </a:t>
            </a:r>
            <a:r>
              <a:rPr sz="1400"/>
              <a:t>已加入</a:t>
            </a:r>
            <a:r>
              <a:rPr sz="1400"/>
              <a:t> Btrfs </a:t>
            </a:r>
            <a:r>
              <a:rPr sz="1400"/>
              <a:t>文件系统</a:t>
            </a:r>
            <a:endParaRPr sz="1400"/>
          </a:p>
          <a:p>
            <a:endParaRPr sz="1400"/>
          </a:p>
          <a:p>
            <a:r>
              <a:rPr sz="1400"/>
              <a:t>从逻辑上看，事实很简单：</a:t>
            </a:r>
            <a:endParaRPr sz="1400"/>
          </a:p>
          <a:p>
            <a:r>
              <a:rPr sz="1400"/>
              <a:t>设备</a:t>
            </a:r>
            <a:r>
              <a:rPr sz="1400"/>
              <a:t> D </a:t>
            </a:r>
            <a:r>
              <a:rPr sz="1400"/>
              <a:t>是文件系统</a:t>
            </a:r>
            <a:r>
              <a:rPr sz="1400"/>
              <a:t> F </a:t>
            </a:r>
            <a:r>
              <a:rPr sz="1400"/>
              <a:t>的成员</a:t>
            </a:r>
            <a:endParaRPr sz="1400"/>
          </a:p>
          <a:p>
            <a:endParaRPr sz="1400"/>
          </a:p>
          <a:p>
            <a:r>
              <a:rPr sz="1400"/>
              <a:t>代码中可能同时使用：</a:t>
            </a:r>
            <a:endParaRPr sz="1400"/>
          </a:p>
          <a:p>
            <a:endParaRPr sz="1400"/>
          </a:p>
          <a:p>
            <a:r>
              <a:rPr sz="1400"/>
              <a:t>设备成员链表：</a:t>
            </a:r>
            <a:endParaRPr sz="1400"/>
          </a:p>
          <a:p>
            <a:r>
              <a:rPr sz="1400"/>
              <a:t>D ∈ F.devices</a:t>
            </a:r>
            <a:endParaRPr sz="1400"/>
          </a:p>
          <a:p>
            <a:endParaRPr sz="1400"/>
          </a:p>
          <a:p>
            <a:r>
              <a:rPr sz="1400"/>
              <a:t>设备数量：</a:t>
            </a:r>
            <a:endParaRPr sz="1400"/>
          </a:p>
          <a:p>
            <a:r>
              <a:rPr sz="1400"/>
              <a:t>F.num_devices </a:t>
            </a:r>
            <a:r>
              <a:rPr sz="1400"/>
              <a:t>增加</a:t>
            </a:r>
            <a:r>
              <a:rPr sz="1400"/>
              <a:t> 1</a:t>
            </a:r>
            <a:endParaRPr sz="1400"/>
          </a:p>
          <a:p>
            <a:endParaRPr sz="1400"/>
          </a:p>
          <a:p>
            <a:r>
              <a:rPr sz="1400"/>
              <a:t>活动设备指针：</a:t>
            </a:r>
            <a:endParaRPr sz="1400"/>
          </a:p>
          <a:p>
            <a:r>
              <a:rPr sz="1400"/>
              <a:t>F.latest_dev = D</a:t>
            </a:r>
            <a:endParaRPr sz="1400"/>
          </a:p>
          <a:p>
            <a:endParaRPr sz="1400"/>
          </a:p>
          <a:p>
            <a:r>
              <a:rPr sz="1400"/>
              <a:t>设备状态：</a:t>
            </a:r>
            <a:endParaRPr sz="1400"/>
          </a:p>
          <a:p>
            <a:r>
              <a:rPr sz="1400"/>
              <a:t>D.opened = true</a:t>
            </a:r>
            <a:endParaRPr sz="1400"/>
          </a:p>
          <a:p>
            <a:r>
              <a:rPr sz="1400"/>
              <a:t>D.writeable = true</a:t>
            </a:r>
            <a:endParaRPr sz="1400"/>
          </a:p>
          <a:p>
            <a:endParaRPr sz="1400"/>
          </a:p>
          <a:p>
            <a:r>
              <a:rPr sz="1400"/>
              <a:t>事务引用：</a:t>
            </a:r>
            <a:endParaRPr sz="1400"/>
          </a:p>
          <a:p>
            <a:r>
              <a:rPr sz="1400"/>
              <a:t>D </a:t>
            </a:r>
            <a:r>
              <a:rPr sz="1400"/>
              <a:t>被加入当前</a:t>
            </a:r>
            <a:r>
              <a:rPr sz="1400"/>
              <a:t> transaction </a:t>
            </a:r>
            <a:r>
              <a:rPr sz="1400"/>
              <a:t>的设备集合</a:t>
            </a:r>
            <a:endParaRPr sz="1400"/>
          </a:p>
          <a:p>
            <a:endParaRPr sz="1400"/>
          </a:p>
          <a:p>
            <a:r>
              <a:rPr sz="1400"/>
              <a:t>恢复或关闭状态：</a:t>
            </a:r>
            <a:endParaRPr sz="1400"/>
          </a:p>
          <a:p>
            <a:r>
              <a:rPr sz="1400"/>
              <a:t>失败后由</a:t>
            </a:r>
            <a:r>
              <a:rPr sz="1400"/>
              <a:t> teardown </a:t>
            </a:r>
            <a:r>
              <a:rPr sz="1400"/>
              <a:t>或</a:t>
            </a:r>
            <a:r>
              <a:rPr sz="1400"/>
              <a:t> transaction cleanup </a:t>
            </a:r>
            <a:r>
              <a:rPr sz="1400"/>
              <a:t>处理</a:t>
            </a:r>
            <a:r>
              <a:rPr sz="1400"/>
              <a:t> D</a:t>
            </a:r>
            <a:endParaRPr sz="1400"/>
          </a:p>
          <a:p>
            <a:endParaRPr sz="1400"/>
          </a:p>
          <a:p>
            <a:endParaRPr sz="14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-2"/>
          <p:cNvSpPr>
            <a:spLocks noGrp="1"/>
          </p:cNvSpPr>
          <p:nvPr/>
        </p:nvSpPr>
        <p:spPr>
          <a:xfrm>
            <a:off x="209550" y="228600"/>
            <a:ext cx="11238865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3225" b="1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00"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Bug 暴露</a:t>
            </a:r>
            <a:r>
              <a:rPr sz="1800"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的</a:t>
            </a:r>
            <a:r>
              <a:rPr sz="1800"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研究缺口</a:t>
            </a:r>
            <a:endParaRPr sz="1800" b="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page-2"/>
          <p:cNvSpPr>
            <a:spLocks noGrp="1"/>
          </p:cNvSpPr>
          <p:nvPr/>
        </p:nvSpPr>
        <p:spPr>
          <a:xfrm>
            <a:off x="11143670" y="6324449"/>
            <a:ext cx="647666" cy="22858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buNone/>
              <a:defRPr sz="1050" b="0">
                <a:solidFill>
                  <a:srgbClr val="5F667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b="0">
                <a:solidFill>
                  <a:srgbClr val="5F667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02</a:t>
            </a:r>
            <a:endParaRPr b="0">
              <a:solidFill>
                <a:srgbClr val="5F667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motivation-lead"/>
          <p:cNvSpPr>
            <a:spLocks noGrp="1"/>
          </p:cNvSpPr>
          <p:nvPr/>
        </p:nvSpPr>
        <p:spPr>
          <a:xfrm>
            <a:off x="350499" y="828766"/>
            <a:ext cx="11048425" cy="52384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2175" b="1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00"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问题不只是“忘了 cleanup”，而是返回结果、元数据完成程度与恢复责任不一致。</a:t>
            </a:r>
            <a:endParaRPr sz="1600" b="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bug-outcome-panel"/>
          <p:cNvSpPr>
            <a:spLocks noGrp="1"/>
          </p:cNvSpPr>
          <p:nvPr/>
        </p:nvSpPr>
        <p:spPr>
          <a:xfrm>
            <a:off x="399394" y="1476421"/>
            <a:ext cx="3428821" cy="2571616"/>
          </a:xfrm>
          <a:prstGeom prst="rect">
            <a:avLst/>
          </a:prstGeom>
          <a:solidFill>
            <a:srgbClr val="F6F7F8"/>
          </a:solidFill>
          <a:ln w="0">
            <a:noFill/>
            <a:prstDash val="solid"/>
          </a:ln>
        </p:spPr>
      </p:sp>
      <p:sp>
        <p:nvSpPr>
          <p:cNvPr id="7" name="bug-outcome-title"/>
          <p:cNvSpPr>
            <a:spLocks noGrp="1"/>
          </p:cNvSpPr>
          <p:nvPr/>
        </p:nvSpPr>
        <p:spPr>
          <a:xfrm>
            <a:off x="627982" y="1685960"/>
            <a:ext cx="2971645" cy="361931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875" b="1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00" b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6 个 Outcome Bug</a:t>
            </a:r>
            <a:endParaRPr sz="1600" b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bug-outcome-body"/>
          <p:cNvSpPr>
            <a:spLocks noGrp="1"/>
          </p:cNvSpPr>
          <p:nvPr/>
        </p:nvSpPr>
        <p:spPr>
          <a:xfrm>
            <a:off x="627982" y="2162185"/>
            <a:ext cx="2971645" cy="169536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500"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#1/#2/#4/#5/#8/#13</a:t>
            </a:r>
            <a:endParaRPr sz="160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buNone/>
              <a:defRPr sz="1500"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元数据 transition 失败却报成功，或重试成功后仍返回旧错误。</a:t>
            </a:r>
            <a:endParaRPr sz="160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bug-relation-panel"/>
          <p:cNvSpPr>
            <a:spLocks noGrp="1"/>
          </p:cNvSpPr>
          <p:nvPr/>
        </p:nvSpPr>
        <p:spPr>
          <a:xfrm>
            <a:off x="4380637" y="1476421"/>
            <a:ext cx="3428821" cy="2571616"/>
          </a:xfrm>
          <a:prstGeom prst="rect">
            <a:avLst/>
          </a:prstGeom>
          <a:solidFill>
            <a:srgbClr val="F6F7F8"/>
          </a:solidFill>
          <a:ln w="0">
            <a:noFill/>
            <a:prstDash val="solid"/>
          </a:ln>
        </p:spPr>
      </p:sp>
      <p:sp>
        <p:nvSpPr>
          <p:cNvPr id="10" name="bug-relation-title"/>
          <p:cNvSpPr>
            <a:spLocks noGrp="1"/>
          </p:cNvSpPr>
          <p:nvPr/>
        </p:nvSpPr>
        <p:spPr>
          <a:xfrm>
            <a:off x="4609225" y="1685960"/>
            <a:ext cx="2971645" cy="361931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875" b="1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00" b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6 个跨对象问题</a:t>
            </a:r>
            <a:endParaRPr sz="1600" b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bug-relation-body"/>
          <p:cNvSpPr>
            <a:spLocks noGrp="1"/>
          </p:cNvSpPr>
          <p:nvPr/>
        </p:nvSpPr>
        <p:spPr>
          <a:xfrm>
            <a:off x="4609225" y="2162185"/>
            <a:ext cx="2971645" cy="169536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500"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#7/#16/#17/#18/P1/P3</a:t>
            </a:r>
            <a:endParaRPr sz="160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buNone/>
              <a:defRPr sz="1500"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设备拓扑、active pointer、transaction list 或阶段标记停在非法组合。</a:t>
            </a:r>
            <a:endParaRPr sz="160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bug-companion-panel"/>
          <p:cNvSpPr>
            <a:spLocks noGrp="1"/>
          </p:cNvSpPr>
          <p:nvPr/>
        </p:nvSpPr>
        <p:spPr>
          <a:xfrm>
            <a:off x="8361879" y="1476421"/>
            <a:ext cx="3428821" cy="2571616"/>
          </a:xfrm>
          <a:prstGeom prst="rect">
            <a:avLst/>
          </a:prstGeom>
          <a:solidFill>
            <a:schemeClr val="bg2"/>
          </a:solidFill>
          <a:ln w="0">
            <a:noFill/>
            <a:prstDash val="solid"/>
          </a:ln>
        </p:spPr>
      </p:sp>
      <p:sp>
        <p:nvSpPr>
          <p:cNvPr id="13" name="bug-companion-title"/>
          <p:cNvSpPr>
            <a:spLocks noGrp="1"/>
          </p:cNvSpPr>
          <p:nvPr/>
        </p:nvSpPr>
        <p:spPr>
          <a:xfrm>
            <a:off x="8590468" y="1685960"/>
            <a:ext cx="2971645" cy="361931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875" b="1">
                <a:solidFill>
                  <a:srgbClr val="3D8D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00" b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 个伴随义务缺失</a:t>
            </a:r>
            <a:endParaRPr sz="1600" b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bug-companion-body"/>
          <p:cNvSpPr>
            <a:spLocks noGrp="1"/>
          </p:cNvSpPr>
          <p:nvPr/>
        </p:nvSpPr>
        <p:spPr>
          <a:xfrm>
            <a:off x="8590468" y="2162185"/>
            <a:ext cx="2971645" cy="169536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500"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#15</a:t>
            </a:r>
            <a:endParaRPr sz="160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buNone/>
              <a:defRPr sz="1500"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chunk 已创建，但协议要求的 metadata reservation 完全没有执行。</a:t>
            </a:r>
            <a:endParaRPr sz="160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0" name="eyebrow-8"/>
          <p:cNvSpPr>
            <a:spLocks noGrp="1"/>
          </p:cNvSpPr>
          <p:nvPr/>
        </p:nvSpPr>
        <p:spPr>
          <a:xfrm>
            <a:off x="400029" y="285914"/>
            <a:ext cx="4571762" cy="32383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350" b="1">
                <a:solidFill>
                  <a:srgbClr val="5F667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</a:p>
        </p:txBody>
      </p:sp>
      <p:sp>
        <p:nvSpPr>
          <p:cNvPr id="2" name="title-8"/>
          <p:cNvSpPr>
            <a:spLocks noGrp="1"/>
          </p:cNvSpPr>
          <p:nvPr/>
        </p:nvSpPr>
        <p:spPr>
          <a:xfrm>
            <a:off x="400029" y="704992"/>
            <a:ext cx="11238915" cy="6857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3225" b="1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00"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从内核源码到协议违例证据链</a:t>
            </a:r>
            <a:endParaRPr sz="1800" b="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64" name="tool-input-arrow"/>
          <p:cNvCxnSpPr/>
          <p:nvPr/>
        </p:nvCxnSpPr>
        <p:spPr>
          <a:xfrm>
            <a:off x="2781155" y="3305181"/>
            <a:ext cx="514323" cy="95"/>
          </a:xfrm>
          <a:prstGeom prst="straightConnector1">
            <a:avLst/>
          </a:prstGeom>
          <a:ln w="28575">
            <a:solidFill>
              <a:schemeClr val="tx1"/>
            </a:solidFill>
            <a:prstDash val="solid"/>
          </a:ln>
        </p:spPr>
      </p:cxnSp>
      <p:cxnSp>
        <p:nvCxnSpPr>
          <p:cNvPr id="65" name="tool-output-arrow"/>
          <p:cNvCxnSpPr/>
          <p:nvPr/>
        </p:nvCxnSpPr>
        <p:spPr>
          <a:xfrm>
            <a:off x="8895887" y="3305181"/>
            <a:ext cx="419078" cy="95"/>
          </a:xfrm>
          <a:prstGeom prst="straightConnector1">
            <a:avLst/>
          </a:prstGeom>
          <a:ln w="28575">
            <a:solidFill>
              <a:schemeClr val="tx1"/>
            </a:solidFill>
            <a:prstDash val="solid"/>
          </a:ln>
        </p:spPr>
      </p:cxnSp>
      <p:sp>
        <p:nvSpPr>
          <p:cNvPr id="7" name="tool-input-panel"/>
          <p:cNvSpPr>
            <a:spLocks noGrp="1"/>
          </p:cNvSpPr>
          <p:nvPr/>
        </p:nvSpPr>
        <p:spPr>
          <a:xfrm>
            <a:off x="400029" y="2152716"/>
            <a:ext cx="2381126" cy="2609714"/>
          </a:xfrm>
          <a:prstGeom prst="rect">
            <a:avLst/>
          </a:prstGeom>
          <a:solidFill>
            <a:srgbClr val="F6F7F8"/>
          </a:solidFill>
          <a:ln w="0">
            <a:noFill/>
            <a:prstDash val="solid"/>
          </a:ln>
        </p:spPr>
      </p:sp>
      <p:sp>
        <p:nvSpPr>
          <p:cNvPr id="8" name="tool-input-title"/>
          <p:cNvSpPr>
            <a:spLocks noGrp="1"/>
          </p:cNvSpPr>
          <p:nvPr/>
        </p:nvSpPr>
        <p:spPr>
          <a:xfrm>
            <a:off x="628617" y="2362256"/>
            <a:ext cx="1923950" cy="361931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875" b="1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b="1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输入</a:t>
            </a:r>
            <a:endParaRPr b="1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tool-input-body"/>
          <p:cNvSpPr>
            <a:spLocks noGrp="1"/>
          </p:cNvSpPr>
          <p:nvPr/>
        </p:nvSpPr>
        <p:spPr>
          <a:xfrm>
            <a:off x="628617" y="2838481"/>
            <a:ext cx="1923950" cy="17334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500"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Linux 文件系统源码</a:t>
            </a:r>
            <a:endParaRPr b="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buNone/>
              <a:defRPr sz="1500"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受限元数据协议规格</a:t>
            </a:r>
            <a:endParaRPr b="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tool-engine"/>
          <p:cNvSpPr>
            <a:spLocks noGrp="1"/>
          </p:cNvSpPr>
          <p:nvPr/>
        </p:nvSpPr>
        <p:spPr>
          <a:xfrm>
            <a:off x="3295478" y="1809834"/>
            <a:ext cx="5600408" cy="3295478"/>
          </a:xfrm>
          <a:prstGeom prst="rect">
            <a:avLst/>
          </a:prstGeom>
          <a:solidFill>
            <a:schemeClr val="bg2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11" name="tool-engine-title"/>
          <p:cNvSpPr>
            <a:spLocks noGrp="1"/>
          </p:cNvSpPr>
          <p:nvPr/>
        </p:nvSpPr>
        <p:spPr>
          <a:xfrm>
            <a:off x="3562164" y="2019373"/>
            <a:ext cx="4952742" cy="34288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2025" b="1">
                <a:solidFill>
                  <a:srgbClr val="3D8D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分析引擎</a:t>
            </a:r>
            <a:endParaRPr b="1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tool-stage-0"/>
          <p:cNvSpPr>
            <a:spLocks noGrp="1"/>
          </p:cNvSpPr>
          <p:nvPr/>
        </p:nvSpPr>
        <p:spPr>
          <a:xfrm>
            <a:off x="3562164" y="2647991"/>
            <a:ext cx="1104842" cy="857205"/>
          </a:xfrm>
          <a:prstGeom prst="rect">
            <a:avLst/>
          </a:prstGeom>
          <a:solidFill>
            <a:srgbClr val="FFFFFF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3" name="tool-stage-num-0"/>
          <p:cNvSpPr>
            <a:spLocks noGrp="1"/>
          </p:cNvSpPr>
          <p:nvPr/>
        </p:nvSpPr>
        <p:spPr>
          <a:xfrm>
            <a:off x="3676459" y="2743236"/>
            <a:ext cx="266686" cy="24763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275" b="1">
                <a:solidFill>
                  <a:srgbClr val="3D8D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</a:t>
            </a:r>
            <a:endParaRPr b="1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tool-stage-name-0"/>
          <p:cNvSpPr>
            <a:spLocks noGrp="1"/>
          </p:cNvSpPr>
          <p:nvPr/>
        </p:nvSpPr>
        <p:spPr>
          <a:xfrm>
            <a:off x="3676459" y="3048020"/>
            <a:ext cx="895303" cy="28573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275" b="1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b="1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错误</a:t>
            </a:r>
            <a:r>
              <a:rPr b="1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提取</a:t>
            </a:r>
            <a:endParaRPr b="1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5" name="tool-stage-1"/>
          <p:cNvSpPr>
            <a:spLocks noGrp="1"/>
          </p:cNvSpPr>
          <p:nvPr/>
        </p:nvSpPr>
        <p:spPr>
          <a:xfrm>
            <a:off x="4819399" y="2647991"/>
            <a:ext cx="1104842" cy="857205"/>
          </a:xfrm>
          <a:prstGeom prst="rect">
            <a:avLst/>
          </a:prstGeom>
          <a:solidFill>
            <a:srgbClr val="F6F7F8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16" name="tool-stage-num-1"/>
          <p:cNvSpPr>
            <a:spLocks noGrp="1"/>
          </p:cNvSpPr>
          <p:nvPr/>
        </p:nvSpPr>
        <p:spPr>
          <a:xfrm>
            <a:off x="4933693" y="2743236"/>
            <a:ext cx="266686" cy="24763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275" b="1">
                <a:solidFill>
                  <a:srgbClr val="3D8D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</a:t>
            </a:r>
            <a:endParaRPr b="1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tool-stage-name-1"/>
          <p:cNvSpPr>
            <a:spLocks noGrp="1"/>
          </p:cNvSpPr>
          <p:nvPr/>
        </p:nvSpPr>
        <p:spPr>
          <a:xfrm>
            <a:off x="4933693" y="3048020"/>
            <a:ext cx="895303" cy="28573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275" b="1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类型化</a:t>
            </a:r>
            <a:endParaRPr b="1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" name="tool-stage-2"/>
          <p:cNvSpPr>
            <a:spLocks noGrp="1"/>
          </p:cNvSpPr>
          <p:nvPr/>
        </p:nvSpPr>
        <p:spPr>
          <a:xfrm>
            <a:off x="6076633" y="2647991"/>
            <a:ext cx="1104842" cy="857205"/>
          </a:xfrm>
          <a:prstGeom prst="rect">
            <a:avLst/>
          </a:prstGeom>
          <a:solidFill>
            <a:srgbClr val="F6F7F8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19" name="tool-stage-num-2"/>
          <p:cNvSpPr>
            <a:spLocks noGrp="1"/>
          </p:cNvSpPr>
          <p:nvPr/>
        </p:nvSpPr>
        <p:spPr>
          <a:xfrm>
            <a:off x="6190928" y="2743236"/>
            <a:ext cx="266686" cy="24763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275" b="1">
                <a:solidFill>
                  <a:srgbClr val="3D8D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</a:t>
            </a:r>
            <a:endParaRPr b="1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0" name="tool-stage-name-2"/>
          <p:cNvSpPr>
            <a:spLocks noGrp="1"/>
          </p:cNvSpPr>
          <p:nvPr/>
        </p:nvSpPr>
        <p:spPr>
          <a:xfrm>
            <a:off x="6190928" y="3048020"/>
            <a:ext cx="895303" cy="28573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275" b="1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b="1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协议</a:t>
            </a:r>
            <a:r>
              <a:rPr b="1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重建</a:t>
            </a:r>
            <a:endParaRPr b="1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1" name="tool-stage-3"/>
          <p:cNvSpPr>
            <a:spLocks noGrp="1"/>
          </p:cNvSpPr>
          <p:nvPr/>
        </p:nvSpPr>
        <p:spPr>
          <a:xfrm>
            <a:off x="7333868" y="2647991"/>
            <a:ext cx="1104842" cy="857205"/>
          </a:xfrm>
          <a:prstGeom prst="rect">
            <a:avLst/>
          </a:prstGeom>
          <a:solidFill>
            <a:srgbClr val="F6F7F8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22" name="tool-stage-num-3"/>
          <p:cNvSpPr>
            <a:spLocks noGrp="1"/>
          </p:cNvSpPr>
          <p:nvPr/>
        </p:nvSpPr>
        <p:spPr>
          <a:xfrm>
            <a:off x="7448162" y="2743236"/>
            <a:ext cx="266686" cy="24763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275" b="1">
                <a:solidFill>
                  <a:srgbClr val="3D8D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</a:t>
            </a:r>
            <a:endParaRPr b="1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3" name="tool-stage-name-3"/>
          <p:cNvSpPr>
            <a:spLocks noGrp="1"/>
          </p:cNvSpPr>
          <p:nvPr/>
        </p:nvSpPr>
        <p:spPr>
          <a:xfrm>
            <a:off x="7448162" y="3048020"/>
            <a:ext cx="895303" cy="28573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275" b="1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b="1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状态</a:t>
            </a:r>
            <a:r>
              <a:rPr b="1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检查</a:t>
            </a:r>
            <a:endParaRPr b="1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7" name="tool-stage-5"/>
          <p:cNvSpPr>
            <a:spLocks noGrp="1"/>
          </p:cNvSpPr>
          <p:nvPr/>
        </p:nvSpPr>
        <p:spPr>
          <a:xfrm>
            <a:off x="6029074" y="3848078"/>
            <a:ext cx="1104842" cy="857205"/>
          </a:xfrm>
          <a:prstGeom prst="rect">
            <a:avLst/>
          </a:prstGeom>
          <a:solidFill>
            <a:srgbClr val="F6F7F8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28" name="tool-stage-num-5"/>
          <p:cNvSpPr>
            <a:spLocks noGrp="1"/>
          </p:cNvSpPr>
          <p:nvPr/>
        </p:nvSpPr>
        <p:spPr>
          <a:xfrm>
            <a:off x="6143368" y="3943323"/>
            <a:ext cx="266686" cy="24763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275" b="1">
                <a:solidFill>
                  <a:srgbClr val="3D8D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7</a:t>
            </a:r>
            <a:endParaRPr b="1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9" name="tool-stage-name-5"/>
          <p:cNvSpPr>
            <a:spLocks noGrp="1"/>
          </p:cNvSpPr>
          <p:nvPr/>
        </p:nvSpPr>
        <p:spPr>
          <a:xfrm>
            <a:off x="6143368" y="4248107"/>
            <a:ext cx="895303" cy="28573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275" b="1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b="1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边界结算</a:t>
            </a:r>
            <a:r>
              <a:rPr b="1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判定</a:t>
            </a:r>
            <a:endParaRPr b="1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0" name="tool-stage-6"/>
          <p:cNvSpPr>
            <a:spLocks noGrp="1"/>
          </p:cNvSpPr>
          <p:nvPr/>
        </p:nvSpPr>
        <p:spPr>
          <a:xfrm>
            <a:off x="4805363" y="3848078"/>
            <a:ext cx="1104842" cy="857205"/>
          </a:xfrm>
          <a:prstGeom prst="rect">
            <a:avLst/>
          </a:prstGeom>
          <a:solidFill>
            <a:srgbClr val="F6F7F8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31" name="tool-stage-num-6"/>
          <p:cNvSpPr>
            <a:spLocks noGrp="1"/>
          </p:cNvSpPr>
          <p:nvPr/>
        </p:nvSpPr>
        <p:spPr>
          <a:xfrm>
            <a:off x="4919658" y="3943323"/>
            <a:ext cx="266686" cy="24763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275" b="1">
                <a:solidFill>
                  <a:srgbClr val="3D8D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6</a:t>
            </a:r>
            <a:endParaRPr b="1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2" name="tool-stage-name-6"/>
          <p:cNvSpPr>
            <a:spLocks noGrp="1"/>
          </p:cNvSpPr>
          <p:nvPr/>
        </p:nvSpPr>
        <p:spPr>
          <a:xfrm>
            <a:off x="4919658" y="4248107"/>
            <a:ext cx="895303" cy="28573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275" b="1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b="1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责任传播</a:t>
            </a:r>
            <a:endParaRPr b="1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3" name="tool-stage-7"/>
          <p:cNvSpPr>
            <a:spLocks noGrp="1"/>
          </p:cNvSpPr>
          <p:nvPr/>
        </p:nvSpPr>
        <p:spPr>
          <a:xfrm>
            <a:off x="3581653" y="3848078"/>
            <a:ext cx="1104842" cy="857205"/>
          </a:xfrm>
          <a:prstGeom prst="rect">
            <a:avLst/>
          </a:prstGeom>
          <a:solidFill>
            <a:srgbClr val="F6F7F8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34" name="tool-stage-num-7"/>
          <p:cNvSpPr>
            <a:spLocks noGrp="1"/>
          </p:cNvSpPr>
          <p:nvPr/>
        </p:nvSpPr>
        <p:spPr>
          <a:xfrm>
            <a:off x="3695947" y="3943323"/>
            <a:ext cx="266686" cy="24763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275" b="1">
                <a:solidFill>
                  <a:srgbClr val="3D8D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</a:t>
            </a:r>
            <a:endParaRPr b="1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5" name="tool-stage-name-7"/>
          <p:cNvSpPr>
            <a:spLocks noGrp="1"/>
          </p:cNvSpPr>
          <p:nvPr/>
        </p:nvSpPr>
        <p:spPr>
          <a:xfrm>
            <a:off x="3695947" y="4248107"/>
            <a:ext cx="895303" cy="28573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275" b="1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b="1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义务生成</a:t>
            </a:r>
            <a:endParaRPr b="1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6" name="tool-output-panel"/>
          <p:cNvSpPr>
            <a:spLocks noGrp="1"/>
          </p:cNvSpPr>
          <p:nvPr/>
        </p:nvSpPr>
        <p:spPr>
          <a:xfrm>
            <a:off x="9314965" y="2152716"/>
            <a:ext cx="2476371" cy="2609714"/>
          </a:xfrm>
          <a:prstGeom prst="rect">
            <a:avLst/>
          </a:prstGeom>
          <a:solidFill>
            <a:srgbClr val="F6F7F8"/>
          </a:solidFill>
          <a:ln w="0">
            <a:noFill/>
            <a:prstDash val="solid"/>
          </a:ln>
        </p:spPr>
      </p:sp>
      <p:sp>
        <p:nvSpPr>
          <p:cNvPr id="37" name="tool-output-title"/>
          <p:cNvSpPr>
            <a:spLocks noGrp="1"/>
          </p:cNvSpPr>
          <p:nvPr/>
        </p:nvSpPr>
        <p:spPr>
          <a:xfrm>
            <a:off x="9543553" y="2362256"/>
            <a:ext cx="2019195" cy="361931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875" b="1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b="1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输出</a:t>
            </a:r>
            <a:endParaRPr b="1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8" name="tool-output-body"/>
          <p:cNvSpPr>
            <a:spLocks noGrp="1"/>
          </p:cNvSpPr>
          <p:nvPr/>
        </p:nvSpPr>
        <p:spPr>
          <a:xfrm>
            <a:off x="9543553" y="2838481"/>
            <a:ext cx="2019195" cy="17334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500"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协议违例 witness</a:t>
            </a:r>
            <a:endParaRPr b="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buNone/>
              <a:defRPr sz="1500"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可能问题与 UNKNOWN</a:t>
            </a:r>
            <a:endParaRPr b="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buNone/>
              <a:defRPr sz="1500"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规格内一致性结果</a:t>
            </a:r>
            <a:endParaRPr b="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buNone/>
              <a:defRPr sz="1500"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可审计 proof chain</a:t>
            </a:r>
            <a:endParaRPr b="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-9"/>
          <p:cNvSpPr>
            <a:spLocks noGrp="1"/>
          </p:cNvSpPr>
          <p:nvPr/>
        </p:nvSpPr>
        <p:spPr>
          <a:xfrm>
            <a:off x="295275" y="161290"/>
            <a:ext cx="11162665" cy="5562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3225" b="1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00"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类型化</a:t>
            </a:r>
            <a:endParaRPr sz="1800" b="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文本框 2"/>
          <p:cNvSpPr>
            <a:spLocks noGrp="1"/>
          </p:cNvSpPr>
          <p:nvPr/>
        </p:nvSpPr>
        <p:spPr>
          <a:xfrm>
            <a:off x="400050" y="717550"/>
            <a:ext cx="9196705" cy="41846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t>类型化，就是把一条模糊的源码修改，翻译成一条结构明确、可以参与推理的元数据事实。</a:t>
            </a:r>
          </a:p>
        </p:txBody>
      </p:sp>
      <p:sp>
        <p:nvSpPr>
          <p:cNvPr id="5" name="文本框 4"/>
          <p:cNvSpPr>
            <a:spLocks noGrp="1"/>
          </p:cNvSpPr>
          <p:nvPr/>
        </p:nvSpPr>
        <p:spPr>
          <a:xfrm>
            <a:off x="555625" y="1283335"/>
            <a:ext cx="9305925" cy="56235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t>类型化前：</a:t>
            </a:r>
          </a:p>
          <a:p>
            <a:r>
              <a:t>latest_dev = device</a:t>
            </a:r>
          </a:p>
          <a:p>
            <a:r>
              <a:t>free(device)</a:t>
            </a:r>
          </a:p>
          <a:p>
            <a:r>
              <a:t>它们只是两条孤立的源码操作。</a:t>
            </a:r>
          </a:p>
          <a:p/>
          <a:p>
            <a:r>
              <a:t>类型化后：</a:t>
            </a:r>
          </a:p>
          <a:p>
            <a:r>
              <a:t>POINTER_BIND(</a:t>
            </a:r>
          </a:p>
          <a:p>
            <a:r>
              <a:t>    role   = ACTIVE_DEVICE_POINTER,</a:t>
            </a:r>
          </a:p>
          <a:p>
            <a:r>
              <a:t>    target = new_device#7</a:t>
            </a:r>
          </a:p>
          <a:p>
            <a:r>
              <a:t>)</a:t>
            </a:r>
          </a:p>
          <a:p/>
          <a:p>
            <a:r>
              <a:t>OWNER_FREE(</a:t>
            </a:r>
          </a:p>
          <a:p>
            <a:r>
              <a:t>    object = new_device#7</a:t>
            </a:r>
          </a:p>
          <a:p>
            <a:r>
              <a:t>)</a:t>
            </a:r>
          </a:p>
          <a:p>
            <a:r>
              <a:t>工具就可以联合推理：</a:t>
            </a:r>
          </a:p>
          <a:p>
            <a:r>
              <a:t>active pointer </a:t>
            </a:r>
            <a:r>
              <a:t>→</a:t>
            </a:r>
            <a:r>
              <a:t> new_device#7</a:t>
            </a:r>
          </a:p>
          <a:p>
            <a:r>
              <a:t>alive(new_device#7) = false</a:t>
            </a:r>
          </a:p>
          <a:p/>
          <a:p>
            <a:r>
              <a:t>→</a:t>
            </a:r>
            <a:r>
              <a:t> </a:t>
            </a:r>
            <a:r>
              <a:t>活动设备指针指向已释放对象</a:t>
            </a:r>
          </a:p>
          <a:p>
            <a:r>
              <a:t>→</a:t>
            </a:r>
            <a:r>
              <a:t> InvalidRelation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-10"/>
          <p:cNvSpPr>
            <a:spLocks noGrp="1"/>
          </p:cNvSpPr>
          <p:nvPr/>
        </p:nvSpPr>
        <p:spPr>
          <a:xfrm>
            <a:off x="398780" y="114300"/>
            <a:ext cx="11240135" cy="40195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3225" b="1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00"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实例</a:t>
            </a:r>
            <a:r>
              <a:rPr sz="1800"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重建：识别同一次元数据操作</a:t>
            </a:r>
            <a:endParaRPr sz="1800" b="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文本框 2"/>
          <p:cNvSpPr>
            <a:spLocks noGrp="1"/>
          </p:cNvSpPr>
          <p:nvPr/>
        </p:nvSpPr>
        <p:spPr>
          <a:xfrm>
            <a:off x="487680" y="812800"/>
            <a:ext cx="9491980" cy="90297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t>实例重建就是把分散在不同函数、字段和对象上的事件，判断为</a:t>
            </a:r>
            <a:r>
              <a:t>“</a:t>
            </a:r>
            <a:r>
              <a:t>属于同一次文件系统元数据操作</a:t>
            </a:r>
            <a:r>
              <a:t>”</a:t>
            </a:r>
            <a:r>
              <a:t>，并把它们组合成一个可跟踪的协议实例。</a:t>
            </a:r>
          </a:p>
        </p:txBody>
      </p:sp>
      <p:sp>
        <p:nvSpPr>
          <p:cNvPr id="17" name="文本框 16"/>
          <p:cNvSpPr>
            <a:spLocks noGrp="1"/>
          </p:cNvSpPr>
          <p:nvPr/>
        </p:nvSpPr>
        <p:spPr>
          <a:xfrm>
            <a:off x="326390" y="1492250"/>
            <a:ext cx="5004435" cy="482409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t>以</a:t>
            </a:r>
            <a:r>
              <a:t> Btrfs </a:t>
            </a:r>
            <a:r>
              <a:t>添加设备为例，源码中可能分别出现：</a:t>
            </a:r>
          </a:p>
          <a:p>
            <a:r>
              <a:t>函数</a:t>
            </a:r>
            <a:r>
              <a:t> A</a:t>
            </a:r>
            <a:r>
              <a:t>：设备加入</a:t>
            </a:r>
            <a:r>
              <a:t> device list</a:t>
            </a:r>
          </a:p>
          <a:p>
            <a:r>
              <a:t>函数</a:t>
            </a:r>
            <a:r>
              <a:t> B</a:t>
            </a:r>
            <a:r>
              <a:t>：</a:t>
            </a:r>
            <a:r>
              <a:t>num_devices </a:t>
            </a:r>
            <a:r>
              <a:t>加一</a:t>
            </a:r>
          </a:p>
          <a:p>
            <a:r>
              <a:t>函数</a:t>
            </a:r>
            <a:r>
              <a:t> C</a:t>
            </a:r>
            <a:r>
              <a:t>：</a:t>
            </a:r>
            <a:r>
              <a:t>latest_dev </a:t>
            </a:r>
            <a:r>
              <a:t>指向新设备</a:t>
            </a:r>
          </a:p>
          <a:p>
            <a:r>
              <a:t>函数</a:t>
            </a:r>
            <a:r>
              <a:t> D</a:t>
            </a:r>
            <a:r>
              <a:t>：设备加入</a:t>
            </a:r>
            <a:r>
              <a:t> transaction update list</a:t>
            </a:r>
          </a:p>
          <a:p>
            <a:r>
              <a:t>函数</a:t>
            </a:r>
            <a:r>
              <a:t> E</a:t>
            </a:r>
            <a:r>
              <a:t>：失败后释放新设备</a:t>
            </a:r>
          </a:p>
          <a:p/>
          <a:p>
            <a:r>
              <a:t>类型化之后得到：</a:t>
            </a:r>
          </a:p>
          <a:p>
            <a:r>
              <a:t>MEMBER_ADD(devices, device)</a:t>
            </a:r>
          </a:p>
          <a:p>
            <a:r>
              <a:t>COUNTER_DELTA(num_devices, +1)</a:t>
            </a:r>
          </a:p>
          <a:p>
            <a:r>
              <a:t>POINTER_BIND(latest_dev, device)</a:t>
            </a:r>
          </a:p>
          <a:p>
            <a:r>
              <a:t>TRANSACTION_ATTACH(trans, device)</a:t>
            </a:r>
          </a:p>
          <a:p>
            <a:r>
              <a:t>OWNER_FREE(device)</a:t>
            </a:r>
          </a:p>
          <a:p/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-11"/>
          <p:cNvSpPr>
            <a:spLocks noGrp="1"/>
          </p:cNvSpPr>
          <p:nvPr/>
        </p:nvSpPr>
        <p:spPr>
          <a:xfrm>
            <a:off x="403225" y="133350"/>
            <a:ext cx="11159490" cy="3835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3225" b="1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00"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协议</a:t>
            </a:r>
            <a:r>
              <a:rPr sz="1800"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状态</a:t>
            </a:r>
            <a:r>
              <a:rPr sz="1800"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检查</a:t>
            </a:r>
            <a:endParaRPr sz="1800" b="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文本框 4"/>
          <p:cNvSpPr>
            <a:spLocks noGrp="1"/>
          </p:cNvSpPr>
          <p:nvPr/>
        </p:nvSpPr>
        <p:spPr>
          <a:xfrm>
            <a:off x="599440" y="646430"/>
            <a:ext cx="7300595" cy="41783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t>某条路径上的元数据事件对协议抽象状态造成的变化。</a:t>
            </a:r>
          </a:p>
        </p:txBody>
      </p:sp>
      <p:sp>
        <p:nvSpPr>
          <p:cNvPr id="6" name="文本框 5"/>
          <p:cNvSpPr>
            <a:spLocks noGrp="1"/>
          </p:cNvSpPr>
          <p:nvPr/>
        </p:nvSpPr>
        <p:spPr>
          <a:xfrm>
            <a:off x="810260" y="1252220"/>
            <a:ext cx="406400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变化：</a:t>
            </a:r>
            <a:br/>
            <a:r>
              <a:t>1.</a:t>
            </a:r>
            <a:r>
              <a:t>计数变化</a:t>
            </a:r>
            <a:br/>
            <a:r>
              <a:t>2.</a:t>
            </a:r>
            <a:r>
              <a:t>成员集合变化</a:t>
            </a:r>
            <a:br/>
            <a:r>
              <a:t>3.bit/flag </a:t>
            </a:r>
            <a:r>
              <a:t>变化</a:t>
            </a:r>
          </a:p>
          <a:p>
            <a:r>
              <a:t>4.</a:t>
            </a:r>
            <a:r>
              <a:t>生命</a:t>
            </a:r>
            <a:r>
              <a:t>周期变化</a:t>
            </a:r>
          </a:p>
        </p:txBody>
      </p:sp>
      <p:sp>
        <p:nvSpPr>
          <p:cNvPr id="19" name="文本框 18"/>
          <p:cNvSpPr>
            <a:spLocks noGrp="1"/>
          </p:cNvSpPr>
          <p:nvPr/>
        </p:nvSpPr>
        <p:spPr>
          <a:xfrm>
            <a:off x="3554095" y="1336675"/>
            <a:ext cx="9225280" cy="130746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t>S0</a:t>
            </a:r>
            <a:r>
              <a:t>：操作开始前的合法状态，例如成员数与计数一致，</a:t>
            </a:r>
            <a:r>
              <a:t>active </a:t>
            </a:r>
            <a:r>
              <a:t>指向</a:t>
            </a:r>
            <a:r>
              <a:t> seed</a:t>
            </a:r>
            <a:r>
              <a:t>。</a:t>
            </a:r>
          </a:p>
          <a:p>
            <a:r>
              <a:t>Δ</a:t>
            </a:r>
            <a:r>
              <a:t>：当前路径造成的变化，例如加入成员、增加计数、切换指针、释放对象。</a:t>
            </a:r>
          </a:p>
          <a:p>
            <a:r>
              <a:t>义务：如果操作失败，就必须恢复相关关系，或者把恢复责任合法交给</a:t>
            </a:r>
            <a:r>
              <a:t> transaction/recovery</a:t>
            </a:r>
            <a:r>
              <a:t>。</a:t>
            </a:r>
          </a:p>
        </p:txBody>
      </p:sp>
      <p:sp>
        <p:nvSpPr>
          <p:cNvPr id="24" name="文本框 23"/>
          <p:cNvSpPr>
            <a:spLocks noGrp="1"/>
          </p:cNvSpPr>
          <p:nvPr/>
        </p:nvSpPr>
        <p:spPr>
          <a:xfrm>
            <a:off x="810260" y="3228975"/>
            <a:ext cx="10010775" cy="222377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t>主要有五类关系</a:t>
            </a:r>
          </a:p>
          <a:p>
            <a:r>
              <a:t>1. </a:t>
            </a:r>
            <a:r>
              <a:t>成员与计数关系</a:t>
            </a:r>
          </a:p>
          <a:p>
            <a:r>
              <a:t>2. </a:t>
            </a:r>
            <a:r>
              <a:t>指针与目标对象关系</a:t>
            </a:r>
          </a:p>
          <a:p>
            <a:r>
              <a:t>3. </a:t>
            </a:r>
            <a:r>
              <a:t>对象生命周期与外部引用关系</a:t>
            </a:r>
          </a:p>
          <a:p>
            <a:r>
              <a:t>4. Transaction/recovery </a:t>
            </a:r>
            <a:r>
              <a:t>与责任覆盖关系</a:t>
            </a:r>
          </a:p>
          <a:p>
            <a:r>
              <a:t>5. </a:t>
            </a:r>
            <a:r>
              <a:t>协议阶段与返回结果关系</a:t>
            </a:r>
          </a:p>
          <a:p/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-12"/>
          <p:cNvSpPr>
            <a:spLocks noGrp="1"/>
          </p:cNvSpPr>
          <p:nvPr/>
        </p:nvSpPr>
        <p:spPr>
          <a:xfrm>
            <a:off x="269875" y="95250"/>
            <a:ext cx="11226800" cy="42608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3225" b="1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00"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责任传播</a:t>
            </a:r>
            <a:endParaRPr sz="1800" b="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41" name="interproc-arrow-1"/>
          <p:cNvCxnSpPr/>
          <p:nvPr/>
        </p:nvCxnSpPr>
        <p:spPr>
          <a:xfrm>
            <a:off x="2835120" y="2017400"/>
            <a:ext cx="438127" cy="95"/>
          </a:xfrm>
          <a:prstGeom prst="straightConnector1">
            <a:avLst/>
          </a:prstGeom>
          <a:ln w="28575">
            <a:solidFill>
              <a:schemeClr val="tx1"/>
            </a:solidFill>
            <a:prstDash val="solid"/>
          </a:ln>
        </p:spPr>
      </p:cxnSp>
      <p:cxnSp>
        <p:nvCxnSpPr>
          <p:cNvPr id="42" name="interproc-arrow-2"/>
          <p:cNvCxnSpPr/>
          <p:nvPr/>
        </p:nvCxnSpPr>
        <p:spPr>
          <a:xfrm>
            <a:off x="5692471" y="2017400"/>
            <a:ext cx="438127" cy="95"/>
          </a:xfrm>
          <a:prstGeom prst="straightConnector1">
            <a:avLst/>
          </a:prstGeom>
          <a:ln w="28575">
            <a:solidFill>
              <a:schemeClr val="tx1"/>
            </a:solidFill>
            <a:prstDash val="solid"/>
          </a:ln>
        </p:spPr>
      </p:cxnSp>
      <p:sp>
        <p:nvSpPr>
          <p:cNvPr id="8" name="interproc-0-panel"/>
          <p:cNvSpPr>
            <a:spLocks noGrp="1"/>
          </p:cNvSpPr>
          <p:nvPr/>
        </p:nvSpPr>
        <p:spPr>
          <a:xfrm>
            <a:off x="263504" y="760165"/>
            <a:ext cx="2571616" cy="2381126"/>
          </a:xfrm>
          <a:prstGeom prst="rect">
            <a:avLst/>
          </a:prstGeom>
          <a:solidFill>
            <a:srgbClr val="F6F7F8"/>
          </a:solidFill>
          <a:ln w="0">
            <a:noFill/>
            <a:prstDash val="solid"/>
          </a:ln>
        </p:spPr>
      </p:sp>
      <p:sp>
        <p:nvSpPr>
          <p:cNvPr id="9" name="interproc-0-title"/>
          <p:cNvSpPr>
            <a:spLocks noGrp="1"/>
          </p:cNvSpPr>
          <p:nvPr/>
        </p:nvSpPr>
        <p:spPr>
          <a:xfrm>
            <a:off x="492092" y="969705"/>
            <a:ext cx="2114440" cy="361931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875" b="1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b="1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失败分区</a:t>
            </a:r>
            <a:endParaRPr b="1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interproc-0-body"/>
          <p:cNvSpPr>
            <a:spLocks noGrp="1"/>
          </p:cNvSpPr>
          <p:nvPr/>
        </p:nvSpPr>
        <p:spPr>
          <a:xfrm>
            <a:off x="492092" y="1445930"/>
            <a:ext cx="2114440" cy="15048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500"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首先确定</a:t>
            </a:r>
            <a:r>
              <a:rPr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callee </a:t>
            </a:r>
            <a:r>
              <a:rPr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究竟走了哪个错误出口。</a:t>
            </a:r>
            <a:endParaRPr b="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buNone/>
              <a:defRPr sz="1500"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一个函数可能有多个错误返回不同出口的元数据处理不一样。</a:t>
            </a:r>
            <a:endParaRPr b="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interproc-1-panel"/>
          <p:cNvSpPr>
            <a:spLocks noGrp="1"/>
          </p:cNvSpPr>
          <p:nvPr/>
        </p:nvSpPr>
        <p:spPr>
          <a:xfrm>
            <a:off x="3121025" y="760095"/>
            <a:ext cx="2555875" cy="4020820"/>
          </a:xfrm>
          <a:prstGeom prst="rect">
            <a:avLst/>
          </a:prstGeom>
          <a:solidFill>
            <a:srgbClr val="F6F7F8"/>
          </a:solidFill>
          <a:ln w="0">
            <a:noFill/>
            <a:prstDash val="solid"/>
          </a:ln>
        </p:spPr>
      </p:sp>
      <p:sp>
        <p:nvSpPr>
          <p:cNvPr id="12" name="interproc-1-title"/>
          <p:cNvSpPr>
            <a:spLocks noGrp="1"/>
          </p:cNvSpPr>
          <p:nvPr/>
        </p:nvSpPr>
        <p:spPr>
          <a:xfrm>
            <a:off x="3349443" y="969705"/>
            <a:ext cx="2114440" cy="361931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875" b="1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b="1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函数摘要</a:t>
            </a:r>
            <a:endParaRPr b="1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interproc-1-body"/>
          <p:cNvSpPr>
            <a:spLocks noGrp="1"/>
          </p:cNvSpPr>
          <p:nvPr/>
        </p:nvSpPr>
        <p:spPr>
          <a:xfrm>
            <a:off x="3349443" y="1445930"/>
            <a:ext cx="2114440" cy="15048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500"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确定错误出口后，</a:t>
            </a:r>
            <a:r>
              <a:rPr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callee </a:t>
            </a:r>
            <a:r>
              <a:rPr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导出一个协议摘要：</a:t>
            </a:r>
            <a:endParaRPr b="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buNone/>
              <a:defRPr sz="1500"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FactDelta:</a:t>
            </a:r>
            <a:endParaRPr b="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buNone/>
              <a:defRPr sz="1500"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</a:t>
            </a:r>
            <a:r>
              <a:rPr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修改了哪些协议事实</a:t>
            </a:r>
            <a:endParaRPr b="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buNone/>
              <a:defRPr sz="1500"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Phase:</a:t>
            </a:r>
            <a:endParaRPr b="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buNone/>
              <a:defRPr sz="1500"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</a:t>
            </a:r>
            <a:r>
              <a:rPr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协议推进到了哪个阶段</a:t>
            </a:r>
            <a:endParaRPr b="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buNone/>
              <a:defRPr sz="1500"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Obligation:</a:t>
            </a:r>
            <a:endParaRPr b="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buNone/>
              <a:defRPr sz="1500"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</a:t>
            </a:r>
            <a:r>
              <a:rPr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还有什么义务没有完成</a:t>
            </a:r>
            <a:endParaRPr b="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buNone/>
              <a:defRPr sz="1500"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Claim:</a:t>
            </a:r>
            <a:endParaRPr b="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buNone/>
              <a:defRPr sz="1500"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</a:t>
            </a:r>
            <a:r>
              <a:rPr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是否声明把义务交给其他主体</a:t>
            </a:r>
            <a:endParaRPr b="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interproc-3-panel"/>
          <p:cNvSpPr>
            <a:spLocks noGrp="1"/>
          </p:cNvSpPr>
          <p:nvPr/>
        </p:nvSpPr>
        <p:spPr>
          <a:xfrm>
            <a:off x="6239043" y="760165"/>
            <a:ext cx="2571616" cy="2381126"/>
          </a:xfrm>
          <a:prstGeom prst="rect">
            <a:avLst/>
          </a:prstGeom>
          <a:solidFill>
            <a:srgbClr val="F6F7F8"/>
          </a:solidFill>
          <a:ln w="0">
            <a:noFill/>
            <a:prstDash val="solid"/>
          </a:ln>
        </p:spPr>
      </p:sp>
      <p:sp>
        <p:nvSpPr>
          <p:cNvPr id="18" name="interproc-3-title"/>
          <p:cNvSpPr>
            <a:spLocks noGrp="1"/>
          </p:cNvSpPr>
          <p:nvPr/>
        </p:nvSpPr>
        <p:spPr>
          <a:xfrm>
            <a:off x="6467631" y="969705"/>
            <a:ext cx="2114440" cy="361931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875" b="1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b="1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责任声明</a:t>
            </a:r>
            <a:endParaRPr b="1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interproc-3-body"/>
          <p:cNvSpPr>
            <a:spLocks noGrp="1"/>
          </p:cNvSpPr>
          <p:nvPr/>
        </p:nvSpPr>
        <p:spPr>
          <a:xfrm>
            <a:off x="6467631" y="1445930"/>
            <a:ext cx="2114440" cy="15048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500"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义务传播到</a:t>
            </a:r>
            <a:r>
              <a:rPr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caller </a:t>
            </a:r>
            <a:r>
              <a:rPr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后，工具检查谁负责完成它。</a:t>
            </a:r>
            <a:endParaRPr b="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-13"/>
          <p:cNvSpPr>
            <a:spLocks noGrp="1"/>
          </p:cNvSpPr>
          <p:nvPr/>
        </p:nvSpPr>
        <p:spPr>
          <a:xfrm>
            <a:off x="403225" y="133350"/>
            <a:ext cx="11159490" cy="44577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3225" b="1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00"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协议结算</a:t>
            </a:r>
            <a:endParaRPr sz="1800" b="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文本框 2"/>
          <p:cNvSpPr>
            <a:spLocks noGrp="1"/>
          </p:cNvSpPr>
          <p:nvPr/>
        </p:nvSpPr>
        <p:spPr>
          <a:xfrm>
            <a:off x="636270" y="664845"/>
            <a:ext cx="5913120" cy="1412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/>
              <a:t>在这之前已经知道以下：</a:t>
            </a:r>
            <a:br>
              <a:rPr sz="1600"/>
            </a:br>
            <a:r>
              <a:rPr sz="1600"/>
              <a:t>当前分析的是哪个元数据协议实例</a:t>
            </a:r>
            <a:endParaRPr sz="1600"/>
          </a:p>
          <a:p>
            <a:r>
              <a:rPr sz="1600"/>
              <a:t>当前协议处于什么阶段</a:t>
            </a:r>
            <a:endParaRPr sz="1600"/>
          </a:p>
          <a:p>
            <a:r>
              <a:rPr sz="1600"/>
              <a:t>当前抽象元数据状态</a:t>
            </a:r>
            <a:endParaRPr sz="1600"/>
          </a:p>
          <a:p>
            <a:r>
              <a:rPr sz="1600"/>
              <a:t>尚未完成的协议义务</a:t>
            </a:r>
            <a:endParaRPr sz="1600"/>
          </a:p>
          <a:p>
            <a:r>
              <a:rPr sz="1600"/>
              <a:t>责任声明</a:t>
            </a:r>
            <a:endParaRPr sz="1600"/>
          </a:p>
          <a:p>
            <a:r>
              <a:rPr sz="1600"/>
              <a:t>函数最终返回结果</a:t>
            </a:r>
            <a:endParaRPr sz="1600"/>
          </a:p>
        </p:txBody>
      </p:sp>
      <p:sp>
        <p:nvSpPr>
          <p:cNvPr id="17" name="文本框 16"/>
          <p:cNvSpPr>
            <a:spLocks noGrp="1"/>
          </p:cNvSpPr>
          <p:nvPr/>
        </p:nvSpPr>
        <p:spPr>
          <a:xfrm>
            <a:off x="531495" y="2773045"/>
            <a:ext cx="5563870" cy="414147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/>
              <a:t>结算首先要回答：</a:t>
            </a:r>
            <a:endParaRPr sz="1600"/>
          </a:p>
          <a:p>
            <a:r>
              <a:rPr sz="1600"/>
              <a:t>现在是否已经到了必须判断协议是否合法的位置？</a:t>
            </a:r>
            <a:endParaRPr sz="1600"/>
          </a:p>
          <a:p>
            <a:endParaRPr sz="1600"/>
          </a:p>
          <a:p>
            <a:r>
              <a:rPr sz="1600"/>
              <a:t>五类结算边界。</a:t>
            </a:r>
            <a:endParaRPr sz="1600"/>
          </a:p>
          <a:p>
            <a:r>
              <a:rPr sz="1600"/>
              <a:t>1.</a:t>
            </a:r>
            <a:r>
              <a:rPr sz="1600"/>
              <a:t>完整文件系统操作即将返回。</a:t>
            </a:r>
            <a:endParaRPr sz="1600"/>
          </a:p>
          <a:p>
            <a:r>
              <a:rPr sz="1600"/>
              <a:t>2.</a:t>
            </a:r>
            <a:r>
              <a:rPr sz="1600"/>
              <a:t>协议参与对象即将被释放或销毁。</a:t>
            </a:r>
            <a:endParaRPr sz="1600"/>
          </a:p>
          <a:p>
            <a:r>
              <a:rPr sz="1600"/>
              <a:t>3.</a:t>
            </a:r>
            <a:r>
              <a:rPr sz="1600"/>
              <a:t>事务即将提交</a:t>
            </a:r>
            <a:endParaRPr sz="1600"/>
          </a:p>
          <a:p>
            <a:r>
              <a:rPr sz="1600"/>
              <a:t>4.</a:t>
            </a:r>
            <a:r>
              <a:rPr sz="1600"/>
              <a:t>系统已经建立</a:t>
            </a:r>
            <a:r>
              <a:rPr sz="1600"/>
              <a:t> journal</a:t>
            </a:r>
            <a:r>
              <a:rPr sz="1600"/>
              <a:t>、</a:t>
            </a:r>
            <a:r>
              <a:rPr sz="1600"/>
              <a:t>orphan </a:t>
            </a:r>
            <a:r>
              <a:rPr sz="1600"/>
              <a:t>或其他持久恢复记录，并进入恢复责任验证阶段。</a:t>
            </a:r>
            <a:endParaRPr sz="1600"/>
          </a:p>
          <a:p>
            <a:r>
              <a:rPr sz="1600"/>
              <a:t>5.</a:t>
            </a:r>
            <a:r>
              <a:rPr sz="1600"/>
              <a:t>文件系统进入</a:t>
            </a:r>
            <a:r>
              <a:rPr sz="1600"/>
              <a:t> fatal shutdown</a:t>
            </a:r>
            <a:r>
              <a:rPr sz="1600"/>
              <a:t>、强制只读或其他阻止正常观察的状态。</a:t>
            </a:r>
            <a:endParaRPr sz="1600"/>
          </a:p>
          <a:p>
            <a:endParaRPr sz="1600"/>
          </a:p>
        </p:txBody>
      </p:sp>
      <p:sp>
        <p:nvSpPr>
          <p:cNvPr id="20" name="文本框 19"/>
          <p:cNvSpPr>
            <a:spLocks noGrp="1"/>
          </p:cNvSpPr>
          <p:nvPr/>
        </p:nvSpPr>
        <p:spPr>
          <a:xfrm>
            <a:off x="6522085" y="579120"/>
            <a:ext cx="5472430" cy="542988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/>
              <a:t>确定结算边界后：</a:t>
            </a:r>
            <a:endParaRPr sz="1600"/>
          </a:p>
          <a:p>
            <a:r>
              <a:rPr sz="1600"/>
              <a:t>工具</a:t>
            </a:r>
            <a:r>
              <a:rPr sz="1600"/>
              <a:t>联合检查五项内容。</a:t>
            </a:r>
            <a:endParaRPr sz="1600"/>
          </a:p>
          <a:p>
            <a:r>
              <a:rPr sz="1600"/>
              <a:t>1. </a:t>
            </a:r>
            <a:r>
              <a:rPr sz="1600"/>
              <a:t>跨对象元数据关系是否合法。</a:t>
            </a:r>
            <a:endParaRPr sz="1600"/>
          </a:p>
          <a:p>
            <a:r>
              <a:rPr sz="1600"/>
              <a:t>2. </a:t>
            </a:r>
            <a:r>
              <a:rPr sz="1600"/>
              <a:t>协议产生的义务是否：</a:t>
            </a:r>
            <a:endParaRPr sz="1600"/>
          </a:p>
          <a:p>
            <a:r>
              <a:rPr sz="1600"/>
              <a:t>已经完成</a:t>
            </a:r>
            <a:endParaRPr sz="1600"/>
          </a:p>
          <a:p>
            <a:r>
              <a:rPr sz="1600"/>
              <a:t>或者合法转移给其他责任主体</a:t>
            </a:r>
            <a:endParaRPr sz="1600"/>
          </a:p>
          <a:p>
            <a:r>
              <a:rPr sz="1600"/>
              <a:t>3. </a:t>
            </a:r>
            <a:r>
              <a:rPr sz="1600"/>
              <a:t>责任声明必须同时满足：</a:t>
            </a:r>
            <a:endParaRPr sz="1600"/>
          </a:p>
          <a:p>
            <a:r>
              <a:rPr sz="1600"/>
              <a:t>authority   </a:t>
            </a:r>
            <a:r>
              <a:rPr sz="1600"/>
              <a:t>该主体是否有权接管</a:t>
            </a:r>
            <a:endParaRPr sz="1600"/>
          </a:p>
          <a:p>
            <a:r>
              <a:rPr sz="1600"/>
              <a:t>coverage    </a:t>
            </a:r>
            <a:r>
              <a:rPr sz="1600"/>
              <a:t>是否覆盖这个具体义务</a:t>
            </a:r>
            <a:endParaRPr sz="1600"/>
          </a:p>
          <a:p>
            <a:r>
              <a:rPr sz="1600"/>
              <a:t>activation  </a:t>
            </a:r>
            <a:r>
              <a:rPr sz="1600"/>
              <a:t>接管机制是否已经生效</a:t>
            </a:r>
            <a:endParaRPr sz="1600"/>
          </a:p>
          <a:p>
            <a:r>
              <a:rPr sz="1600"/>
              <a:t>lifetime    </a:t>
            </a:r>
            <a:r>
              <a:rPr sz="1600"/>
              <a:t>接管者是否仍然存活</a:t>
            </a:r>
            <a:endParaRPr sz="1600"/>
          </a:p>
          <a:p>
            <a:r>
              <a:rPr sz="1600"/>
              <a:t>4. </a:t>
            </a:r>
            <a:r>
              <a:rPr sz="1600"/>
              <a:t>返回结果必须与协议完成阶段一致：</a:t>
            </a:r>
            <a:endParaRPr sz="1600"/>
          </a:p>
          <a:p>
            <a:r>
              <a:rPr sz="1600"/>
              <a:t>5. </a:t>
            </a:r>
            <a:r>
              <a:rPr sz="1600"/>
              <a:t>错误状态是否仍可能被正常代码观察。</a:t>
            </a:r>
            <a:endParaRPr sz="1600"/>
          </a:p>
          <a:p>
            <a:endParaRPr sz="160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aphicFrame>
        <p:nvGraphicFramePr>
          <p:cNvPr id="2" name="表格 10"/>
          <p:cNvGraphicFramePr/>
          <p:nvPr/>
        </p:nvGraphicFramePr>
        <p:xfrm>
          <a:off x="579099" y="708745"/>
          <a:ext cx="11391265" cy="3886200"/>
        </p:xfrm>
        <a:graphic>
          <a:graphicData uri="http://schemas.openxmlformats.org/drawingml/2006/table">
            <a:tbl>
              <a:tblPr/>
              <a:tblGrid>
                <a:gridCol w="2190750"/>
                <a:gridCol w="3048000"/>
              </a:tblGrid>
              <a:tr h="647700"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阶段</a:t>
                      </a:r>
                      <a:endParaRPr sz="1425" b="1">
                        <a:solidFill>
                          <a:schemeClr val="tx1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91435" marR="91435" marT="45717" marB="45717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解决的问题</a:t>
                      </a:r>
                      <a:endParaRPr sz="1425" b="1">
                        <a:solidFill>
                          <a:schemeClr val="tx1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91435" marR="91435" marT="45717" marB="45717">
                    <a:solidFill>
                      <a:schemeClr val="bg1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1–2 证据与类型</a:t>
                      </a:r>
                      <a:endParaRPr sz="1275" b="1">
                        <a:solidFill>
                          <a:schemeClr val="tx1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91435" marR="91435" marT="45717" marB="45717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源码修改意味着什么</a:t>
                      </a:r>
                      <a:endParaRPr sz="1275" b="0">
                        <a:solidFill>
                          <a:schemeClr val="tx1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91435" marR="91435" marT="45717" marB="45717">
                    <a:solidFill>
                      <a:schemeClr val="bg1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3 实例重建</a:t>
                      </a:r>
                      <a:endParaRPr sz="1275" b="1">
                        <a:solidFill>
                          <a:schemeClr val="tx1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91435" marR="91435" marT="45717" marB="45717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哪些事件属于同一操作</a:t>
                      </a:r>
                      <a:endParaRPr sz="1275" b="0">
                        <a:solidFill>
                          <a:schemeClr val="tx1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91435" marR="91435" marT="45717" marB="45717">
                    <a:solidFill>
                      <a:schemeClr val="bg1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4–5 状态与义务</a:t>
                      </a:r>
                      <a:endParaRPr sz="1275" b="1">
                        <a:solidFill>
                          <a:schemeClr val="tx1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91435" marR="91435" marT="45717" marB="45717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关系是否保持、还欠什么</a:t>
                      </a:r>
                      <a:endParaRPr sz="1275" b="0">
                        <a:solidFill>
                          <a:schemeClr val="tx1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91435" marR="91435" marT="45717" marB="45717">
                    <a:solidFill>
                      <a:schemeClr val="bg1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6 责任传播</a:t>
                      </a:r>
                      <a:endParaRPr sz="1275" b="1">
                        <a:solidFill>
                          <a:schemeClr val="tx1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91435" marR="91435" marT="45717" marB="45717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谁继续完成义务</a:t>
                      </a:r>
                      <a:endParaRPr sz="1275" b="0">
                        <a:solidFill>
                          <a:schemeClr val="tx1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91435" marR="91435" marT="45717" marB="45717">
                    <a:solidFill>
                      <a:schemeClr val="bg1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7 结算判定</a:t>
                      </a:r>
                      <a:endParaRPr sz="1275" b="1">
                        <a:solidFill>
                          <a:schemeClr val="tx1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91435" marR="91435" marT="45717" marB="45717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何时检查、最终是否合法</a:t>
                      </a:r>
                      <a:endParaRPr sz="1275" b="0">
                        <a:solidFill>
                          <a:schemeClr val="tx1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91435" marR="91435" marT="45717" marB="45717"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文本框 1"/>
          <p:cNvSpPr>
            <a:spLocks noGrp="1"/>
          </p:cNvSpPr>
          <p:nvPr/>
        </p:nvSpPr>
        <p:spPr>
          <a:xfrm>
            <a:off x="459105" y="130810"/>
            <a:ext cx="4064000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Bug</a:t>
            </a:r>
            <a:r>
              <a:t>展示</a:t>
            </a:r>
          </a:p>
        </p:txBody>
      </p:sp>
      <p:sp>
        <p:nvSpPr>
          <p:cNvPr id="3" name="文本框 2"/>
          <p:cNvSpPr>
            <a:spLocks noGrp="1"/>
          </p:cNvSpPr>
          <p:nvPr/>
        </p:nvSpPr>
        <p:spPr>
          <a:xfrm>
            <a:off x="357505" y="629285"/>
            <a:ext cx="7384415" cy="56311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t>int fs_link(struct inode *dir, const char *name, struct inode *inode)</a:t>
            </a:r>
          </a:p>
          <a:p>
            <a:r>
              <a:t>{</a:t>
            </a:r>
          </a:p>
          <a:p>
            <a:r>
              <a:t>    int ret;</a:t>
            </a:r>
          </a:p>
          <a:p/>
          <a:p>
            <a:r>
              <a:t>    ret = insert_dirent(dir, name, inode);</a:t>
            </a:r>
          </a:p>
          <a:p>
            <a:r>
              <a:t>    if (ret)</a:t>
            </a:r>
          </a:p>
          <a:p>
            <a:r>
              <a:t>        return ret;</a:t>
            </a:r>
          </a:p>
          <a:p/>
          <a:p>
            <a:r>
              <a:t>    inc_nlink(inode);</a:t>
            </a:r>
          </a:p>
          <a:p/>
          <a:p>
            <a:r>
              <a:t>    ret = journal_metadata(dir, inode);</a:t>
            </a:r>
          </a:p>
          <a:p>
            <a:r>
              <a:t>    if (ret)</a:t>
            </a:r>
          </a:p>
          <a:p>
            <a:r>
              <a:t>        goto rollback;</a:t>
            </a:r>
          </a:p>
          <a:p/>
          <a:p>
            <a:r>
              <a:t>    return 0;</a:t>
            </a:r>
          </a:p>
          <a:p/>
          <a:p>
            <a:r>
              <a:t>rollback:</a:t>
            </a:r>
          </a:p>
          <a:p>
            <a:r>
              <a:t>    remove_dirent(dir, name);</a:t>
            </a:r>
          </a:p>
          <a:p>
            <a:r>
              <a:t>        return ret;</a:t>
            </a:r>
          </a:p>
          <a:p>
            <a:r>
              <a:t>}</a:t>
            </a:r>
          </a:p>
        </p:txBody>
      </p:sp>
      <p:sp>
        <p:nvSpPr>
          <p:cNvPr id="4" name="文本框 3"/>
          <p:cNvSpPr>
            <a:spLocks noGrp="1"/>
          </p:cNvSpPr>
          <p:nvPr/>
        </p:nvSpPr>
        <p:spPr>
          <a:xfrm>
            <a:off x="5507990" y="1969770"/>
            <a:ext cx="4064000" cy="23069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从单个字段看：</a:t>
            </a:r>
          </a:p>
          <a:p>
            <a:r>
              <a:t>目录项已经删除</a:t>
            </a:r>
          </a:p>
          <a:p>
            <a:r>
              <a:t>函数也返回了错误</a:t>
            </a:r>
          </a:p>
          <a:p>
            <a:r>
              <a:t>似乎完成了回滚。</a:t>
            </a:r>
          </a:p>
          <a:p>
            <a:r>
              <a:t>但联合检查两个对象后发现：</a:t>
            </a:r>
          </a:p>
          <a:p>
            <a:r>
              <a:t>目录项对</a:t>
            </a:r>
            <a:r>
              <a:t> inode </a:t>
            </a:r>
            <a:r>
              <a:t>的引用增量</a:t>
            </a:r>
            <a:r>
              <a:t> = 0</a:t>
            </a:r>
          </a:p>
          <a:p>
            <a:r>
              <a:t>inode link count </a:t>
            </a:r>
            <a:r>
              <a:t>增量</a:t>
            </a:r>
            <a:r>
              <a:t>      = +1</a:t>
            </a:r>
          </a:p>
          <a:p>
            <a:r>
              <a:t>关系不再一致。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文本框 2"/>
          <p:cNvSpPr>
            <a:spLocks noGrp="1"/>
          </p:cNvSpPr>
          <p:nvPr/>
        </p:nvSpPr>
        <p:spPr>
          <a:xfrm>
            <a:off x="242570" y="238760"/>
            <a:ext cx="4064000" cy="17532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1. </a:t>
            </a:r>
            <a:r>
              <a:t>提取源码</a:t>
            </a:r>
            <a:r>
              <a:t> effect</a:t>
            </a:r>
          </a:p>
          <a:p>
            <a:r>
              <a:t>insert_dirent(dir, name, inode)</a:t>
            </a:r>
          </a:p>
          <a:p>
            <a:r>
              <a:t>inc_nlink(inode)</a:t>
            </a:r>
          </a:p>
          <a:p>
            <a:r>
              <a:t>journal_metadata(...) fails</a:t>
            </a:r>
          </a:p>
          <a:p>
            <a:r>
              <a:t>remove_dirent(dir, name, inode)</a:t>
            </a:r>
          </a:p>
          <a:p>
            <a:r>
              <a:t>return error</a:t>
            </a:r>
          </a:p>
        </p:txBody>
      </p:sp>
      <p:sp>
        <p:nvSpPr>
          <p:cNvPr id="4" name="文本框 3"/>
          <p:cNvSpPr>
            <a:spLocks noGrp="1"/>
          </p:cNvSpPr>
          <p:nvPr/>
        </p:nvSpPr>
        <p:spPr>
          <a:xfrm>
            <a:off x="242570" y="2225675"/>
            <a:ext cx="4064000" cy="42462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2. </a:t>
            </a:r>
            <a:r>
              <a:t>转成类型化事件</a:t>
            </a:r>
          </a:p>
          <a:p>
            <a:r>
              <a:t>REFERENCE_ADD(</a:t>
            </a:r>
          </a:p>
          <a:p>
            <a:r>
              <a:t>    source = Dirent(dir, name),</a:t>
            </a:r>
          </a:p>
          <a:p>
            <a:r>
              <a:t>    target = inode</a:t>
            </a:r>
          </a:p>
          <a:p>
            <a:r>
              <a:t>)</a:t>
            </a:r>
          </a:p>
          <a:p/>
          <a:p>
            <a:r>
              <a:t>COUNTER_DELTA(</a:t>
            </a:r>
          </a:p>
          <a:p>
            <a:r>
              <a:t>    field = inode.i_nlink,</a:t>
            </a:r>
          </a:p>
          <a:p>
            <a:r>
              <a:t>    delta = +1</a:t>
            </a:r>
          </a:p>
          <a:p>
            <a:r>
              <a:t>)</a:t>
            </a:r>
          </a:p>
          <a:p/>
          <a:p>
            <a:r>
              <a:t>REFERENCE_REMOVE(</a:t>
            </a:r>
          </a:p>
          <a:p>
            <a:r>
              <a:t>    source = Dirent(dir, name),</a:t>
            </a:r>
          </a:p>
          <a:p>
            <a:r>
              <a:t>    target = inode</a:t>
            </a:r>
          </a:p>
          <a:p>
            <a:r>
              <a:t>)</a:t>
            </a:r>
          </a:p>
        </p:txBody>
      </p:sp>
      <p:sp>
        <p:nvSpPr>
          <p:cNvPr id="5" name="文本框 4"/>
          <p:cNvSpPr>
            <a:spLocks noGrp="1"/>
          </p:cNvSpPr>
          <p:nvPr/>
        </p:nvSpPr>
        <p:spPr>
          <a:xfrm>
            <a:off x="5189855" y="400685"/>
            <a:ext cx="4064000" cy="17532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DirectoryLinkInstance {</a:t>
            </a:r>
          </a:p>
          <a:p>
            <a:r>
              <a:t>    directory = dir#A</a:t>
            </a:r>
          </a:p>
          <a:p>
            <a:r>
              <a:t>    inode     = inode#B</a:t>
            </a:r>
          </a:p>
          <a:p>
            <a:r>
              <a:t>    name      = "new_name"</a:t>
            </a:r>
          </a:p>
          <a:p>
            <a:r>
              <a:t>    epoch     = current link attempt</a:t>
            </a:r>
          </a:p>
          <a:p>
            <a:r>
              <a:t>}</a:t>
            </a:r>
          </a:p>
        </p:txBody>
      </p:sp>
      <p:sp>
        <p:nvSpPr>
          <p:cNvPr id="6" name="文本框 5"/>
          <p:cNvSpPr>
            <a:spLocks noGrp="1"/>
          </p:cNvSpPr>
          <p:nvPr/>
        </p:nvSpPr>
        <p:spPr>
          <a:xfrm>
            <a:off x="5325110" y="171450"/>
            <a:ext cx="4064000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3. </a:t>
            </a:r>
            <a:r>
              <a:t>重建协议实例</a:t>
            </a:r>
          </a:p>
        </p:txBody>
      </p:sp>
      <p:sp>
        <p:nvSpPr>
          <p:cNvPr id="7" name="文本框 6"/>
          <p:cNvSpPr>
            <a:spLocks noGrp="1"/>
          </p:cNvSpPr>
          <p:nvPr/>
        </p:nvSpPr>
        <p:spPr>
          <a:xfrm>
            <a:off x="5703570" y="2590800"/>
            <a:ext cx="4064000" cy="36925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4. </a:t>
            </a:r>
            <a:r>
              <a:t>计算状态增量</a:t>
            </a:r>
          </a:p>
          <a:p>
            <a:r>
              <a:t>S0:</a:t>
            </a:r>
          </a:p>
          <a:p>
            <a:r>
              <a:t>  reference = absent</a:t>
            </a:r>
          </a:p>
          <a:p>
            <a:r>
              <a:t>  i_nlink = N</a:t>
            </a:r>
          </a:p>
          <a:p/>
          <a:p>
            <a:r>
              <a:t>Δ:</a:t>
            </a:r>
          </a:p>
          <a:p>
            <a:r>
              <a:t>  reference += 1</a:t>
            </a:r>
          </a:p>
          <a:p>
            <a:r>
              <a:t>  i_nlink += 1</a:t>
            </a:r>
          </a:p>
          <a:p>
            <a:r>
              <a:t>  reference -= 1</a:t>
            </a:r>
          </a:p>
          <a:p/>
          <a:p>
            <a:r>
              <a:t>Sf:</a:t>
            </a:r>
          </a:p>
          <a:p>
            <a:r>
              <a:t>  reference = absent</a:t>
            </a:r>
          </a:p>
          <a:p>
            <a:r>
              <a:t>  i_nlink = N + 1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文本框 1"/>
          <p:cNvSpPr>
            <a:spLocks noGrp="1"/>
          </p:cNvSpPr>
          <p:nvPr/>
        </p:nvSpPr>
        <p:spPr>
          <a:xfrm>
            <a:off x="661670" y="144145"/>
            <a:ext cx="5434330" cy="617664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t>5. </a:t>
            </a:r>
            <a:r>
              <a:t>产生未完成义务</a:t>
            </a:r>
          </a:p>
          <a:p>
            <a:r>
              <a:t>执行：</a:t>
            </a:r>
          </a:p>
          <a:p>
            <a:r>
              <a:t>REFERENCE_REMOVE(dirent, inode)</a:t>
            </a:r>
          </a:p>
          <a:p>
            <a:r>
              <a:t>后，协议要求：</a:t>
            </a:r>
          </a:p>
          <a:p>
            <a:r>
              <a:t>COUNTER_DELTA(inode.i_nlink, -1)</a:t>
            </a:r>
          </a:p>
          <a:p>
            <a:r>
              <a:t>但错误路径中不存在这个事件，因此：</a:t>
            </a:r>
          </a:p>
          <a:p>
            <a:r>
              <a:t>Obligation:</a:t>
            </a:r>
          </a:p>
          <a:p>
            <a:r>
              <a:t>  type     = RESTORE_LINK_COUNT</a:t>
            </a:r>
          </a:p>
          <a:p>
            <a:r>
              <a:t>  state    = OPEN</a:t>
            </a:r>
          </a:p>
          <a:p>
            <a:r>
              <a:t>  deadline = OperationReturn</a:t>
            </a:r>
          </a:p>
          <a:p/>
          <a:p>
            <a:r>
              <a:t>6. </a:t>
            </a:r>
            <a:r>
              <a:t>结算与报告</a:t>
            </a:r>
          </a:p>
          <a:p>
            <a:r>
              <a:t>到达错误返回时：</a:t>
            </a:r>
          </a:p>
          <a:p>
            <a:r>
              <a:t>phase                = ABORTED</a:t>
            </a:r>
          </a:p>
          <a:p>
            <a:r>
              <a:t>dirent                = absent</a:t>
            </a:r>
          </a:p>
          <a:p>
            <a:r>
              <a:t>inode.i_nlink         = N + 1</a:t>
            </a:r>
          </a:p>
          <a:p>
            <a:r>
              <a:t>RESTORE_LINK_COUNT    = OPEN</a:t>
            </a:r>
          </a:p>
          <a:p>
            <a:r>
              <a:t>valid recovery claim = none</a:t>
            </a:r>
          </a:p>
          <a:p>
            <a:r>
              <a:t>outcome               = error</a:t>
            </a:r>
          </a:p>
          <a:p>
            <a:r>
              <a:t>返回值与失败阶段一致，但跨对象关系不一致：</a:t>
            </a:r>
          </a:p>
          <a:p>
            <a:r>
              <a:t>AcceptP = false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文本框 1"/>
          <p:cNvSpPr>
            <a:spLocks noGrp="1"/>
          </p:cNvSpPr>
          <p:nvPr/>
        </p:nvSpPr>
        <p:spPr>
          <a:xfrm>
            <a:off x="462915" y="263525"/>
            <a:ext cx="4064000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1</a:t>
            </a:r>
            <a:r>
              <a:t>，提取</a:t>
            </a:r>
            <a:r>
              <a:t>协议规格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-13"/>
          <p:cNvSpPr>
            <a:spLocks noGrp="1"/>
          </p:cNvSpPr>
          <p:nvPr/>
        </p:nvSpPr>
        <p:spPr>
          <a:xfrm>
            <a:off x="403225" y="133350"/>
            <a:ext cx="11159490" cy="44577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3225" b="1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00"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Typestate 不够：对象状态合法，不代表元数据关系合法</a:t>
            </a:r>
            <a:endParaRPr sz="1800" b="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文本框 2"/>
          <p:cNvSpPr>
            <a:spLocks noGrp="1"/>
          </p:cNvSpPr>
          <p:nvPr/>
        </p:nvSpPr>
        <p:spPr>
          <a:xfrm>
            <a:off x="636270" y="664845"/>
            <a:ext cx="5913120" cy="1412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/>
              <a:t>Typestate 擅长：</a:t>
            </a:r>
            <a:endParaRPr sz="1600"/>
          </a:p>
          <a:p>
            <a:r>
              <a:rPr sz="1600"/>
              <a:t>· 对象处于 OPEN / CLOSED / FREED</a:t>
            </a:r>
            <a:endParaRPr sz="1600"/>
          </a:p>
          <a:p>
            <a:r>
              <a:rPr sz="1600"/>
              <a:t>· 当前状态允许哪些操作</a:t>
            </a:r>
            <a:endParaRPr sz="1600"/>
          </a:p>
          <a:p>
            <a:r>
              <a:rPr sz="1600"/>
              <a:t>· 单对象、局部、顺序约束</a:t>
            </a:r>
            <a:endParaRPr sz="1600"/>
          </a:p>
        </p:txBody>
      </p:sp>
      <p:sp>
        <p:nvSpPr>
          <p:cNvPr id="17" name="文本框 16"/>
          <p:cNvSpPr>
            <a:spLocks noGrp="1"/>
          </p:cNvSpPr>
          <p:nvPr/>
        </p:nvSpPr>
        <p:spPr>
          <a:xfrm>
            <a:off x="531495" y="2773045"/>
            <a:ext cx="5563870" cy="414147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/>
              <a:t>元数据 Bug 常发生在对象之间：</a:t>
            </a:r>
            <a:endParaRPr sz="1600"/>
          </a:p>
          <a:p>
            <a:endParaRPr sz="1600"/>
          </a:p>
          <a:p>
            <a:r>
              <a:t>dirent 已删除，但 i_nlink 未同步</a:t>
            </a:r>
          </a:p>
          <a:p>
            <a:r>
              <a:rPr sz="1600"/>
              <a:t>inode 已释放，但 active pointer 仍引用</a:t>
            </a:r>
            <a:endParaRPr sz="1600"/>
          </a:p>
          <a:p>
            <a:r>
              <a:rPr sz="1600"/>
              <a:t>事务返回失败，但 recovery 已接管</a:t>
            </a:r>
            <a:endParaRPr sz="1600"/>
          </a:p>
          <a:p>
            <a:endParaRPr sz="1600"/>
          </a:p>
          <a:p>
            <a:r>
              <a:rPr sz="1600"/>
              <a:t>单个对象状态都可能“合法”，</a:t>
            </a:r>
            <a:endParaRPr sz="1600"/>
          </a:p>
          <a:p>
            <a:r>
              <a:rPr sz="1600"/>
              <a:t>组合关系仍然非法。</a:t>
            </a:r>
            <a:endParaRPr sz="1600"/>
          </a:p>
        </p:txBody>
      </p:sp>
      <p:sp>
        <p:nvSpPr>
          <p:cNvPr id="20" name="文本框 19"/>
          <p:cNvSpPr>
            <a:spLocks noGrp="1"/>
          </p:cNvSpPr>
          <p:nvPr/>
        </p:nvSpPr>
        <p:spPr>
          <a:xfrm>
            <a:off x="6522085" y="579120"/>
            <a:ext cx="5472430" cy="542988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/>
              <a:t>现在需要关系协议状态：</a:t>
            </a:r>
            <a:endParaRPr sz="1600"/>
          </a:p>
          <a:p>
            <a:endParaRPr sz="1600"/>
          </a:p>
          <a:p>
            <a:r>
              <a:rPr sz="1600"/>
              <a:t>Roles        多个对象与责任主体</a:t>
            </a:r>
            <a:endParaRPr sz="1600"/>
          </a:p>
          <a:p>
            <a:r>
              <a:rPr sz="1600"/>
              <a:t>Relations    membership / reference / count</a:t>
            </a:r>
            <a:endParaRPr sz="1600"/>
          </a:p>
          <a:p>
            <a:r>
              <a:rPr sz="1600"/>
              <a:t>Obligations  尚未完成的恢复义务</a:t>
            </a:r>
            <a:endParaRPr sz="1600"/>
          </a:p>
          <a:p>
            <a:r>
              <a:rPr sz="1600"/>
              <a:t>Authority    谁有权接管</a:t>
            </a:r>
            <a:endParaRPr sz="1600"/>
          </a:p>
          <a:p>
            <a:r>
              <a:rPr sz="1600"/>
              <a:t>Deadline     commit / return / recovery exposure</a:t>
            </a:r>
            <a:endParaRPr sz="1600"/>
          </a:p>
          <a:p>
            <a:r>
              <a:rPr sz="1600"/>
              <a:t>Outcome      返回值是否匹配协议阶段</a:t>
            </a:r>
            <a:endParaRPr sz="1600"/>
          </a:p>
          <a:p>
            <a:endParaRPr sz="1600"/>
          </a:p>
          <a:p>
            <a:r>
              <a:rPr sz="1600"/>
              <a:t>Typestate 是局部构件，</a:t>
            </a:r>
            <a:endParaRPr sz="1600"/>
          </a:p>
          <a:p>
            <a:r>
              <a:rPr sz="1600"/>
              <a:t>不足以替代元数据协议规格。</a:t>
            </a:r>
            <a:endParaRPr sz="160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/>
        </p:nvSpPr>
        <p:spPr>
          <a:xfrm>
            <a:off x="457176" y="504977"/>
            <a:ext cx="11277013" cy="60956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buNone/>
              <a:defRPr sz="2775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OIDS 从“孤儿 inode 清理责任”中提取共同语义骨架</a:t>
            </a:r>
            <a:endParaRPr b="1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title-rule"/>
          <p:cNvSpPr>
            <a:spLocks noGrp="1"/>
          </p:cNvSpPr>
          <p:nvPr/>
        </p:nvSpPr>
        <p:spPr>
          <a:xfrm>
            <a:off x="457176" y="1181217"/>
            <a:ext cx="11277013" cy="19049"/>
          </a:xfrm>
          <a:prstGeom prst="rect">
            <a:avLst/>
          </a:prstGeom>
          <a:solidFill>
            <a:srgbClr val="000000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5" name="panel-E_f · reaching effects"/>
          <p:cNvSpPr>
            <a:spLocks noGrp="1"/>
          </p:cNvSpPr>
          <p:nvPr/>
        </p:nvSpPr>
        <p:spPr>
          <a:xfrm>
            <a:off x="457176" y="1466952"/>
            <a:ext cx="2580015" cy="1261340"/>
          </a:xfrm>
          <a:prstGeom prst="rect">
            <a:avLst/>
          </a:prstGeom>
          <a:solidFill>
            <a:srgbClr val="F3F3F3"/>
          </a:solidFill>
          <a:ln w="9525">
            <a:solidFill>
              <a:srgbClr val="D8D8D8"/>
            </a:solidFill>
            <a:prstDash val="solid"/>
          </a:ln>
        </p:spPr>
      </p:sp>
      <p:sp>
        <p:nvSpPr>
          <p:cNvPr id="6" name="text"/>
          <p:cNvSpPr>
            <a:spLocks noGrp="1"/>
          </p:cNvSpPr>
          <p:nvPr/>
        </p:nvSpPr>
        <p:spPr>
          <a:xfrm>
            <a:off x="648288" y="1619842"/>
            <a:ext cx="2197790" cy="28666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buNone/>
              <a:defRPr sz="1425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0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触发：最后链接消失</a:t>
            </a:r>
            <a:endParaRPr sz="1400" b="1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text"/>
          <p:cNvSpPr>
            <a:spLocks noGrp="1"/>
          </p:cNvSpPr>
          <p:nvPr/>
        </p:nvSpPr>
        <p:spPr>
          <a:xfrm>
            <a:off x="648288" y="1992511"/>
            <a:ext cx="2197790" cy="61155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buNone/>
              <a:defRPr sz="1390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00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最后目录引用移除，inode 进入 zero-link 删除。</a:t>
            </a:r>
            <a:endParaRPr sz="1400" b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panel-C_f · cancellation"/>
          <p:cNvSpPr>
            <a:spLocks noGrp="1"/>
          </p:cNvSpPr>
          <p:nvPr/>
        </p:nvSpPr>
        <p:spPr>
          <a:xfrm>
            <a:off x="3323859" y="1466952"/>
            <a:ext cx="2580015" cy="1261340"/>
          </a:xfrm>
          <a:prstGeom prst="rect">
            <a:avLst/>
          </a:prstGeom>
          <a:solidFill>
            <a:srgbClr val="F3F3F3"/>
          </a:solidFill>
          <a:ln w="9525">
            <a:solidFill>
              <a:srgbClr val="D8D8D8"/>
            </a:solidFill>
            <a:prstDash val="solid"/>
          </a:ln>
        </p:spPr>
      </p:sp>
      <p:sp>
        <p:nvSpPr>
          <p:cNvPr id="9" name="text"/>
          <p:cNvSpPr>
            <a:spLocks noGrp="1"/>
          </p:cNvSpPr>
          <p:nvPr/>
        </p:nvSpPr>
        <p:spPr>
          <a:xfrm>
            <a:off x="3514971" y="1619842"/>
            <a:ext cx="2197790" cy="28666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buNone/>
              <a:defRPr sz="1425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0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登记：持久责任接管</a:t>
            </a:r>
            <a:endParaRPr sz="1400" b="1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text"/>
          <p:cNvSpPr>
            <a:spLocks noGrp="1"/>
          </p:cNvSpPr>
          <p:nvPr/>
        </p:nvSpPr>
        <p:spPr>
          <a:xfrm>
            <a:off x="3514971" y="1992511"/>
            <a:ext cx="2197790" cy="61155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buNone/>
              <a:defRPr sz="1390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00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提交前，持久 registry 接受 inode 清理责任。</a:t>
            </a:r>
            <a:endParaRPr sz="1400" b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panel-T_f · protection"/>
          <p:cNvSpPr>
            <a:spLocks noGrp="1"/>
          </p:cNvSpPr>
          <p:nvPr/>
        </p:nvSpPr>
        <p:spPr>
          <a:xfrm>
            <a:off x="6190542" y="1466952"/>
            <a:ext cx="2580015" cy="1261340"/>
          </a:xfrm>
          <a:prstGeom prst="rect">
            <a:avLst/>
          </a:prstGeom>
          <a:solidFill>
            <a:srgbClr val="F3F3F3"/>
          </a:solidFill>
          <a:ln w="9525">
            <a:solidFill>
              <a:srgbClr val="D8D8D8"/>
            </a:solidFill>
            <a:prstDash val="solid"/>
          </a:ln>
        </p:spPr>
      </p:sp>
      <p:sp>
        <p:nvSpPr>
          <p:cNvPr id="12" name="text"/>
          <p:cNvSpPr>
            <a:spLocks noGrp="1"/>
          </p:cNvSpPr>
          <p:nvPr/>
        </p:nvSpPr>
        <p:spPr>
          <a:xfrm>
            <a:off x="6381654" y="1619842"/>
            <a:ext cx="2197790" cy="28666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buNone/>
              <a:defRPr sz="1425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0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结算：删除先于移除</a:t>
            </a:r>
            <a:endParaRPr sz="1400" b="1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text"/>
          <p:cNvSpPr>
            <a:spLocks noGrp="1"/>
          </p:cNvSpPr>
          <p:nvPr/>
        </p:nvSpPr>
        <p:spPr>
          <a:xfrm>
            <a:off x="6381654" y="1992511"/>
            <a:ext cx="2197790" cy="61155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buNone/>
              <a:defRPr sz="1390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00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terminal deletion durable 后才能移除记录。</a:t>
            </a:r>
            <a:endParaRPr sz="1400" b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panel-R_f · residual"/>
          <p:cNvSpPr>
            <a:spLocks noGrp="1"/>
          </p:cNvSpPr>
          <p:nvPr/>
        </p:nvSpPr>
        <p:spPr>
          <a:xfrm>
            <a:off x="9057224" y="1466952"/>
            <a:ext cx="2713793" cy="1261340"/>
          </a:xfrm>
          <a:prstGeom prst="rect">
            <a:avLst/>
          </a:prstGeom>
          <a:solidFill>
            <a:schemeClr val="bg2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5" name="text"/>
          <p:cNvSpPr>
            <a:spLocks noGrp="1"/>
          </p:cNvSpPr>
          <p:nvPr/>
        </p:nvSpPr>
        <p:spPr>
          <a:xfrm>
            <a:off x="9248336" y="1619842"/>
            <a:ext cx="2331569" cy="28666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buNone/>
              <a:defRPr sz="142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恢复：暴露前完成</a:t>
            </a:r>
            <a:endParaRPr sz="1400" b="1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text"/>
          <p:cNvSpPr>
            <a:spLocks noGrp="1"/>
          </p:cNvSpPr>
          <p:nvPr/>
        </p:nvSpPr>
        <p:spPr>
          <a:xfrm>
            <a:off x="9248336" y="1992511"/>
            <a:ext cx="2331569" cy="61155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buNone/>
              <a:defRPr sz="1390" b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00" b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recovery exposure 前完成；失败阻止暴露。</a:t>
            </a:r>
            <a:endParaRPr sz="1400" b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文本框 16"/>
          <p:cNvSpPr>
            <a:spLocks noGrp="1"/>
          </p:cNvSpPr>
          <p:nvPr/>
        </p:nvSpPr>
        <p:spPr>
          <a:xfrm>
            <a:off x="520065" y="3081020"/>
            <a:ext cx="11397615" cy="3277235"/>
          </a:xfrm>
          <a:prstGeom prst="rect">
            <a:avLst/>
          </a:prstGeom>
        </p:spPr>
        <p:txBody>
          <a:bodyPr>
            <a:noAutofit/>
          </a:bodyPr>
          <a:lstStyle/>
          <a:p>
            <a:r>
              <a:rPr sz="1600"/>
              <a:t>OIDS </a:t>
            </a:r>
            <a:r>
              <a:rPr sz="1600"/>
              <a:t>不是描述整个文件系统的状态机，而是描述一个 </a:t>
            </a:r>
            <a:r>
              <a:rPr sz="1600"/>
              <a:t>zero-link inode </a:t>
            </a:r>
            <a:r>
              <a:rPr sz="1600"/>
              <a:t>从“需要清理”到“清理责任完成结算”的局部元数据协议。</a:t>
            </a:r>
            <a:endParaRPr sz="1600"/>
          </a:p>
          <a:p>
            <a:r>
              <a:rPr sz="1600"/>
              <a:t>它解决的问题是：</a:t>
            </a:r>
            <a:br>
              <a:rPr sz="1600"/>
            </a:br>
            <a:r>
              <a:rPr sz="1600"/>
              <a:t>目录项删除</a:t>
            </a:r>
            <a:endParaRPr sz="1600"/>
          </a:p>
          <a:p>
            <a:r>
              <a:rPr sz="1600"/>
              <a:t>≠</a:t>
            </a:r>
            <a:endParaRPr sz="1600"/>
          </a:p>
          <a:p>
            <a:r>
              <a:rPr sz="1600"/>
              <a:t>inode </a:t>
            </a:r>
            <a:r>
              <a:rPr sz="1600"/>
              <a:t>已经物理删除</a:t>
            </a:r>
            <a:endParaRPr sz="1600"/>
          </a:p>
          <a:p>
            <a:endParaRPr sz="1600"/>
          </a:p>
          <a:p>
            <a:r>
              <a:rPr sz="1600"/>
              <a:t>inode </a:t>
            </a:r>
            <a:r>
              <a:rPr sz="1600"/>
              <a:t>可能仍然被打开，因此文件系统必须：</a:t>
            </a:r>
            <a:br>
              <a:rPr sz="1600"/>
            </a:br>
            <a:r>
              <a:rPr sz="1600"/>
              <a:t>先持久化清理责任</a:t>
            </a:r>
            <a:endParaRPr sz="1600"/>
          </a:p>
          <a:p>
            <a:r>
              <a:rPr sz="1600"/>
              <a:t>→</a:t>
            </a:r>
            <a:r>
              <a:rPr sz="1600"/>
              <a:t> </a:t>
            </a:r>
            <a:r>
              <a:rPr sz="1600"/>
              <a:t>等待最终引用释放</a:t>
            </a:r>
            <a:endParaRPr sz="1600"/>
          </a:p>
          <a:p>
            <a:r>
              <a:rPr sz="1600"/>
              <a:t>→</a:t>
            </a:r>
            <a:r>
              <a:rPr sz="1600"/>
              <a:t> </a:t>
            </a:r>
            <a:r>
              <a:rPr sz="1600"/>
              <a:t>执行终态删除</a:t>
            </a:r>
            <a:endParaRPr sz="1600"/>
          </a:p>
          <a:p>
            <a:r>
              <a:rPr sz="1600"/>
              <a:t>→</a:t>
            </a:r>
            <a:r>
              <a:rPr sz="1600"/>
              <a:t> </a:t>
            </a:r>
            <a:r>
              <a:rPr sz="1600"/>
              <a:t>删除</a:t>
            </a:r>
            <a:r>
              <a:rPr sz="1600"/>
              <a:t> orphan registry </a:t>
            </a:r>
            <a:r>
              <a:rPr sz="1600"/>
              <a:t>记录</a:t>
            </a:r>
            <a:endParaRPr sz="1600"/>
          </a:p>
          <a:p>
            <a:r>
              <a:rPr sz="1600"/>
              <a:t>→</a:t>
            </a:r>
            <a:r>
              <a:rPr sz="1600"/>
              <a:t> </a:t>
            </a:r>
            <a:r>
              <a:rPr sz="1600"/>
              <a:t>才允许恢复结果暴露</a:t>
            </a:r>
            <a:endParaRPr sz="160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-13"/>
          <p:cNvSpPr>
            <a:spLocks noGrp="1"/>
          </p:cNvSpPr>
          <p:nvPr/>
        </p:nvSpPr>
        <p:spPr>
          <a:xfrm>
            <a:off x="403225" y="133350"/>
            <a:ext cx="11159490" cy="44577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3225" b="1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00"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OIDS 规格：Roles、Events、Phases 与 Semantic Footprint</a:t>
            </a:r>
            <a:endParaRPr sz="1800" b="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文本框 2"/>
          <p:cNvSpPr>
            <a:spLocks noGrp="1"/>
          </p:cNvSpPr>
          <p:nvPr/>
        </p:nvSpPr>
        <p:spPr>
          <a:xfrm>
            <a:off x="636270" y="664845"/>
            <a:ext cx="5913120" cy="1412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/>
              <a:t>Roles</a:t>
            </a:r>
            <a:endParaRPr sz="1600"/>
          </a:p>
          <a:p>
            <a:r>
              <a:rPr sz="1600"/>
              <a:t>filesystem / inode / namespace_entry</a:t>
            </a:r>
            <a:endParaRPr sz="1600"/>
          </a:p>
          <a:p>
            <a:r>
              <a:rPr sz="1600"/>
              <a:t>orphan_registry</a:t>
            </a:r>
            <a:endParaRPr sz="1600"/>
          </a:p>
          <a:p>
            <a:r>
              <a:rPr sz="1600"/>
              <a:t>registration_transaction</a:t>
            </a:r>
            <a:endParaRPr sz="1600"/>
          </a:p>
          <a:p>
            <a:r>
              <a:rPr sz="1600"/>
              <a:t>settlement_transaction</a:t>
            </a:r>
            <a:endParaRPr sz="1600"/>
          </a:p>
          <a:p>
            <a:r>
              <a:rPr sz="1600"/>
              <a:t>deletion_authority</a:t>
            </a:r>
            <a:endParaRPr sz="1600"/>
          </a:p>
        </p:txBody>
      </p:sp>
      <p:sp>
        <p:nvSpPr>
          <p:cNvPr id="17" name="文本框 16"/>
          <p:cNvSpPr>
            <a:spLocks noGrp="1"/>
          </p:cNvSpPr>
          <p:nvPr/>
        </p:nvSpPr>
        <p:spPr>
          <a:xfrm>
            <a:off x="531495" y="2773045"/>
            <a:ext cx="5563870" cy="414147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/>
              <a:t>Core events</a:t>
            </a:r>
            <a:endParaRPr sz="1600"/>
          </a:p>
          <a:p>
            <a:r>
              <a:rPr sz="1600"/>
              <a:t>LastLinkRemoved</a:t>
            </a:r>
            <a:endParaRPr sz="1600"/>
          </a:p>
          <a:p>
            <a:r>
              <a:t>OrphanRegistryAccepted</a:t>
            </a:r>
          </a:p>
          <a:p>
            <a:r>
              <a:rPr sz="1600"/>
              <a:t>RegistrationTransactionCommit</a:t>
            </a:r>
            <a:endParaRPr sz="1600"/>
          </a:p>
          <a:p>
            <a:r>
              <a:rPr sz="1600"/>
              <a:t>FinalReferenceReleased</a:t>
            </a:r>
            <a:endParaRPr sz="1600"/>
          </a:p>
          <a:p>
            <a:r>
              <a:rPr sz="1600"/>
              <a:t>RecoveryAuthorityAccepted</a:t>
            </a:r>
            <a:endParaRPr sz="1600"/>
          </a:p>
          <a:p>
            <a:r>
              <a:rPr sz="1600"/>
              <a:t>TerminalDeletionDurable</a:t>
            </a:r>
            <a:endParaRPr sz="1600"/>
          </a:p>
          <a:p>
            <a:r>
              <a:rPr sz="1600"/>
              <a:t>OrphanRegistryRemoval</a:t>
            </a:r>
            <a:endParaRPr sz="1600"/>
          </a:p>
          <a:p>
            <a:r>
              <a:rPr sz="1600"/>
              <a:t>SettlementTransactionCommit</a:t>
            </a:r>
            <a:endParaRPr sz="1600"/>
          </a:p>
          <a:p>
            <a:r>
              <a:t>RecoveryExposure</a:t>
            </a:r>
          </a:p>
        </p:txBody>
      </p:sp>
      <p:sp>
        <p:nvSpPr>
          <p:cNvPr id="20" name="文本框 19"/>
          <p:cNvSpPr>
            <a:spLocks noGrp="1"/>
          </p:cNvSpPr>
          <p:nvPr/>
        </p:nvSpPr>
        <p:spPr>
          <a:xfrm>
            <a:off x="6522085" y="579120"/>
            <a:ext cx="5472430" cy="542988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/>
              <a:t>Phases</a:t>
            </a:r>
            <a:endParaRPr sz="1600"/>
          </a:p>
          <a:p>
            <a:r>
              <a:rPr sz="1600"/>
              <a:t>START → ATTACHED → REGISTRATION_DUE</a:t>
            </a:r>
            <a:endParaRPr sz="1600"/>
          </a:p>
          <a:p>
            <a:r>
              <a:rPr sz="1600"/>
              <a:t>→ REGISTERED → CLEANUP_PENDING</a:t>
            </a:r>
            <a:endParaRPr sz="1600"/>
          </a:p>
          <a:p>
            <a:r>
              <a:rPr sz="1600"/>
              <a:t>→ TERMINAL_DURABLE → REMOVAL_STAGED</a:t>
            </a:r>
            <a:endParaRPr sz="1600"/>
          </a:p>
          <a:p>
            <a:r>
              <a:rPr sz="1600"/>
              <a:t>→ SETTLED</a:t>
            </a:r>
            <a:endParaRPr sz="1600"/>
          </a:p>
          <a:p>
            <a:endParaRPr sz="1600"/>
          </a:p>
          <a:p>
            <a:r>
              <a:rPr sz="1600"/>
              <a:t>Semantic footprint</a:t>
            </a:r>
            <a:endParaRPr sz="1600"/>
          </a:p>
          <a:p>
            <a:r>
              <a:rPr sz="1600"/>
              <a:t>zero-link namespace detachment</a:t>
            </a:r>
            <a:endParaRPr sz="1600"/>
          </a:p>
          <a:p>
            <a:r>
              <a:rPr sz="1600"/>
              <a:t>persistent registry acceptance</a:t>
            </a:r>
            <a:endParaRPr sz="1600"/>
          </a:p>
          <a:p>
            <a:r>
              <a:rPr sz="1600"/>
              <a:t>terminal inode deletion</a:t>
            </a:r>
            <a:endParaRPr sz="1600"/>
          </a:p>
          <a:p>
            <a:r>
              <a:rPr sz="1600"/>
              <a:t>registry removal</a:t>
            </a:r>
            <a:endParaRPr sz="1600"/>
          </a:p>
          <a:p>
            <a:r>
              <a:rPr sz="1600"/>
              <a:t>transactional settlement</a:t>
            </a:r>
            <a:endParaRPr sz="1600"/>
          </a:p>
          <a:p>
            <a:r>
              <a:rPr sz="1600"/>
              <a:t>recovery exposure</a:t>
            </a:r>
            <a:endParaRPr sz="160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/>
        </p:nvSpPr>
        <p:spPr>
          <a:xfrm>
            <a:off x="502920" y="310896"/>
            <a:ext cx="1005840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2400" b="1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OIDS 的三个不可妥协义务</a:t>
            </a:r>
            <a:endParaRPr sz="2400" b="1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Shape 1"/>
          <p:cNvSpPr>
            <a:spLocks noGrp="1"/>
          </p:cNvSpPr>
          <p:nvPr/>
        </p:nvSpPr>
        <p:spPr>
          <a:xfrm>
            <a:off x="502920" y="868680"/>
            <a:ext cx="11155680" cy="0"/>
          </a:xfrm>
          <a:prstGeom prst="line">
            <a:avLst/>
          </a:prstGeom>
          <a:noFill/>
          <a:ln w="15240">
            <a:solidFill>
              <a:srgbClr val="111111"/>
            </a:solidFill>
            <a:prstDash val="solid"/>
          </a:ln>
        </p:spPr>
      </p:sp>
      <p:sp>
        <p:nvSpPr>
          <p:cNvPr id="4" name="Text 2"/>
          <p:cNvSpPr>
            <a:spLocks noGrp="1"/>
          </p:cNvSpPr>
          <p:nvPr/>
        </p:nvSpPr>
        <p:spPr>
          <a:xfrm>
            <a:off x="11155680" y="329184"/>
            <a:ext cx="50292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00">
                <a:solidFill>
                  <a:srgbClr val="555555"/>
                </a:solidFill>
              </a:rPr>
              <a:t>36</a:t>
            </a:r>
            <a:endParaRPr sz="1000">
              <a:solidFill>
                <a:srgbClr val="555555"/>
              </a:solidFill>
            </a:endParaRPr>
          </a:p>
        </p:txBody>
      </p:sp>
      <p:sp>
        <p:nvSpPr>
          <p:cNvPr id="6" name="Text 4"/>
          <p:cNvSpPr>
            <a:spLocks noGrp="1"/>
          </p:cNvSpPr>
          <p:nvPr/>
        </p:nvSpPr>
        <p:spPr>
          <a:xfrm>
            <a:off x="822960" y="1325880"/>
            <a:ext cx="3246120" cy="594360"/>
          </a:xfrm>
          <a:prstGeom prst="rect">
            <a:avLst/>
          </a:prstGeom>
          <a:solidFill>
            <a:srgbClr val="F2F2F2"/>
          </a:solidFill>
          <a:ln w="12700">
            <a:solidFill>
              <a:srgbClr val="111111"/>
            </a:solidFill>
          </a:ln>
        </p:spPr>
        <p:txBody>
          <a:bodyPr wrap="square" lIns="889" tIns="889" rIns="889" bIns="889" anchor="ctr">
            <a:normAutofit/>
          </a:bodyPr>
          <a:lstStyle/>
          <a:p>
            <a:pPr marL="0" indent="0" algn="ctr">
              <a:buNone/>
            </a:pPr>
            <a:r>
              <a:rPr sz="1600" b="1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OIDS-O1：先登记</a:t>
            </a:r>
            <a:endParaRPr sz="1600" b="1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Text 5"/>
          <p:cNvSpPr>
            <a:spLocks noGrp="1"/>
          </p:cNvSpPr>
          <p:nvPr/>
        </p:nvSpPr>
        <p:spPr>
          <a:xfrm>
            <a:off x="4343400" y="1353312"/>
            <a:ext cx="6629400" cy="502920"/>
          </a:xfrm>
          <a:prstGeom prst="rect">
            <a:avLst/>
          </a:prstGeom>
          <a:noFill/>
        </p:spPr>
        <p:txBody>
          <a:bodyPr wrap="square" lIns="1016" tIns="1016" rIns="1016" bIns="1016" anchor="ctr">
            <a:normAutofit/>
          </a:bodyPr>
          <a:lstStyle/>
          <a:p>
            <a:pPr marL="0" indent="0" algn="l">
              <a:lnSpc>
                <a:spcPct val="95000"/>
              </a:lnSpc>
              <a:buNone/>
            </a:pPr>
            <a:r>
              <a:rPr sz="155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zero-link namespace commit 前，持久 orphan registry 必须接受清理责任。</a:t>
            </a:r>
            <a:endParaRPr sz="155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Shape 6"/>
          <p:cNvSpPr>
            <a:spLocks noGrp="1"/>
          </p:cNvSpPr>
          <p:nvPr/>
        </p:nvSpPr>
        <p:spPr>
          <a:xfrm>
            <a:off x="822960" y="2148840"/>
            <a:ext cx="10058400" cy="0"/>
          </a:xfrm>
          <a:prstGeom prst="line">
            <a:avLst/>
          </a:prstGeom>
          <a:noFill/>
          <a:ln w="10160">
            <a:solidFill>
              <a:srgbClr val="CFCFCF"/>
            </a:solidFill>
            <a:prstDash val="solid"/>
          </a:ln>
        </p:spPr>
      </p:sp>
      <p:sp>
        <p:nvSpPr>
          <p:cNvPr id="9" name="Text 7"/>
          <p:cNvSpPr>
            <a:spLocks noGrp="1"/>
          </p:cNvSpPr>
          <p:nvPr/>
        </p:nvSpPr>
        <p:spPr>
          <a:xfrm>
            <a:off x="822960" y="2743200"/>
            <a:ext cx="3246120" cy="594360"/>
          </a:xfrm>
          <a:prstGeom prst="rect">
            <a:avLst/>
          </a:prstGeom>
          <a:solidFill>
            <a:srgbClr val="F2F2F2"/>
          </a:solidFill>
          <a:ln w="12700">
            <a:solidFill>
              <a:srgbClr val="111111"/>
            </a:solidFill>
          </a:ln>
        </p:spPr>
        <p:txBody>
          <a:bodyPr wrap="square" lIns="889" tIns="889" rIns="889" bIns="889" anchor="ctr">
            <a:normAutofit/>
          </a:bodyPr>
          <a:lstStyle/>
          <a:p>
            <a:pPr marL="0" indent="0" algn="ctr">
              <a:buNone/>
            </a:pPr>
            <a:r>
              <a:rPr sz="1600" b="1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OIDS-O2：后移除</a:t>
            </a:r>
            <a:endParaRPr sz="1600" b="1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Text 8"/>
          <p:cNvSpPr>
            <a:spLocks noGrp="1"/>
          </p:cNvSpPr>
          <p:nvPr/>
        </p:nvSpPr>
        <p:spPr>
          <a:xfrm>
            <a:off x="4343400" y="2770632"/>
            <a:ext cx="6629400" cy="502920"/>
          </a:xfrm>
          <a:prstGeom prst="rect">
            <a:avLst/>
          </a:prstGeom>
          <a:noFill/>
        </p:spPr>
        <p:txBody>
          <a:bodyPr wrap="square" lIns="1016" tIns="1016" rIns="1016" bIns="1016" anchor="ctr">
            <a:normAutofit/>
          </a:bodyPr>
          <a:lstStyle/>
          <a:p>
            <a:pPr marL="0" indent="0" algn="l">
              <a:lnSpc>
                <a:spcPct val="95000"/>
              </a:lnSpc>
              <a:buNone/>
            </a:pPr>
            <a:r>
              <a:rPr sz="155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只有 terminal deletion 已持久化，或删除与 registry removal 原子共结算，才能移除记录。</a:t>
            </a:r>
            <a:endParaRPr sz="155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Shape 9"/>
          <p:cNvSpPr>
            <a:spLocks noGrp="1"/>
          </p:cNvSpPr>
          <p:nvPr/>
        </p:nvSpPr>
        <p:spPr>
          <a:xfrm>
            <a:off x="822960" y="3566160"/>
            <a:ext cx="10058400" cy="0"/>
          </a:xfrm>
          <a:prstGeom prst="line">
            <a:avLst/>
          </a:prstGeom>
          <a:noFill/>
          <a:ln w="10160">
            <a:solidFill>
              <a:srgbClr val="CFCFCF"/>
            </a:solidFill>
            <a:prstDash val="solid"/>
          </a:ln>
        </p:spPr>
      </p:sp>
      <p:sp>
        <p:nvSpPr>
          <p:cNvPr id="12" name="Text 10"/>
          <p:cNvSpPr>
            <a:spLocks noGrp="1"/>
          </p:cNvSpPr>
          <p:nvPr/>
        </p:nvSpPr>
        <p:spPr>
          <a:xfrm>
            <a:off x="822960" y="4160520"/>
            <a:ext cx="3246120" cy="594360"/>
          </a:xfrm>
          <a:prstGeom prst="rect">
            <a:avLst/>
          </a:prstGeom>
          <a:solidFill>
            <a:srgbClr val="F2F2F2"/>
          </a:solidFill>
          <a:ln w="12700">
            <a:solidFill>
              <a:srgbClr val="111111"/>
            </a:solidFill>
          </a:ln>
        </p:spPr>
        <p:txBody>
          <a:bodyPr wrap="square" lIns="889" tIns="889" rIns="889" bIns="889" anchor="ctr">
            <a:normAutofit/>
          </a:bodyPr>
          <a:lstStyle/>
          <a:p>
            <a:pPr marL="0" indent="0" algn="ctr">
              <a:buNone/>
            </a:pPr>
            <a:r>
              <a:rPr sz="1600" b="1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OIDS-O3：恢复先于暴露</a:t>
            </a:r>
            <a:endParaRPr sz="1600" b="1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Text 11"/>
          <p:cNvSpPr>
            <a:spLocks noGrp="1"/>
          </p:cNvSpPr>
          <p:nvPr/>
        </p:nvSpPr>
        <p:spPr>
          <a:xfrm>
            <a:off x="4343400" y="4187952"/>
            <a:ext cx="6629400" cy="502920"/>
          </a:xfrm>
          <a:prstGeom prst="rect">
            <a:avLst/>
          </a:prstGeom>
          <a:noFill/>
        </p:spPr>
        <p:txBody>
          <a:bodyPr wrap="square" lIns="1016" tIns="1016" rIns="1016" bIns="1016" anchor="ctr">
            <a:normAutofit/>
          </a:bodyPr>
          <a:lstStyle/>
          <a:p>
            <a:pPr marL="0" indent="0" algn="l">
              <a:lnSpc>
                <a:spcPct val="95000"/>
              </a:lnSpc>
              <a:buNone/>
            </a:pPr>
            <a:r>
              <a:rPr sz="155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崩溃恢复必须先处理 registry；清理失败必须阻止正常访问被成功暴露。</a:t>
            </a:r>
            <a:endParaRPr sz="155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Shape 12"/>
          <p:cNvSpPr>
            <a:spLocks noGrp="1"/>
          </p:cNvSpPr>
          <p:nvPr/>
        </p:nvSpPr>
        <p:spPr>
          <a:xfrm>
            <a:off x="822960" y="4983480"/>
            <a:ext cx="10058400" cy="0"/>
          </a:xfrm>
          <a:prstGeom prst="line">
            <a:avLst/>
          </a:prstGeom>
          <a:noFill/>
          <a:ln w="10160">
            <a:solidFill>
              <a:srgbClr val="CFCFCF"/>
            </a:solidFill>
            <a:prstDash val="solid"/>
          </a:ln>
        </p:spPr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rcRect r="-396" b="6926"/>
          <a:stretch>
            <a:fillRect/>
          </a:stretch>
        </p:blipFill>
        <p:spPr>
          <a:xfrm>
            <a:off x="0" y="0"/>
            <a:ext cx="12240260" cy="638302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文本框 1"/>
          <p:cNvSpPr txBox="1"/>
          <p:nvPr/>
        </p:nvSpPr>
        <p:spPr>
          <a:xfrm>
            <a:off x="259080" y="146050"/>
            <a:ext cx="4064000" cy="698563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400"/>
              <a:t>START</a:t>
            </a:r>
            <a:endParaRPr lang="en-US" altLang="zh-CN" sz="1400"/>
          </a:p>
          <a:p>
            <a:r>
              <a:rPr lang="zh-CN" altLang="en-US" sz="1400"/>
              <a:t>协议实例刚建立，还没有观察到有效的</a:t>
            </a:r>
            <a:r>
              <a:rPr lang="en-US" altLang="zh-CN" sz="1400"/>
              <a:t> inode </a:t>
            </a:r>
            <a:r>
              <a:rPr lang="zh-CN" altLang="en-US" sz="1400"/>
              <a:t>删除事件。</a:t>
            </a:r>
            <a:endParaRPr lang="zh-CN" altLang="en-US" sz="1400"/>
          </a:p>
          <a:p>
            <a:endParaRPr lang="zh-CN" altLang="en-US" sz="1400"/>
          </a:p>
          <a:p>
            <a:r>
              <a:rPr lang="en-US" altLang="zh-CN" sz="1400"/>
              <a:t>ATTACHED</a:t>
            </a:r>
            <a:endParaRPr lang="en-US" altLang="zh-CN" sz="1400"/>
          </a:p>
          <a:p>
            <a:r>
              <a:rPr lang="en-US" altLang="zh-CN" sz="1400"/>
              <a:t>InitializeOrphanDeletion </a:t>
            </a:r>
            <a:r>
              <a:rPr lang="zh-CN" altLang="en-US" sz="1400"/>
              <a:t>发生后进入这个状态。</a:t>
            </a:r>
            <a:endParaRPr lang="zh-CN" altLang="en-US" sz="1400"/>
          </a:p>
          <a:p>
            <a:endParaRPr lang="zh-CN" altLang="en-US" sz="1400"/>
          </a:p>
          <a:p>
            <a:r>
              <a:rPr lang="en-US" altLang="zh-CN" sz="1400"/>
              <a:t>REG_DUE</a:t>
            </a:r>
            <a:endParaRPr lang="en-US" altLang="zh-CN" sz="1400"/>
          </a:p>
          <a:p>
            <a:r>
              <a:rPr lang="en-US" altLang="zh-CN" sz="1400"/>
              <a:t>LastLinkRemoved </a:t>
            </a:r>
            <a:r>
              <a:rPr lang="zh-CN" altLang="en-US" sz="1400"/>
              <a:t>发生，</a:t>
            </a:r>
            <a:r>
              <a:rPr lang="en-US" altLang="zh-CN" sz="1400"/>
              <a:t>inode </a:t>
            </a:r>
            <a:r>
              <a:rPr lang="zh-CN" altLang="en-US" sz="1400"/>
              <a:t>的最后一个</a:t>
            </a:r>
            <a:r>
              <a:rPr lang="en-US" altLang="zh-CN" sz="1400"/>
              <a:t> namespace link </a:t>
            </a:r>
            <a:r>
              <a:rPr lang="zh-CN" altLang="en-US" sz="1400"/>
              <a:t>被删除。</a:t>
            </a:r>
            <a:endParaRPr lang="zh-CN" altLang="en-US" sz="1400"/>
          </a:p>
          <a:p>
            <a:r>
              <a:rPr lang="zh-CN" altLang="en-US" sz="1400"/>
              <a:t>同时激活：</a:t>
            </a:r>
            <a:endParaRPr lang="zh-CN" altLang="en-US" sz="1400"/>
          </a:p>
          <a:p>
            <a:r>
              <a:rPr lang="en-US" altLang="zh-CN" sz="1400"/>
              <a:t>OIDS-O1</a:t>
            </a:r>
            <a:endParaRPr lang="en-US" altLang="zh-CN" sz="1400"/>
          </a:p>
          <a:p>
            <a:r>
              <a:rPr lang="en-US" altLang="zh-CN" sz="1400"/>
              <a:t>OIDS-O2</a:t>
            </a:r>
            <a:endParaRPr lang="en-US" altLang="zh-CN" sz="1400"/>
          </a:p>
          <a:p>
            <a:r>
              <a:rPr lang="zh-CN" altLang="en-US" sz="1400"/>
              <a:t>这里的</a:t>
            </a:r>
            <a:r>
              <a:rPr lang="en-US" altLang="zh-CN" sz="1400"/>
              <a:t>“</a:t>
            </a:r>
            <a:r>
              <a:rPr lang="zh-CN" altLang="en-US" sz="1400"/>
              <a:t>激活</a:t>
            </a:r>
            <a:r>
              <a:rPr lang="en-US" altLang="zh-CN" sz="1400"/>
              <a:t>”</a:t>
            </a:r>
            <a:r>
              <a:rPr lang="zh-CN" altLang="en-US" sz="1400"/>
              <a:t>不是立即判错，而是创建两个</a:t>
            </a:r>
            <a:r>
              <a:rPr lang="en-US" altLang="zh-CN" sz="1400"/>
              <a:t> OPEN </a:t>
            </a:r>
            <a:r>
              <a:rPr lang="zh-CN" altLang="en-US" sz="1400"/>
              <a:t>的待完成义务。</a:t>
            </a:r>
            <a:endParaRPr lang="zh-CN" altLang="en-US" sz="1400"/>
          </a:p>
          <a:p>
            <a:endParaRPr lang="zh-CN" altLang="en-US" sz="1400"/>
          </a:p>
          <a:p>
            <a:r>
              <a:rPr lang="en-US" altLang="zh-CN" sz="1400"/>
              <a:t>REGISTERED</a:t>
            </a:r>
            <a:endParaRPr lang="en-US" altLang="zh-CN" sz="1400"/>
          </a:p>
          <a:p>
            <a:r>
              <a:rPr lang="en-US" altLang="zh-CN" sz="1400"/>
              <a:t>OrphanRegistryAccepted </a:t>
            </a:r>
            <a:r>
              <a:rPr lang="zh-CN" altLang="en-US" sz="1400"/>
              <a:t>发生。</a:t>
            </a:r>
            <a:endParaRPr lang="zh-CN" altLang="en-US" sz="1400"/>
          </a:p>
          <a:p>
            <a:r>
              <a:rPr lang="zh-CN" altLang="en-US" sz="1400"/>
              <a:t>此时：</a:t>
            </a:r>
            <a:endParaRPr lang="zh-CN" altLang="en-US" sz="1400"/>
          </a:p>
          <a:p>
            <a:r>
              <a:rPr lang="en-US" altLang="zh-CN" sz="1400"/>
              <a:t>orphan_registry.records_inode = true</a:t>
            </a:r>
            <a:endParaRPr lang="en-US" altLang="zh-CN" sz="1400"/>
          </a:p>
          <a:p>
            <a:r>
              <a:rPr lang="en-US" altLang="zh-CN" sz="1400"/>
              <a:t>registration.accepted_before_commit = true</a:t>
            </a:r>
            <a:endParaRPr lang="en-US" altLang="zh-CN" sz="1400"/>
          </a:p>
          <a:p>
            <a:r>
              <a:rPr lang="zh-CN" altLang="en-US" sz="1400"/>
              <a:t>这意味着文件系统已经持久化记录：</a:t>
            </a:r>
            <a:endParaRPr lang="zh-CN" altLang="en-US" sz="1400"/>
          </a:p>
          <a:p>
            <a:r>
              <a:rPr lang="zh-CN" altLang="en-US" sz="1400"/>
              <a:t>这个</a:t>
            </a:r>
            <a:r>
              <a:rPr lang="en-US" altLang="zh-CN" sz="1400"/>
              <a:t> inode </a:t>
            </a:r>
            <a:r>
              <a:rPr lang="zh-CN" altLang="en-US" sz="1400"/>
              <a:t>后面仍然需要清理。</a:t>
            </a:r>
            <a:br>
              <a:rPr lang="zh-CN" altLang="en-US" sz="1400"/>
            </a:br>
            <a:endParaRPr lang="zh-CN" altLang="en-US" sz="1400"/>
          </a:p>
          <a:p>
            <a:r>
              <a:rPr lang="en-US" altLang="zh-CN" sz="1400">
                <a:sym typeface="+mn-ea"/>
              </a:rPr>
              <a:t>WAIT_REF</a:t>
            </a:r>
            <a:endParaRPr lang="en-US" altLang="zh-CN" sz="1400"/>
          </a:p>
          <a:p>
            <a:r>
              <a:rPr lang="en-US" altLang="zh-CN" sz="1400">
                <a:sym typeface="+mn-ea"/>
              </a:rPr>
              <a:t>RegistrationTransactionCommit </a:t>
            </a:r>
            <a:r>
              <a:rPr lang="zh-CN" altLang="en-US" sz="1400">
                <a:sym typeface="+mn-ea"/>
              </a:rPr>
              <a:t>发生后进入该状态。</a:t>
            </a:r>
            <a:endParaRPr lang="zh-CN" altLang="en-US" sz="1400"/>
          </a:p>
          <a:p>
            <a:r>
              <a:rPr lang="zh-CN" altLang="en-US" sz="1400">
                <a:sym typeface="+mn-ea"/>
              </a:rPr>
              <a:t>这个事件是</a:t>
            </a:r>
            <a:r>
              <a:rPr lang="en-US" altLang="zh-CN" sz="1400">
                <a:sym typeface="+mn-ea"/>
              </a:rPr>
              <a:t> O1 </a:t>
            </a:r>
            <a:r>
              <a:rPr lang="zh-CN" altLang="en-US" sz="1400">
                <a:sym typeface="+mn-ea"/>
              </a:rPr>
              <a:t>的检查点：</a:t>
            </a:r>
            <a:endParaRPr lang="zh-CN" altLang="en-US" sz="1400"/>
          </a:p>
          <a:p>
            <a:r>
              <a:rPr lang="zh-CN" altLang="en-US" sz="1400">
                <a:sym typeface="+mn-ea"/>
              </a:rPr>
              <a:t>是否在</a:t>
            </a:r>
            <a:r>
              <a:rPr lang="en-US" altLang="zh-CN" sz="1400">
                <a:sym typeface="+mn-ea"/>
              </a:rPr>
              <a:t> commit </a:t>
            </a:r>
            <a:r>
              <a:rPr lang="zh-CN" altLang="en-US" sz="1400">
                <a:sym typeface="+mn-ea"/>
              </a:rPr>
              <a:t>前已经接受了持久化清理责任？</a:t>
            </a:r>
            <a:endParaRPr lang="zh-CN" altLang="en-US" sz="1400"/>
          </a:p>
          <a:p>
            <a:r>
              <a:rPr lang="zh-CN" altLang="en-US" sz="1400">
                <a:sym typeface="+mn-ea"/>
              </a:rPr>
              <a:t>如果没有，</a:t>
            </a:r>
            <a:r>
              <a:rPr lang="en-US" altLang="zh-CN" sz="1400">
                <a:sym typeface="+mn-ea"/>
              </a:rPr>
              <a:t>O1 </a:t>
            </a:r>
            <a:r>
              <a:rPr lang="zh-CN" altLang="en-US" sz="1400">
                <a:sym typeface="+mn-ea"/>
              </a:rPr>
              <a:t>就失败。</a:t>
            </a:r>
            <a:endParaRPr lang="zh-CN" altLang="en-US" sz="1400"/>
          </a:p>
          <a:p>
            <a:endParaRPr lang="zh-CN" altLang="en-US" sz="1400"/>
          </a:p>
          <a:p>
            <a:endParaRPr lang="en-US" altLang="zh-CN" sz="1400"/>
          </a:p>
        </p:txBody>
      </p:sp>
      <p:sp>
        <p:nvSpPr>
          <p:cNvPr id="3" name="文本框 2"/>
          <p:cNvSpPr txBox="1"/>
          <p:nvPr/>
        </p:nvSpPr>
        <p:spPr>
          <a:xfrm>
            <a:off x="5755005" y="195580"/>
            <a:ext cx="4064000" cy="56927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400">
                <a:sym typeface="+mn-ea"/>
              </a:rPr>
              <a:t>CLEANUP</a:t>
            </a:r>
            <a:endParaRPr lang="en-US" altLang="zh-CN" sz="1400"/>
          </a:p>
          <a:p>
            <a:r>
              <a:rPr lang="zh-CN" altLang="en-US" sz="1400">
                <a:sym typeface="+mn-ea"/>
              </a:rPr>
              <a:t>正常路径中，</a:t>
            </a:r>
            <a:r>
              <a:rPr lang="en-US" altLang="zh-CN" sz="1400">
                <a:sym typeface="+mn-ea"/>
              </a:rPr>
              <a:t>FinalReferenceReleased </a:t>
            </a:r>
            <a:r>
              <a:rPr lang="zh-CN" altLang="en-US" sz="1400">
                <a:sym typeface="+mn-ea"/>
              </a:rPr>
              <a:t>发生后进入该状态。</a:t>
            </a:r>
            <a:endParaRPr lang="zh-CN" altLang="en-US" sz="1400"/>
          </a:p>
          <a:p>
            <a:r>
              <a:rPr lang="zh-CN" altLang="en-US" sz="1400">
                <a:sym typeface="+mn-ea"/>
              </a:rPr>
              <a:t>恢复路径中，</a:t>
            </a:r>
            <a:r>
              <a:rPr lang="en-US" altLang="zh-CN" sz="1400">
                <a:sym typeface="+mn-ea"/>
              </a:rPr>
              <a:t>RecoveryAuthorityAccepted </a:t>
            </a:r>
            <a:r>
              <a:rPr lang="zh-CN" altLang="en-US" sz="1400">
                <a:sym typeface="+mn-ea"/>
              </a:rPr>
              <a:t>也会进入该状态。</a:t>
            </a:r>
            <a:endParaRPr lang="zh-CN" altLang="en-US" sz="1400"/>
          </a:p>
          <a:p>
            <a:r>
              <a:rPr lang="zh-CN" altLang="en-US" sz="1400">
                <a:sym typeface="+mn-ea"/>
              </a:rPr>
              <a:t>这表示：</a:t>
            </a:r>
            <a:endParaRPr lang="zh-CN" altLang="en-US" sz="1400"/>
          </a:p>
          <a:p>
            <a:r>
              <a:rPr lang="en-US" altLang="zh-CN" sz="1400">
                <a:sym typeface="+mn-ea"/>
              </a:rPr>
              <a:t>inode </a:t>
            </a:r>
            <a:r>
              <a:rPr lang="zh-CN" altLang="en-US" sz="1400">
                <a:sym typeface="+mn-ea"/>
              </a:rPr>
              <a:t>已经进入最终清理阶段</a:t>
            </a:r>
            <a:endParaRPr lang="zh-CN" altLang="en-US" sz="1400"/>
          </a:p>
          <a:p>
            <a:r>
              <a:rPr lang="en-US" altLang="zh-CN" sz="1400">
                <a:sym typeface="+mn-ea"/>
              </a:rPr>
              <a:t>PREPARED</a:t>
            </a:r>
            <a:endParaRPr lang="en-US" altLang="zh-CN" sz="1400"/>
          </a:p>
          <a:p>
            <a:r>
              <a:rPr lang="en-US" altLang="zh-CN" sz="1400">
                <a:sym typeface="+mn-ea"/>
              </a:rPr>
              <a:t>TerminalDeletionPrepared </a:t>
            </a:r>
            <a:r>
              <a:rPr lang="zh-CN" altLang="en-US" sz="1400">
                <a:sym typeface="+mn-ea"/>
              </a:rPr>
              <a:t>发生。</a:t>
            </a:r>
            <a:endParaRPr lang="zh-CN" altLang="en-US" sz="1400"/>
          </a:p>
          <a:p>
            <a:endParaRPr lang="zh-CN" altLang="en-US" sz="1400"/>
          </a:p>
          <a:p>
            <a:r>
              <a:rPr lang="en-US" altLang="zh-CN" sz="1400">
                <a:sym typeface="+mn-ea"/>
              </a:rPr>
              <a:t>DURABLE</a:t>
            </a:r>
            <a:endParaRPr lang="en-US" altLang="zh-CN" sz="1400"/>
          </a:p>
          <a:p>
            <a:r>
              <a:rPr lang="en-US" altLang="zh-CN" sz="1400">
                <a:sym typeface="+mn-ea"/>
              </a:rPr>
              <a:t>TerminalDeletionDurable </a:t>
            </a:r>
            <a:r>
              <a:rPr lang="zh-CN" altLang="en-US" sz="1400">
                <a:sym typeface="+mn-ea"/>
              </a:rPr>
              <a:t>发生。</a:t>
            </a:r>
            <a:endParaRPr lang="zh-CN" altLang="en-US" sz="1400"/>
          </a:p>
          <a:p>
            <a:r>
              <a:rPr lang="zh-CN" altLang="en-US" sz="1400">
                <a:sym typeface="+mn-ea"/>
              </a:rPr>
              <a:t>表示最终</a:t>
            </a:r>
            <a:r>
              <a:rPr lang="en-US" altLang="zh-CN" sz="1400">
                <a:sym typeface="+mn-ea"/>
              </a:rPr>
              <a:t> inode </a:t>
            </a:r>
            <a:r>
              <a:rPr lang="zh-CN" altLang="en-US" sz="1400">
                <a:sym typeface="+mn-ea"/>
              </a:rPr>
              <a:t>删除已经持久化完成。</a:t>
            </a:r>
            <a:endParaRPr lang="zh-CN" altLang="en-US" sz="1400">
              <a:sym typeface="+mn-ea"/>
            </a:endParaRPr>
          </a:p>
          <a:p>
            <a:endParaRPr lang="zh-CN" altLang="en-US" sz="1400"/>
          </a:p>
          <a:p>
            <a:r>
              <a:rPr lang="en-US" altLang="zh-CN" sz="1400">
                <a:sym typeface="+mn-ea"/>
              </a:rPr>
              <a:t>REMOVAL</a:t>
            </a:r>
            <a:endParaRPr lang="en-US" altLang="zh-CN" sz="1400"/>
          </a:p>
          <a:p>
            <a:r>
              <a:rPr lang="en-US" altLang="zh-CN" sz="1400">
                <a:sym typeface="+mn-ea"/>
              </a:rPr>
              <a:t>OrphanRegistryRemoval </a:t>
            </a:r>
            <a:r>
              <a:rPr lang="zh-CN" altLang="en-US" sz="1400">
                <a:sym typeface="+mn-ea"/>
              </a:rPr>
              <a:t>发生。</a:t>
            </a:r>
            <a:endParaRPr lang="zh-CN" altLang="en-US" sz="1400"/>
          </a:p>
          <a:p>
            <a:r>
              <a:rPr lang="zh-CN" altLang="en-US" sz="1400">
                <a:sym typeface="+mn-ea"/>
              </a:rPr>
              <a:t>此时</a:t>
            </a:r>
            <a:r>
              <a:rPr lang="en-US" altLang="zh-CN" sz="1400">
                <a:sym typeface="+mn-ea"/>
              </a:rPr>
              <a:t> registry </a:t>
            </a:r>
            <a:r>
              <a:rPr lang="zh-CN" altLang="en-US" sz="1400">
                <a:sym typeface="+mn-ea"/>
              </a:rPr>
              <a:t>记录被移除。</a:t>
            </a:r>
            <a:r>
              <a:rPr lang="en-US" altLang="zh-CN" sz="1400">
                <a:sym typeface="+mn-ea"/>
              </a:rPr>
              <a:t>O2 </a:t>
            </a:r>
            <a:r>
              <a:rPr lang="zh-CN" altLang="en-US" sz="1400">
                <a:sym typeface="+mn-ea"/>
              </a:rPr>
              <a:t>在这里检查：</a:t>
            </a:r>
            <a:endParaRPr lang="zh-CN" altLang="en-US" sz="1400"/>
          </a:p>
          <a:p>
            <a:r>
              <a:rPr lang="en-US" altLang="zh-CN" sz="1400">
                <a:sym typeface="+mn-ea"/>
              </a:rPr>
              <a:t>inode </a:t>
            </a:r>
            <a:r>
              <a:rPr lang="zh-CN" altLang="en-US" sz="1400">
                <a:sym typeface="+mn-ea"/>
              </a:rPr>
              <a:t>删除已经</a:t>
            </a:r>
            <a:r>
              <a:rPr lang="en-US" altLang="zh-CN" sz="1400">
                <a:sym typeface="+mn-ea"/>
              </a:rPr>
              <a:t> durable</a:t>
            </a:r>
            <a:endParaRPr lang="en-US" altLang="zh-CN" sz="1400">
              <a:sym typeface="+mn-ea"/>
            </a:endParaRPr>
          </a:p>
          <a:p>
            <a:endParaRPr lang="en-US" altLang="zh-CN" sz="1400"/>
          </a:p>
          <a:p>
            <a:r>
              <a:rPr lang="en-US" altLang="zh-CN" sz="1400">
                <a:sym typeface="+mn-ea"/>
              </a:rPr>
              <a:t>SETTLED</a:t>
            </a:r>
            <a:endParaRPr lang="en-US" altLang="zh-CN" sz="1400"/>
          </a:p>
          <a:p>
            <a:r>
              <a:rPr lang="en-US" altLang="zh-CN" sz="1400">
                <a:sym typeface="+mn-ea"/>
              </a:rPr>
              <a:t>SettlementTransactionCommit </a:t>
            </a:r>
            <a:r>
              <a:rPr lang="zh-CN" altLang="en-US" sz="1400">
                <a:sym typeface="+mn-ea"/>
              </a:rPr>
              <a:t>发生。</a:t>
            </a:r>
            <a:endParaRPr lang="zh-CN" altLang="en-US" sz="1400"/>
          </a:p>
          <a:p>
            <a:r>
              <a:rPr lang="zh-CN" altLang="en-US" sz="1400">
                <a:sym typeface="+mn-ea"/>
              </a:rPr>
              <a:t>此时：</a:t>
            </a:r>
            <a:endParaRPr lang="zh-CN" altLang="en-US" sz="1400"/>
          </a:p>
          <a:p>
            <a:r>
              <a:rPr lang="en-US" altLang="zh-CN" sz="1400">
                <a:sym typeface="+mn-ea"/>
              </a:rPr>
              <a:t>cleanup_required = false</a:t>
            </a:r>
            <a:endParaRPr lang="en-US" altLang="zh-CN" sz="1400"/>
          </a:p>
          <a:p>
            <a:r>
              <a:rPr lang="en-US" altLang="zh-CN" sz="1400">
                <a:sym typeface="+mn-ea"/>
              </a:rPr>
              <a:t>recovery.cleanup_complete = true</a:t>
            </a:r>
            <a:endParaRPr lang="en-US" altLang="zh-CN" sz="1400"/>
          </a:p>
          <a:p>
            <a:r>
              <a:rPr lang="zh-CN" altLang="en-US" sz="1400">
                <a:sym typeface="+mn-ea"/>
              </a:rPr>
              <a:t>协议责任完成结算。</a:t>
            </a:r>
            <a:endParaRPr lang="zh-CN" altLang="en-US" sz="1400"/>
          </a:p>
          <a:p>
            <a:endParaRPr lang="zh-CN" altLang="en-US" sz="14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10463</Words>
  <Application>WPS 演示</Application>
  <PresentationFormat>Converted Presentation</PresentationFormat>
  <Paragraphs>892</Paragraphs>
  <Slides>35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35</vt:i4>
      </vt:variant>
    </vt:vector>
  </HeadingPairs>
  <TitlesOfParts>
    <vt:vector size="44" baseType="lpstr">
      <vt:lpstr>Arial</vt:lpstr>
      <vt:lpstr>宋体</vt:lpstr>
      <vt:lpstr>Wingdings</vt:lpstr>
      <vt:lpstr>Arial</vt:lpstr>
      <vt:lpstr>微软雅黑</vt:lpstr>
      <vt:lpstr>Consolas</vt:lpstr>
      <vt:lpstr>Arial Unicode MS</vt:lpstr>
      <vt:lpstr>等线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闫光辉</cp:lastModifiedBy>
  <cp:revision>2</cp:revision>
  <dcterms:created xsi:type="dcterms:W3CDTF">2026-08-03T04:06:49Z</dcterms:created>
  <dcterms:modified xsi:type="dcterms:W3CDTF">2026-08-03T04:12:14Z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B93CE2916CB848B39D319E2D9C0BCCBE_12</vt:lpwstr>
  </property>
  <property fmtid="{D5CDD505-2E9C-101B-9397-08002B2CF9AE}" pid="3" name="KSOProductBuildVer">
    <vt:lpwstr>2052-12.1.0.24031</vt:lpwstr>
  </property>
</Properties>
</file>