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7104c023964479" /><Relationship Type="http://schemas.openxmlformats.org/officeDocument/2006/relationships/extended-properties" Target="/docProps/app.xml" Id="R60a66ab818be40c3" /><Relationship Type="http://schemas.openxmlformats.org/officeDocument/2006/relationships/officeDocument" Target="/ppt/presentation.xml" Id="R8fb3e60b6f6046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79a888171409c"/>
  </p:sldMasterIdLst>
  <p:notesMasterIdLst>
    <p:notesMasterId xmlns:r="http://schemas.openxmlformats.org/officeDocument/2006/relationships" r:id="Ra543a44080db48dc"/>
  </p:notesMasterIdLst>
  <p:sldIdLst>
    <p:sldId xmlns:r="http://schemas.openxmlformats.org/officeDocument/2006/relationships" id="256" r:id="R5c483939b0a9417d"/>
    <p:sldId xmlns:r="http://schemas.openxmlformats.org/officeDocument/2006/relationships" id="257" r:id="R97f455e6480c48bf"/>
    <p:sldId xmlns:r="http://schemas.openxmlformats.org/officeDocument/2006/relationships" id="258" r:id="Rbac258d717c24733"/>
    <p:sldId xmlns:r="http://schemas.openxmlformats.org/officeDocument/2006/relationships" id="259" r:id="R5773fc97a81e4122"/>
    <p:sldId xmlns:r="http://schemas.openxmlformats.org/officeDocument/2006/relationships" id="260" r:id="Rc92cfdf5d1f94dcb"/>
    <p:sldId xmlns:r="http://schemas.openxmlformats.org/officeDocument/2006/relationships" id="261" r:id="Rc2615b5352e348f5"/>
    <p:sldId xmlns:r="http://schemas.openxmlformats.org/officeDocument/2006/relationships" id="262" r:id="Rdd600490a2bd4cbb"/>
    <p:sldId xmlns:r="http://schemas.openxmlformats.org/officeDocument/2006/relationships" id="263" r:id="R946ec3e2fcb749c5"/>
    <p:sldId xmlns:r="http://schemas.openxmlformats.org/officeDocument/2006/relationships" id="264" r:id="R3281ce51b0a54994"/>
    <p:sldId xmlns:r="http://schemas.openxmlformats.org/officeDocument/2006/relationships" id="265" r:id="R085eb35e8a524ccb"/>
    <p:sldId xmlns:r="http://schemas.openxmlformats.org/officeDocument/2006/relationships" id="266" r:id="Re13188f156d04417"/>
    <p:sldId xmlns:r="http://schemas.openxmlformats.org/officeDocument/2006/relationships" id="267" r:id="Rba54e186f4604119"/>
    <p:sldId xmlns:r="http://schemas.openxmlformats.org/officeDocument/2006/relationships" id="268" r:id="R333093c5e4de4658"/>
    <p:sldId xmlns:r="http://schemas.openxmlformats.org/officeDocument/2006/relationships" id="269" r:id="Rfc683a770e6e407d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b78240159449a1" /><Relationship Type="http://schemas.openxmlformats.org/officeDocument/2006/relationships/slideMaster" Target="/ppt/slideMasters/slideMaster1.xml" Id="R16279a888171409c" /><Relationship Type="http://schemas.openxmlformats.org/officeDocument/2006/relationships/notesMaster" Target="/ppt/notesMasters/notesMaster1.xml" Id="Ra543a44080db48dc" /><Relationship Type="http://schemas.openxmlformats.org/officeDocument/2006/relationships/presProps" Target="/ppt/presProps.xml" Id="R6b167d72fd2746c7" /><Relationship Type="http://schemas.openxmlformats.org/officeDocument/2006/relationships/viewProps" Target="/ppt/viewProps.xml" Id="Re5c652d8a2374aa4" /><Relationship Type="http://schemas.openxmlformats.org/officeDocument/2006/relationships/tableStyles" Target="/ppt/tableStyles.xml" Id="R54c88b9df6054864" /><Relationship Type="http://schemas.openxmlformats.org/officeDocument/2006/relationships/slide" Target="/ppt/slides/slide1.xml" Id="R5c483939b0a9417d" /><Relationship Type="http://schemas.openxmlformats.org/officeDocument/2006/relationships/slide" Target="/ppt/slides/slide2.xml" Id="R97f455e6480c48bf" /><Relationship Type="http://schemas.openxmlformats.org/officeDocument/2006/relationships/slide" Target="/ppt/slides/slide3.xml" Id="Rbac258d717c24733" /><Relationship Type="http://schemas.openxmlformats.org/officeDocument/2006/relationships/slide" Target="/ppt/slides/slide4.xml" Id="R5773fc97a81e4122" /><Relationship Type="http://schemas.openxmlformats.org/officeDocument/2006/relationships/slide" Target="/ppt/slides/slide5.xml" Id="Rc92cfdf5d1f94dcb" /><Relationship Type="http://schemas.openxmlformats.org/officeDocument/2006/relationships/slide" Target="/ppt/slides/slide6.xml" Id="Rc2615b5352e348f5" /><Relationship Type="http://schemas.openxmlformats.org/officeDocument/2006/relationships/slide" Target="/ppt/slides/slide7.xml" Id="Rdd600490a2bd4cbb" /><Relationship Type="http://schemas.openxmlformats.org/officeDocument/2006/relationships/slide" Target="/ppt/slides/slide8.xml" Id="R946ec3e2fcb749c5" /><Relationship Type="http://schemas.openxmlformats.org/officeDocument/2006/relationships/slide" Target="/ppt/slides/slide9.xml" Id="R3281ce51b0a54994" /><Relationship Type="http://schemas.openxmlformats.org/officeDocument/2006/relationships/slide" Target="/ppt/slides/slide10.xml" Id="R085eb35e8a524ccb" /><Relationship Type="http://schemas.openxmlformats.org/officeDocument/2006/relationships/slide" Target="/ppt/slides/slide11.xml" Id="Re13188f156d04417" /><Relationship Type="http://schemas.openxmlformats.org/officeDocument/2006/relationships/slide" Target="/ppt/slides/slide12.xml" Id="Rba54e186f4604119" /><Relationship Type="http://schemas.openxmlformats.org/officeDocument/2006/relationships/slide" Target="/ppt/slides/slide13.xml" Id="R333093c5e4de4658" /><Relationship Type="http://schemas.openxmlformats.org/officeDocument/2006/relationships/slide" Target="/ppt/slides/slide14.xml" Id="Rfc683a770e6e40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8a3aa0aa5e4c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81ca86d686497a" /><Relationship Type="http://schemas.openxmlformats.org/officeDocument/2006/relationships/notesMaster" Target="/ppt/notesMasters/notesMaster1.xml" Id="R3d8fffbcfb2747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d9786ec657495f" /><Relationship Type="http://schemas.openxmlformats.org/officeDocument/2006/relationships/notesMaster" Target="/ppt/notesMasters/notesMaster1.xml" Id="R6101e2b7c3f341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21df39caa648c6" /><Relationship Type="http://schemas.openxmlformats.org/officeDocument/2006/relationships/notesMaster" Target="/ppt/notesMasters/notesMaster1.xml" Id="Rdcf9cb576a5e4a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06d9ddcabe4084" /><Relationship Type="http://schemas.openxmlformats.org/officeDocument/2006/relationships/notesMaster" Target="/ppt/notesMasters/notesMaster1.xml" Id="R42024af4c42040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9a9a74cd9544af" /><Relationship Type="http://schemas.openxmlformats.org/officeDocument/2006/relationships/notesMaster" Target="/ppt/notesMasters/notesMaster1.xml" Id="R964e102d011d47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98df24a5e24e86" /><Relationship Type="http://schemas.openxmlformats.org/officeDocument/2006/relationships/notesMaster" Target="/ppt/notesMasters/notesMaster1.xml" Id="R367e86d5fa494e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f55dfc3405494b" /><Relationship Type="http://schemas.openxmlformats.org/officeDocument/2006/relationships/notesMaster" Target="/ppt/notesMasters/notesMaster1.xml" Id="R15cfe9afd31d4e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799f1388fc4174" /><Relationship Type="http://schemas.openxmlformats.org/officeDocument/2006/relationships/notesMaster" Target="/ppt/notesMasters/notesMaster1.xml" Id="R5265cd1aab1442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75775ff69044f4" /><Relationship Type="http://schemas.openxmlformats.org/officeDocument/2006/relationships/notesMaster" Target="/ppt/notesMasters/notesMaster1.xml" Id="R3d1c2b54c3e340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09176b320e4e19" /><Relationship Type="http://schemas.openxmlformats.org/officeDocument/2006/relationships/notesMaster" Target="/ppt/notesMasters/notesMaster1.xml" Id="R638be4de1dd448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34b808242143cd" /><Relationship Type="http://schemas.openxmlformats.org/officeDocument/2006/relationships/notesMaster" Target="/ppt/notesMasters/notesMaster1.xml" Id="R17732cc0594340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3305b791644bb1" /><Relationship Type="http://schemas.openxmlformats.org/officeDocument/2006/relationships/notesMaster" Target="/ppt/notesMasters/notesMaster1.xml" Id="Rfeb2b775156947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fa0a41fc0a4430" /><Relationship Type="http://schemas.openxmlformats.org/officeDocument/2006/relationships/notesMaster" Target="/ppt/notesMasters/notesMaster1.xml" Id="R02d528a8408d40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27d50b4c55476e" /><Relationship Type="http://schemas.openxmlformats.org/officeDocument/2006/relationships/notesMaster" Target="/ppt/notesMasters/notesMaster1.xml" Id="Rcdb0394b134141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过渡：现有框架能够发现错误路径上的局部残留，但它的抽象单位仍是通用程序状态效果。老师的质疑不是流程错误，而是研究贡献尚未解释文件系统元数据为什么需要不同的推理单位。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  <a:p xmlns:a="http://schemas.openxmlformats.org/drawingml/2006/main">
            <a:r>
              <a:t>- E:/yanjiusheng/阅读论文/file_system/SE_EOD/outputs/btrfs_tool_findings_pending_review_2026-07-23.md</a:t>
            </a:r>
          </a:p>
          <a:p xmlns:a="http://schemas.openxmlformats.org/drawingml/2006/main">
            <a:r>
              <a:t>- E:/yanjiusheng/阅读论文/file_system/SE_EOD/linux-sources/linux-v6.14-fs/fs/btrfs/volumes.c</a:t>
            </a:r>
          </a:p>
          <a:p xmlns:a="http://schemas.openxmlformats.org/drawingml/2006/main">
            <a:r>
              <a:t>- E:/yanjiusheng/阅读论文/file_system/SE_EOD/src/metadata_residual.py</a:t>
            </a:r>
          </a:p>
          <a:p xmlns:a="http://schemas.openxmlformats.org/drawingml/2006/main">
            <a:r>
              <a:t>- E:/yanjiusheng/阅读论文/file_system/SE_EOD/src/semantics/cancellation.py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项目落地：metadata_residual.py 与 cancellation.py 将写操作提升为 ADD/INC/SET 等 effect，并沿错误路径寻找逆操作或保护动作。它能回答局部 effect 是否残留，但当前没有把这些字段组织成一次设备添加的共同完成条件。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  <a:p xmlns:a="http://schemas.openxmlformats.org/drawingml/2006/main">
            <a:r>
              <a:t>- E:/yanjiusheng/阅读论文/file_system/SE_EOD/outputs/btrfs_tool_findings_pending_review_2026-07-23.md</a:t>
            </a:r>
          </a:p>
          <a:p xmlns:a="http://schemas.openxmlformats.org/drawingml/2006/main">
            <a:r>
              <a:t>- E:/yanjiusheng/阅读论文/file_system/SE_EOD/linux-sources/linux-v6.14-fs/fs/btrfs/volumes.c</a:t>
            </a:r>
          </a:p>
          <a:p xmlns:a="http://schemas.openxmlformats.org/drawingml/2006/main">
            <a:r>
              <a:t>- E:/yanjiusheng/阅读论文/file_system/SE_EOD/src/metadata_residual.py</a:t>
            </a:r>
          </a:p>
          <a:p xmlns:a="http://schemas.openxmlformats.org/drawingml/2006/main">
            <a:r>
              <a:t>- E:/yanjiusheng/阅读论文/file_system/SE_EOD/src/semantics/cancellation.py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因果链：设备拓扑更新跨越容器成员、计数、活跃选择器和事务待提交所有权；后续失败只回滚部分维度；逐 effect 配对无法表达这些维度必须共同成立；因此同一函数中的 #16-#18 会被拆成多个孤立 residual，P3 还会因跨过程身份绑定不足停在 UNKNOWN。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  <a:p xmlns:a="http://schemas.openxmlformats.org/drawingml/2006/main">
            <a:r>
              <a:t>- E:/yanjiusheng/阅读论文/file_system/SE_EOD/outputs/btrfs_tool_findings_pending_review_2026-07-23.md</a:t>
            </a:r>
          </a:p>
          <a:p xmlns:a="http://schemas.openxmlformats.org/drawingml/2006/main">
            <a:r>
              <a:t>- E:/yanjiusheng/阅读论文/file_system/SE_EOD/linux-sources/linux-v6.14-fs/fs/btrfs/volumes.c</a:t>
            </a:r>
          </a:p>
          <a:p xmlns:a="http://schemas.openxmlformats.org/drawingml/2006/main">
            <a:r>
              <a:t>- E:/yanjiusheng/阅读论文/file_system/SE_EOD/src/metadata_residual.py</a:t>
            </a:r>
          </a:p>
          <a:p xmlns:a="http://schemas.openxmlformats.org/drawingml/2006/main">
            <a:r>
              <a:t>- E:/yanjiusheng/阅读论文/file_system/SE_EOD/src/semantics/cancellation.py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束的定义边界：它不是完整文件系统验证，也不是要求回滚后内存布局逐字节相同。它只要求一次元数据操作退出时，其文件系统逻辑事实共同处于成功、已回滚或由明确恢复机制接管三种状态之一。红黑树等数据结构的形状可以不同，只要文件系统所依赖的成员关系、计数、可达性、所有权和活跃选择语义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  <a:p xmlns:a="http://schemas.openxmlformats.org/drawingml/2006/main">
            <a:r>
              <a:t>- E:/yanjiusheng/阅读论文/file_system/SE_EOD/outputs/btrfs_tool_findings_pending_review_2026-07-23.md</a:t>
            </a:r>
          </a:p>
          <a:p xmlns:a="http://schemas.openxmlformats.org/drawingml/2006/main">
            <a:r>
              <a:t>- E:/yanjiusheng/阅读论文/file_system/SE_EOD/linux-sources/linux-v6.14-fs/fs/btrfs/volumes.c</a:t>
            </a:r>
          </a:p>
          <a:p xmlns:a="http://schemas.openxmlformats.org/drawingml/2006/main">
            <a:r>
              <a:t>- E:/yanjiusheng/阅读论文/file_system/SE_EOD/src/metadata_residual.py</a:t>
            </a:r>
          </a:p>
          <a:p xmlns:a="http://schemas.openxmlformats.org/drawingml/2006/main">
            <a:r>
              <a:t>- E:/yanjiusheng/阅读论文/file_system/SE_EOD/src/semantics/cancellation.py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TOC 判断：当前约束不是再扩大通用 effect 种类，而是缺少判断一次文件系统元数据操作是否完成的语义。实施顺序以目标 bug 为回归集合：先做 Btrfs 设备拓扑完成束，再做结果完成与恢复所有权；每类只定义少量模板，文件系统适配层负责绑定字段和 helper 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  <a:p xmlns:a="http://schemas.openxmlformats.org/drawingml/2006/main">
            <a:r>
              <a:t>- E:/yanjiusheng/阅读论文/file_system/SE_EOD/outputs/btrfs_tool_findings_pending_review_2026-07-23.md</a:t>
            </a:r>
          </a:p>
          <a:p xmlns:a="http://schemas.openxmlformats.org/drawingml/2006/main">
            <a:r>
              <a:t>- E:/yanjiusheng/阅读论文/file_system/SE_EOD/linux-sources/linux-v6.14-fs/fs/btrfs/volumes.c</a:t>
            </a:r>
          </a:p>
          <a:p xmlns:a="http://schemas.openxmlformats.org/drawingml/2006/main">
            <a:r>
              <a:t>- E:/yanjiusheng/阅读论文/file_system/SE_EOD/src/metadata_residual.py</a:t>
            </a:r>
          </a:p>
          <a:p xmlns:a="http://schemas.openxmlformats.org/drawingml/2006/main">
            <a:r>
              <a:t>- E:/yanjiusheng/阅读论文/file_system/SE_EOD/src/semantics/cancellation.py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27f6e93fb40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745b1c37d466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1fe4128c564c28" /><Relationship Type="http://schemas.openxmlformats.org/officeDocument/2006/relationships/slideLayout" Target="/ppt/slideLayouts/slideLayout1.xml" Id="R26b5bf32bc1a4be2" /><Relationship Type="http://schemas.openxmlformats.org/officeDocument/2006/relationships/slideLayout" Target="/ppt/slideLayouts/slideLayout2.xml" Id="Ra4a759ed1e12437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b5bf32bc1a4be2"/>
    <p:sldLayoutId xmlns:r="http://schemas.openxmlformats.org/officeDocument/2006/relationships" id="2147483650" r:id="Ra4a759ed1e12437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da479d80d404c" /><Relationship Type="http://schemas.openxmlformats.org/officeDocument/2006/relationships/notesSlide" Target="/ppt/notesSlides/notesSlide1.xml" Id="Rb5b7df09f12d48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3c98fee214393" /><Relationship Type="http://schemas.openxmlformats.org/officeDocument/2006/relationships/notesSlide" Target="/ppt/notesSlides/notesSlide2.xml" Id="Rc929f814e84b47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b5dae334a433d" /><Relationship Type="http://schemas.openxmlformats.org/officeDocument/2006/relationships/notesSlide" Target="/ppt/notesSlides/notesSlide3.xml" Id="Re7ff1d8d62694d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6d628d4c04e3e" /><Relationship Type="http://schemas.openxmlformats.org/officeDocument/2006/relationships/notesSlide" Target="/ppt/notesSlides/notesSlide4.xml" Id="R78b448a9825f4d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069e8e1dd4816" /><Relationship Type="http://schemas.openxmlformats.org/officeDocument/2006/relationships/notesSlide" Target="/ppt/notesSlides/notesSlide5.xml" Id="R0f41831ac46c42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5cfdad9e4463c" /><Relationship Type="http://schemas.openxmlformats.org/officeDocument/2006/relationships/notesSlide" Target="/ppt/notesSlides/notesSlide6.xml" Id="Rc4780aa8a3134a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5cdbbbf0c48a3" /><Relationship Type="http://schemas.openxmlformats.org/officeDocument/2006/relationships/notesSlide" Target="/ppt/notesSlides/notesSlide7.xml" Id="Rca1d55c3c77f49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f12f51c194330" /><Relationship Type="http://schemas.openxmlformats.org/officeDocument/2006/relationships/notesSlide" Target="/ppt/notesSlides/notesSlide8.xml" Id="R5060da981aa140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c1fd287ce84670" /><Relationship Type="http://schemas.openxmlformats.org/officeDocument/2006/relationships/notesSlide" Target="/ppt/notesSlides/notesSlide9.xml" Id="Rf3cf32aaad1b4a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68347d69c543fa" /><Relationship Type="http://schemas.openxmlformats.org/officeDocument/2006/relationships/notesSlide" Target="/ppt/notesSlides/notesSlide10.xml" Id="R56f6be383cad48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0049ff92b24250" /><Relationship Type="http://schemas.openxmlformats.org/officeDocument/2006/relationships/notesSlide" Target="/ppt/notesSlides/notesSlide11.xml" Id="Rd2dee20c963440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1006afb3934f7f" /><Relationship Type="http://schemas.openxmlformats.org/officeDocument/2006/relationships/notesSlide" Target="/ppt/notesSlides/notesSlide12.xml" Id="R09ef9a8768c743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1ffbd7258e4942" /><Relationship Type="http://schemas.openxmlformats.org/officeDocument/2006/relationships/notesSlide" Target="/ppt/notesSlides/notesSlide13.xml" Id="R68cf45c8b7624f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6efd3e107a4070" /><Relationship Type="http://schemas.openxmlformats.org/officeDocument/2006/relationships/notesSlide" Target="/ppt/notesSlides/notesSlide14.xml" Id="R28ce762a25b44a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EA5D63-9D8A-43C0-9677-B777CE67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8138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针对于元数据的错误路径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55B122-156E-458F-9835-E465BA83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6217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52441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B53F1D-A4F3-44F8-8940-740C71B1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1005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Bug 分类总览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6556F6F-5F33-474E-845B-67FB6F95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AD8E5CC-1DEC-436C-9869-B3B7527C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329184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B02E9B7-3176-487E-A677-EAB928BF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36576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类别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4AA20A9-6E63-41EF-9CD6-A1E67E62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325880"/>
            <a:ext cx="10972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数量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9661A9-74A2-460B-A5E5-195BB9E4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25880"/>
            <a:ext cx="58978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核心失效点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0D7F8A-8FB6-4091-8E32-3A800DEB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84248"/>
            <a:ext cx="36576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元数据错误被吞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8311057-E1A1-4EF0-9DF0-18D6A580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984248"/>
            <a:ext cx="10972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9D294D4-AD15-4B61-8CDF-65270929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84248"/>
            <a:ext cx="58978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必要步骤失败，但最终 return 0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92F487-8DDA-4DE6-A219-44F51C1E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42616"/>
            <a:ext cx="36576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元数据修改后回滚不完整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B07CD60-FAAC-466C-B907-716F3FAB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642616"/>
            <a:ext cx="10972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E6168BC-ACB6-4330-B81E-F01201AC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2616"/>
            <a:ext cx="58978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多阶段修改失败，只撤销局部状态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DA9965-917E-431F-ABC9-D7FE4A8D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00984"/>
            <a:ext cx="36576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返回值 / 技术状态污染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5CA528F-E4A2-4D0E-AAAD-D17005C0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00984"/>
            <a:ext cx="10972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0CF7273-5EF1-42CA-9F0C-681A2097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00984"/>
            <a:ext cx="58978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变量残留，返回语义与实际状态不一致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7777B3E-DBEA-495B-975C-9BF92EED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59352"/>
            <a:ext cx="36576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纯资源释放缺失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88EE93F-91E1-42D2-AA46-E977360A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959352"/>
            <a:ext cx="10972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60CE2E8-7A1E-4193-8C1A-5AA2F179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59352"/>
            <a:ext cx="589788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资源生命周期未完整闭合</a:t>
            </a:r>
          </a:p>
        </p:txBody>
      </p:sp>
    </p:spTree>
    <p:extLst>
      <p:ext uri="{BB962C8B-B14F-4D97-AF65-F5344CB8AC3E}">
        <p14:creationId xmlns:p14="http://schemas.microsoft.com/office/powerpoint/2010/main" val="1967210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449779-742D-40F5-A034-52699A0F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1005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类型一：元数据错误被吞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12442F-2B9D-437D-BADA-7F2AD3A1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6056E79-5C7E-407A-8B28-C5583C9D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329184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3735DD6-0AC7-410D-8CD8-C05894F8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典型模式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2597BD1-7903-4DDA-93CE-D3A09F51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08760"/>
            <a:ext cx="39776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底层元数据操作返回</a:t>
            </a:r>
          </a:p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-EIO / -ENOMEM / -EFSCORRUPTED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9302AC1-83E6-490B-8224-94AD3525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2066544"/>
            <a:ext cx="0" cy="237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DFBE88-9CF2-4622-8DF1-025D0DF8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59152"/>
            <a:ext cx="39776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错误保存在 ret / error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8099808-3470-43A8-AF18-BCDCE198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2916936"/>
            <a:ext cx="0" cy="237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FA7B5FD-2DE8-4998-89F1-93806676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09544"/>
            <a:ext cx="39776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跳到统一清理路径 out: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42AAD2E-9B3E-4122-87BC-488F84B5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3767328"/>
            <a:ext cx="0" cy="237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667E136-FDBF-4813-A222-3357F799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59936"/>
            <a:ext cx="39776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清理资源后 return 0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BFD8C08-F5B5-462E-B67B-1362843A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4617720"/>
            <a:ext cx="0" cy="237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384C23F-6DC6-40F2-8D08-2A9725AC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10328"/>
            <a:ext cx="39776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上层误判为成功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985C787-7C2D-43F7-BFF1-CCB814A9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325880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破坏的规则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C3E7C05-47AE-41EE-80BE-0D53F4DC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783080"/>
            <a:ext cx="45262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“返回成功”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必须意味着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元数据操作完整成功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5AD0F28-2589-4120-BDDD-6CEB9E9F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46120"/>
            <a:ext cx="502920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5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后果：调用者没有机会停止、回滚或取消事务，错误会被带入后续恢复、扩容或提交流程。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9476516-18F9-47FA-939D-91CC8B40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800600"/>
            <a:ext cx="50292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总结：必要元数据步骤失败，不得进入成功出口。</a:t>
            </a:r>
          </a:p>
        </p:txBody>
      </p:sp>
    </p:spTree>
    <p:extLst>
      <p:ext uri="{BB962C8B-B14F-4D97-AF65-F5344CB8AC3E}">
        <p14:creationId xmlns:p14="http://schemas.microsoft.com/office/powerpoint/2010/main" val="19221723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BB5985-FF17-4B54-B59E-CE72CE37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1005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例子：ext4 fast commit replay 中的局部不一致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98B2E0-3294-4955-AEFE-3C648602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A1CF253-57C9-4191-9BFD-9E3499B1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329184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CA014EA-66C2-4E38-A0C9-BC007F53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25880"/>
            <a:ext cx="29718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初始：inode extent</a:t>
            </a:r>
          </a:p>
          <a:p xmlns:a="http://schemas.openxmlformats.org/drawingml/2006/main">
            <a:pPr marL="0" indent="0" algn="ctr">
              <a:buNone/>
            </a:pPr>
            <a:r>
              <a:rPr sz="138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逻辑块 100–199 → 物理块 5000–5099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C02EF24-6BCB-4229-87CA-5B256CBA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82496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722E69A-7008-4EA3-819B-C3366CC9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143000"/>
            <a:ext cx="233172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步骤 1</a:t>
            </a:r>
          </a:p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ext4_mb_mark_bb()</a:t>
            </a:r>
          </a:p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把物理块标记为空闲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24BC523-7094-435F-980B-23CDB653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682496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408F983-609C-4FC9-9C2E-1D09C761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143000"/>
            <a:ext cx="274320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步骤 2 失败</a:t>
            </a:r>
          </a:p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ext4_ext_remove_space()</a:t>
            </a:r>
          </a:p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没有删除 extent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DD977AD-D9DA-4C00-9C3A-62B56ACC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63240"/>
            <a:ext cx="29260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对象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1B282BD-88C2-4953-A0B2-5DDC2CCA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3240"/>
            <a:ext cx="60350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函数退出后的状态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8804729-6DDF-4D08-9BB3-D6E2B798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93592"/>
            <a:ext cx="29260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inode extent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0C653AB-654D-4A7C-A202-C7D1C875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93592"/>
            <a:ext cx="60350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仍然引用 5000–5099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4396819-B7E6-44C7-B213-6EE6C103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23944"/>
            <a:ext cx="29260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块分配状态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8B0C297-1A32-415B-9FC3-8D9EA2F0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23944"/>
            <a:ext cx="60350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5000–5099 已被标为空闲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6132099-A425-4759-9D6E-3E900924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654296"/>
            <a:ext cx="29260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返回值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CE0333-62F5-45C1-827E-35607953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54296"/>
            <a:ext cx="60350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return 0，向上报告成功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5ABA8F2-9A88-48BA-AC3E-EC770D64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394960"/>
            <a:ext cx="89611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矛盾：同一批物理块同时“被 inode 引用”又“可被重新分配”。</a:t>
            </a:r>
          </a:p>
        </p:txBody>
      </p:sp>
    </p:spTree>
    <p:extLst>
      <p:ext uri="{BB962C8B-B14F-4D97-AF65-F5344CB8AC3E}">
        <p14:creationId xmlns:p14="http://schemas.microsoft.com/office/powerpoint/2010/main" val="11046001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3E9600-52D9-46E3-95B0-7E388CF3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1005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类型二：元数据修改后回滚不完整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563C2D7-F66D-4186-B275-833CC94A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647924D-85CF-433D-89BF-33DDBEAD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329184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CDDA67A-5F59-4B12-A7B1-810246C4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8686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77777"/>
                </a:solidFill>
              </a:rPr>
              <a:t>文件系统元数据错误路径 · 错误传播 / 回滚 / 状态同步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DE1ACF-CE8A-45E5-9620-8857186D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7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多阶段状态转换没有被当作“失败原子”的事务来实现。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7A9ECC4-7EB0-4F7A-8613-CCCEB2FF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19659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 1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已修改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329D311-6125-4255-BB1D-619C8FDB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828800"/>
            <a:ext cx="19659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 2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已修改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FBDEDE6-2F7F-4382-B440-E5FA54B7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28800"/>
            <a:ext cx="19659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 3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失败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04737C2-8426-4322-8C03-E128979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76272"/>
            <a:ext cx="640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43008BB-BC39-439C-AAD3-842F30FA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176272"/>
            <a:ext cx="640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91CFC09-EA78-4F3E-AC22-8A7962A9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246120"/>
            <a:ext cx="3246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错误路径只清理一部分对象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E930DB9-0D07-4EB6-8176-A7D26055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547872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FB19C1C-7995-442E-9843-B588AAF2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90672"/>
            <a:ext cx="388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指针 / 链表 / 引用 / 计数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仍停留在中间状态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7580C8C-168C-44B9-B203-E2D0B874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92040"/>
            <a:ext cx="99669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</a:pPr>
            <a:r>
              <a:rPr sz="16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应有原则：失败路径必须按逆向顺序恢复所有已改变的不变量，或进入明确的中止、延迟清理机制。</a:t>
            </a:r>
          </a:p>
        </p:txBody>
      </p:sp>
    </p:spTree>
    <p:extLst>
      <p:ext uri="{BB962C8B-B14F-4D97-AF65-F5344CB8AC3E}">
        <p14:creationId xmlns:p14="http://schemas.microsoft.com/office/powerpoint/2010/main" val="9047851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0FC8B2-FD67-444E-950D-826FB29C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1005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类型三：返回值 / 技术状态污染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F862A4-0A97-4712-835B-F228F493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660682-B2EF-483C-8012-6BFF23E8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329184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C6F57D8-ACBB-4C2F-9ADE-25978176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8686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77777"/>
                </a:solidFill>
              </a:rPr>
              <a:t>文件系统元数据错误路径 · 错误传播 / 回滚 / 状态同步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4A672D8-495D-42E2-8773-BDCF3197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78992"/>
            <a:ext cx="10607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6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一个变量在前一阶段表示错误，进入下一阶段后却没有重新初始化；后续代码仍按旧语义解释它。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C5B1222-B6F4-47D0-966C-2ECF5FDA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23774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第一次目标：</a:t>
            </a:r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extra_isize 16 → 64</a:t>
            </a:r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需要 48 字节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9E4397A-6218-410A-AAFA-4416B75E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267712"/>
            <a:ext cx="640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76EEA62-86B1-4A50-BCA5-3371FB8F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737360"/>
            <a:ext cx="25603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内部空闲只有 20 字节</a:t>
            </a:r>
          </a:p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移动 xattr 失败</a:t>
            </a:r>
          </a:p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error = -ENOSPC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0BD19C5-439E-4BC1-BF2F-5B311BE4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267712"/>
            <a:ext cx="640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46E974C-0149-4FAC-BE2B-B9BF8D40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828800"/>
            <a:ext cx="26060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fallback：</a:t>
            </a:r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extra_isize 16 → 32</a:t>
            </a:r>
          </a:p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需要 16 字节，可成功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5E9E6CE-34E1-426E-9C15-99A79C46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788920"/>
            <a:ext cx="0" cy="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92F681C-C853-443C-9484-6D75AB83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61188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实际元数据已更新为 32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但 error 仍残留 -ENOSPC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调用者收到失败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147AE1B-3E0A-4B13-963A-05AC1A43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166360"/>
            <a:ext cx="9692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</a:pPr>
            <a:r>
              <a:rPr sz="17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结论：返回状态、实际元数据修改状态、空间计数必须同步更新。</a:t>
            </a:r>
          </a:p>
        </p:txBody>
      </p:sp>
    </p:spTree>
    <p:extLst>
      <p:ext uri="{BB962C8B-B14F-4D97-AF65-F5344CB8AC3E}">
        <p14:creationId xmlns:p14="http://schemas.microsoft.com/office/powerpoint/2010/main" val="17423309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EC7D5C5-8C26-4BAE-A0A6-E7C250C4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1005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三条总结规则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34CB621-2931-4C32-AD4D-613C87F0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0FE7841-E179-4518-9625-85D0732F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329184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038BDFB-A9AF-45F1-A366-677B6ED6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8686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777777"/>
                </a:solidFill>
              </a:rPr>
              <a:t>文件系统元数据错误路径 · 错误传播 / 回滚 / 状态同步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E25BF3E-68E1-4C58-89F6-DD174FA5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25880"/>
            <a:ext cx="3246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规则 1：错误必须传播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C3D6AF-C601-4D7C-A079-8C293DFF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3312"/>
            <a:ext cx="6629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5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未被恢复、重试、替代或回滚的必要元数据步骤失败，不得到达成功出口。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96984C4-0E5D-48E8-931B-0CB10018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FCFC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ED941B4-7FB7-47C7-BB82-80BDE997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3246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规则 2：失败后恢复所有状态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1C23947-A8B3-447F-B008-5867B63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70632"/>
            <a:ext cx="6629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5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多阶段操作失败时，必须撤销已执行的状态转换，或纳入明确中止 / 恢复 / 延迟清理机制。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4B787E0-B3C4-48B6-ABD3-C45F40B2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66160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FCFC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957663F-DD8A-4DC2-B35B-E067EE94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3246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111111"/>
            </a:solidFill>
          </a:ln>
        </p:spPr>
        <p:txBody>
          <a:bodyPr xmlns:a="http://schemas.openxmlformats.org/drawingml/2006/main" wrap="square" lIns="889" tIns="889" rIns="889" bIns="889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Microsoft YaHei"/>
                <a:ea typeface="Microsoft YaHei"/>
                <a:cs typeface="Microsoft YaHei"/>
              </a:rPr>
              <a:t>规则 3：返回值、状态、计数同步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4C62262-CF35-4BF0-8622-10F00334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87952"/>
            <a:ext cx="6629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5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返回状态、状态机阶段、空间/引用记账必须形成协议允许的组合。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0E23227-D9E5-415E-8C75-6973E132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FCF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95788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E96B075-694D-4B8A-A1A6-B2E1050F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"/>
            <a:ext cx="1005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最终抽象：退出状态是否合法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9D0B7FC-EC54-4D02-B4E0-06C4C6F7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53B164-5BF8-47B6-AE7E-C3F70B2F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329184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82D1C32B-D8DD-4694-955A-1090E091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8" y="1288733"/>
            <a:ext cx="5080000" cy="337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多阶段文件系统元数据操作的错误路径</a:t>
            </a:r>
          </a:p>
        </p:txBody>
      </p:sp>
    </p:spTree>
    <p:extLst>
      <p:ext uri="{BB962C8B-B14F-4D97-AF65-F5344CB8AC3E}">
        <p14:creationId xmlns:p14="http://schemas.microsoft.com/office/powerpoint/2010/main" val="21276900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1B24509-8FBA-49DC-AF78-315F879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74" y="1581246"/>
            <a:ext cx="8476808" cy="1809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失败路径文件系统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元数据残差分析</a:t>
            </a:r>
          </a:p>
        </p:txBody>
      </p:sp>
    </p:spTree>
    <p:extLst>
      <p:ext uri="{BB962C8B-B14F-4D97-AF65-F5344CB8AC3E}">
        <p14:creationId xmlns:p14="http://schemas.microsoft.com/office/powerpoint/2010/main" val="162443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0E192D-BB23-4DC7-B500-9A6DC061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504977"/>
            <a:ext cx="11277013" cy="609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 b="1"/>
              <a:t>为什么当前分析仍是通用错误路径框架</a:t>
            </a:r>
          </a:p>
        </p:txBody>
      </p:sp>
      <p:sp>
        <p:nvSpPr>
          <p:cNvPr id="5" name="code-MOTIVATING FAILURE SHAPE">
            <a:extLst xmlns:a="http://schemas.openxmlformats.org/drawingml/2006/main">
              <a:ext uri="{FF2B5EF4-FFF2-40B4-BE49-F238E27FC236}">
                <a16:creationId xmlns:a16="http://schemas.microsoft.com/office/drawing/2014/main" id="{4D38BC46-2282-433B-AD8A-314D281C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1466952"/>
            <a:ext cx="6286173" cy="40955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6" name="bar-MOTIVATING FAILURE SHAPE">
            <a:extLst xmlns:a="http://schemas.openxmlformats.org/drawingml/2006/main">
              <a:ext uri="{FF2B5EF4-FFF2-40B4-BE49-F238E27FC236}">
                <a16:creationId xmlns:a16="http://schemas.microsoft.com/office/drawing/2014/main" id="{A53EC253-1A80-41DC-96A8-73DE0B34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1466952"/>
            <a:ext cx="66672" cy="40955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4023240-9129-49EB-A951-7C12FC9A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66" y="1600295"/>
            <a:ext cx="5924241" cy="228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993"/>
          </a:bodyPr>
          <a:lstStyle xmlns:a="http://schemas.openxmlformats.org/drawingml/2006/main"/>
          <a:p xmlns:a="http://schemas.openxmlformats.org/drawingml/2006/main">
            <a:r>
              <a:rPr sz="1200" b="1"/>
              <a:t>GENERIC FAILURE-PATH SHAPE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A2D2BB-5ED1-483E-BA5A-4908836B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66" y="1914604"/>
            <a:ext cx="5943290" cy="352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00"/>
              <a:t>publish(owner, metadata_state);   // 状态先对外可见</a:t>
            </a:r>
          </a:p>
          <a:p xmlns:a="http://schemas.openxmlformats.org/drawingml/2006/main">
            <a:r>
              <a:rPr sz="1200"/>
              <a:t>update(counter_or_topology);</a:t>
            </a:r>
          </a:p>
          <a:p xmlns:a="http://schemas.openxmlformats.org/drawingml/2006/main">
            <a:r>
              <a:rPr sz="1200"/>
              <a:t>ret = later_operation();          // 后续步骤失败</a:t>
            </a:r>
          </a:p>
          <a:p xmlns:a="http://schemas.openxmlformats.org/drawingml/2006/main">
            <a:r>
              <a:rPr sz="1200"/>
              <a:t>if (ret) goto error;</a:t>
            </a:r>
          </a:p>
          <a:p xmlns:a="http://schemas.openxmlformats.org/drawingml/2006/main">
            <a:r>
              <a:rPr sz="1200"/>
              <a:t>error: local_cleanup();            // 只清理局部对象</a:t>
            </a:r>
          </a:p>
          <a:p xmlns:a="http://schemas.openxmlformats.org/drawingml/2006/main">
            <a:r>
              <a:rPr sz="1200"/>
              <a:t>return ret;</a:t>
            </a:r>
          </a:p>
        </p:txBody>
      </p:sp>
      <p:sp>
        <p:nvSpPr>
          <p:cNvPr id="9" name="panel-分析问题">
            <a:extLst xmlns:a="http://schemas.openxmlformats.org/drawingml/2006/main">
              <a:ext uri="{FF2B5EF4-FFF2-40B4-BE49-F238E27FC236}">
                <a16:creationId xmlns:a16="http://schemas.microsoft.com/office/drawing/2014/main" id="{D6173B22-806F-48CD-A691-81F1E707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476" y="1466952"/>
            <a:ext cx="4552713" cy="12000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DADC4A2-7095-43B8-9987-49F51453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1966" y="1619344"/>
            <a:ext cx="4171733" cy="285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500" b="1"/>
              <a:t>老师追问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5C7B620-F08E-488B-9330-6AD8B79F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1966" y="1990800"/>
            <a:ext cx="4171733" cy="552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019"/>
          </a:bodyPr>
          <a:lstStyle xmlns:a="http://schemas.openxmlformats.org/drawingml/2006/main"/>
          <a:p xmlns:a="http://schemas.openxmlformats.org/drawingml/2006/main">
            <a:r>
              <a:rPr sz="1400"/>
              <a:t>把 metadata_state 换成锁、缓存或网络连接，E/C/T/R 流程仍成立。</a:t>
            </a:r>
          </a:p>
          <a:p xmlns:a="http://schemas.openxmlformats.org/drawingml/2006/main">
            <a:r>
              <a:rPr sz="1400"/>
              <a:t> </a:t>
            </a:r>
          </a:p>
          <a:p xmlns:a="http://schemas.openxmlformats.org/drawingml/2006/main">
            <a:r>
              <a:rPr sz="1400"/>
              <a:t>文件系统特有的状态关系在哪里？</a:t>
            </a:r>
          </a:p>
        </p:txBody>
      </p:sp>
    </p:spTree>
    <p:extLst>
      <p:ext uri="{BB962C8B-B14F-4D97-AF65-F5344CB8AC3E}">
        <p14:creationId xmlns:p14="http://schemas.microsoft.com/office/powerpoint/2010/main" val="15920809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B87AD8-EEA3-47F9-BA92-5DB270C2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504977"/>
            <a:ext cx="11277013" cy="609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Microsoft YaHei"/>
                <a:ea typeface="Microsoft YaHei"/>
                <a:cs typeface="Microsoft YaHei"/>
              </a:rPr>
              <a:t>当前项目只证明局部 effect 是否在错误出口残留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F63067-2007-430D-9A2D-F8BAEA38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1181217"/>
            <a:ext cx="11277013" cy="190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panel-E_f · reaching effects">
            <a:extLst xmlns:a="http://schemas.openxmlformats.org/drawingml/2006/main">
              <a:ext uri="{FF2B5EF4-FFF2-40B4-BE49-F238E27FC236}">
                <a16:creationId xmlns:a16="http://schemas.microsoft.com/office/drawing/2014/main" id="{A1E657A6-9197-44A6-8B65-EE7B934E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1466952"/>
            <a:ext cx="2580015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88159A-08DB-41FB-BEE0-9EBDF5F3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8" y="1619842"/>
            <a:ext cx="2197790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提取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1932CE4-A5DD-4812-AE9F-BA2AC29B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8" y="1992511"/>
            <a:ext cx="2197790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150"/>
              <a:t>list_add / counter++</a:t>
            </a:r>
          </a:p>
          <a:p xmlns:a="http://schemas.openxmlformats.org/drawingml/2006/main">
            <a:r>
              <a:rPr sz="1150"/>
              <a:t>pointer = device</a:t>
            </a:r>
          </a:p>
        </p:txBody>
      </p:sp>
      <p:sp>
        <p:nvSpPr>
          <p:cNvPr id="8" name="panel-C_f · cancellation">
            <a:extLst xmlns:a="http://schemas.openxmlformats.org/drawingml/2006/main">
              <a:ext uri="{FF2B5EF4-FFF2-40B4-BE49-F238E27FC236}">
                <a16:creationId xmlns:a16="http://schemas.microsoft.com/office/drawing/2014/main" id="{8BBC7AF9-57E1-439A-A2C6-F3FF92BE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859" y="1466952"/>
            <a:ext cx="2580015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44E805-21FD-4B23-A9F0-51885830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971" y="1619842"/>
            <a:ext cx="2197790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切片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DA49AA2-8A85-4C37-B7D2-E810403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971" y="1992511"/>
            <a:ext cx="2197790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150"/>
              <a:t>失败前 E_f；错误路径 C_f / T_f</a:t>
            </a:r>
          </a:p>
        </p:txBody>
      </p:sp>
      <p:sp>
        <p:nvSpPr>
          <p:cNvPr id="11" name="panel-T_f · protection">
            <a:extLst xmlns:a="http://schemas.openxmlformats.org/drawingml/2006/main">
              <a:ext uri="{FF2B5EF4-FFF2-40B4-BE49-F238E27FC236}">
                <a16:creationId xmlns:a16="http://schemas.microsoft.com/office/drawing/2014/main" id="{2F9C8171-A037-42E5-9B3D-825500BA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542" y="1466952"/>
            <a:ext cx="2580015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2330CA0-669C-43CF-8475-69DD7C90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654" y="1619842"/>
            <a:ext cx="2197790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匹配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5701CAB-904C-4CBB-99BE-D48D4E56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654" y="1992511"/>
            <a:ext cx="2197790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150"/>
              <a:t>同一 root / key / value 的逆向操作</a:t>
            </a:r>
          </a:p>
        </p:txBody>
      </p:sp>
      <p:sp>
        <p:nvSpPr>
          <p:cNvPr id="14" name="panel-R_f · residual">
            <a:extLst xmlns:a="http://schemas.openxmlformats.org/drawingml/2006/main">
              <a:ext uri="{FF2B5EF4-FFF2-40B4-BE49-F238E27FC236}">
                <a16:creationId xmlns:a16="http://schemas.microsoft.com/office/drawing/2014/main" id="{F37CABA3-B706-4896-ABB9-2F0555B5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224" y="1466952"/>
            <a:ext cx="2713793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1A0B328-57FC-44FE-8D22-8B6F7D3E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336" y="1619842"/>
            <a:ext cx="2331569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输出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C9DB608-7B2B-40B5-AAC3-0FCEE8B4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336" y="1992511"/>
            <a:ext cx="2331569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150"/>
              <a:t>非空 R_f → Boundary / UNKNOWN</a:t>
            </a:r>
          </a:p>
        </p:txBody>
      </p:sp>
      <p:sp>
        <p:nvSpPr>
          <p:cNvPr id="21" name="code-IDENTITY-AWARE CANCELLATION">
            <a:extLst xmlns:a="http://schemas.openxmlformats.org/drawingml/2006/main">
              <a:ext uri="{FF2B5EF4-FFF2-40B4-BE49-F238E27FC236}">
                <a16:creationId xmlns:a16="http://schemas.microsoft.com/office/drawing/2014/main" id="{94C04B6E-701B-42D7-A363-FB129372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198" y="3076593"/>
            <a:ext cx="6372528" cy="3047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22" name="bar-IDENTITY-AWARE CANCELLATION">
            <a:extLst xmlns:a="http://schemas.openxmlformats.org/drawingml/2006/main">
              <a:ext uri="{FF2B5EF4-FFF2-40B4-BE49-F238E27FC236}">
                <a16:creationId xmlns:a16="http://schemas.microsoft.com/office/drawing/2014/main" id="{B3FC2D81-32FF-4636-B4EA-A61FE557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198" y="3076593"/>
            <a:ext cx="78101" cy="3047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15C2426-A7ED-45E9-910B-83855E3E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688" y="3209936"/>
            <a:ext cx="5945830" cy="250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200" b="1"/>
              <a:t>CURRENT PROJECT · btrfs_init_new_device()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81A6F01-C12B-45BF-B718-397101DB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688" y="3524245"/>
            <a:ext cx="5968054" cy="242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100"/>
              <a:t>ADD(post_commit_list, device)  → 是否 REMOVE？</a:t>
            </a:r>
          </a:p>
          <a:p xmlns:a="http://schemas.openxmlformats.org/drawingml/2006/main">
            <a:r>
              <a:rPr sz="1100"/>
              <a:t>INC(num_devices, 1)            → 是否 DEC？</a:t>
            </a:r>
          </a:p>
          <a:p xmlns:a="http://schemas.openxmlformats.org/drawingml/2006/main">
            <a:r>
              <a:rPr sz="1100"/>
              <a:t>SET(latest_dev, device)        → 是否 RESTORE？</a:t>
            </a:r>
          </a:p>
          <a:p xmlns:a="http://schemas.openxmlformats.org/drawingml/2006/main">
            <a:r>
              <a:rPr sz="1100"/>
              <a:t>SET(s_bdev, device-&gt;bdev)      → 是否 RESTORE？</a:t>
            </a:r>
          </a:p>
          <a:p xmlns:a="http://schemas.openxmlformats.org/drawingml/2006/main">
            <a:r>
              <a:rPr sz="1100"/>
              <a:t> </a:t>
            </a:r>
          </a:p>
          <a:p xmlns:a="http://schemas.openxmlformats.org/drawingml/2006/main">
            <a:r>
              <a:rPr sz="1100"/>
              <a:t>这些 effect 被逐项判断，却没有被识别为</a:t>
            </a:r>
          </a:p>
          <a:p xmlns:a="http://schemas.openxmlformats.org/drawingml/2006/main">
            <a:r>
              <a:rPr sz="1100"/>
              <a:t>“一次设备拓扑变更必须共同完成”的文件系统语义单元。</a:t>
            </a:r>
          </a:p>
        </p:txBody>
      </p:sp>
    </p:spTree>
    <p:extLst>
      <p:ext uri="{BB962C8B-B14F-4D97-AF65-F5344CB8AC3E}">
        <p14:creationId xmlns:p14="http://schemas.microsoft.com/office/powerpoint/2010/main" val="1613121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B87AD8-EEA3-47F9-BA92-5DB270C2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504977"/>
            <a:ext cx="11277013" cy="609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Microsoft YaHei"/>
                <a:ea typeface="Microsoft YaHei"/>
                <a:cs typeface="Microsoft YaHei"/>
              </a:rPr>
              <a:t>Btrfs 设备添加暴露：字段分别恢复，不等于拓扑完成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F63067-2007-430D-9A2D-F8BAEA38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1181217"/>
            <a:ext cx="11277013" cy="190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panel-E_f · reaching effects">
            <a:extLst xmlns:a="http://schemas.openxmlformats.org/drawingml/2006/main">
              <a:ext uri="{FF2B5EF4-FFF2-40B4-BE49-F238E27FC236}">
                <a16:creationId xmlns:a16="http://schemas.microsoft.com/office/drawing/2014/main" id="{A1E657A6-9197-44A6-8B65-EE7B934E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1466952"/>
            <a:ext cx="2580015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88159A-08DB-41FB-BEE0-9EBDF5F3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8" y="1619842"/>
            <a:ext cx="2197790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#16 · 事务挂接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1932CE4-A5DD-4812-AE9F-BA2AC29B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8" y="1992511"/>
            <a:ext cx="2197790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150"/>
              <a:t>post_commit_list 仍挂接；device 已进入释放路径</a:t>
            </a:r>
          </a:p>
        </p:txBody>
      </p:sp>
      <p:sp>
        <p:nvSpPr>
          <p:cNvPr id="8" name="panel-C_f · cancellation">
            <a:extLst xmlns:a="http://schemas.openxmlformats.org/drawingml/2006/main">
              <a:ext uri="{FF2B5EF4-FFF2-40B4-BE49-F238E27FC236}">
                <a16:creationId xmlns:a16="http://schemas.microsoft.com/office/drawing/2014/main" id="{8BBC7AF9-57E1-439A-A2C6-F3FF92BE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859" y="1466952"/>
            <a:ext cx="2580015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44E805-21FD-4B23-A9F0-51885830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971" y="1619842"/>
            <a:ext cx="2197790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#17 · 活跃指针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DA49AA2-8A85-4C37-B7D2-E810403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971" y="1992511"/>
            <a:ext cx="2197790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150"/>
              <a:t>latest_dev / s_bdev 仍指向失败设备</a:t>
            </a:r>
          </a:p>
        </p:txBody>
      </p:sp>
      <p:sp>
        <p:nvSpPr>
          <p:cNvPr id="11" name="panel-T_f · protection">
            <a:extLst xmlns:a="http://schemas.openxmlformats.org/drawingml/2006/main">
              <a:ext uri="{FF2B5EF4-FFF2-40B4-BE49-F238E27FC236}">
                <a16:creationId xmlns:a16="http://schemas.microsoft.com/office/drawing/2014/main" id="{2F9C8171-A037-42E5-9B3D-825500BA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542" y="1466952"/>
            <a:ext cx="2580015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2330CA0-669C-43CF-8475-69DD7C90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654" y="1619842"/>
            <a:ext cx="2197790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#18 · sprout 拓扑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5701CAB-904C-4CBB-99BE-D48D4E56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654" y="1992511"/>
            <a:ext cx="2197790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150"/>
              <a:t>seed 已拆分；sprout fs_devices 未恢复</a:t>
            </a:r>
          </a:p>
        </p:txBody>
      </p:sp>
      <p:sp>
        <p:nvSpPr>
          <p:cNvPr id="14" name="panel-R_f · residual">
            <a:extLst xmlns:a="http://schemas.openxmlformats.org/drawingml/2006/main">
              <a:ext uri="{FF2B5EF4-FFF2-40B4-BE49-F238E27FC236}">
                <a16:creationId xmlns:a16="http://schemas.microsoft.com/office/drawing/2014/main" id="{F37CABA3-B706-4896-ABB9-2F0555B5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224" y="1466952"/>
            <a:ext cx="2713793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1A0B328-57FC-44FE-8D22-8B6F7D3E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336" y="1619842"/>
            <a:ext cx="2331569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P3 · 成员与计数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C9DB608-7B2B-40B5-AAC3-0FCEE8B4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336" y="1992511"/>
            <a:ext cx="2331569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23"/>
          </a:bodyPr>
          <a:lstStyle xmlns:a="http://schemas.openxmlformats.org/drawingml/2006/main"/>
          <a:p xmlns:a="http://schemas.openxmlformats.org/drawingml/2006/main">
            <a:r>
              <a:rPr sz="1150"/>
              <a:t>device 已入链且计数增加；后续失败直接返回</a:t>
            </a:r>
          </a:p>
        </p:txBody>
      </p:sp>
      <p:sp>
        <p:nvSpPr>
          <p:cNvPr id="21" name="code-IDENTITY-AWARE CANCELLATION">
            <a:extLst xmlns:a="http://schemas.openxmlformats.org/drawingml/2006/main">
              <a:ext uri="{FF2B5EF4-FFF2-40B4-BE49-F238E27FC236}">
                <a16:creationId xmlns:a16="http://schemas.microsoft.com/office/drawing/2014/main" id="{94C04B6E-701B-42D7-A363-FB129372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198" y="3076593"/>
            <a:ext cx="6372528" cy="3047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22" name="bar-IDENTITY-AWARE CANCELLATION">
            <a:extLst xmlns:a="http://schemas.openxmlformats.org/drawingml/2006/main">
              <a:ext uri="{FF2B5EF4-FFF2-40B4-BE49-F238E27FC236}">
                <a16:creationId xmlns:a16="http://schemas.microsoft.com/office/drawing/2014/main" id="{B3FC2D81-32FF-4636-B4EA-A61FE557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198" y="3076593"/>
            <a:ext cx="78101" cy="3047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15C2426-A7ED-45E9-910B-83855E3E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688" y="3209936"/>
            <a:ext cx="5945830" cy="250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200" b="1"/>
              <a:t>THE MISSING FILESYSTEM RELATION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81A6F01-C12B-45BF-B718-397101DB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688" y="3524245"/>
            <a:ext cx="5968054" cy="242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050"/>
              <a:t>Member(device, fs_devices)</a:t>
            </a:r>
          </a:p>
          <a:p xmlns:a="http://schemas.openxmlformats.org/drawingml/2006/main">
            <a:r>
              <a:rPr sz="1050"/>
              <a:t>num_devices == CountMembers(fs_devices)</a:t>
            </a:r>
          </a:p>
          <a:p xmlns:a="http://schemas.openxmlformats.org/drawingml/2006/main">
            <a:r>
              <a:rPr sz="1050"/>
              <a:t>latest_dev ∈ ActiveMembers(fs_devices)</a:t>
            </a:r>
          </a:p>
          <a:p xmlns:a="http://schemas.openxmlformats.org/drawingml/2006/main">
            <a:r>
              <a:rPr sz="1050"/>
              <a:t>s_bdev belongs_to(latest_dev)</a:t>
            </a:r>
          </a:p>
          <a:p xmlns:a="http://schemas.openxmlformats.org/drawingml/2006/main">
            <a:r>
              <a:rPr sz="1050"/>
              <a:t>PendingUpdate(trans, device) ⇒ OwnedBy(device, trans)</a:t>
            </a:r>
          </a:p>
          <a:p xmlns:a="http://schemas.openxmlformats.org/drawingml/2006/main">
            <a:r>
              <a:rPr sz="1050"/>
              <a:t> </a:t>
            </a:r>
          </a:p>
          <a:p xmlns:a="http://schemas.openxmlformats.org/drawingml/2006/main">
            <a:r>
              <a:rPr sz="1050"/>
              <a:t>单项 ADD/REMOVE、INC/DEC 成立，仍不能证明这些关系共同合法。</a:t>
            </a:r>
          </a:p>
        </p:txBody>
      </p:sp>
    </p:spTree>
    <p:extLst>
      <p:ext uri="{BB962C8B-B14F-4D97-AF65-F5344CB8AC3E}">
        <p14:creationId xmlns:p14="http://schemas.microsoft.com/office/powerpoint/2010/main" val="1613121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B87AD8-EEA3-47F9-BA92-5DB270C2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504977"/>
            <a:ext cx="11277013" cy="609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Microsoft YaHei"/>
                <a:ea typeface="Microsoft YaHei"/>
                <a:cs typeface="Microsoft YaHei"/>
              </a:rPr>
              <a:t>新抽象：检查元数据操作的完成束，而不是逐字段“加减”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F63067-2007-430D-9A2D-F8BAEA38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1181217"/>
            <a:ext cx="11277013" cy="190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panel-E_f · reaching effects">
            <a:extLst xmlns:a="http://schemas.openxmlformats.org/drawingml/2006/main">
              <a:ext uri="{FF2B5EF4-FFF2-40B4-BE49-F238E27FC236}">
                <a16:creationId xmlns:a16="http://schemas.microsoft.com/office/drawing/2014/main" id="{A1E657A6-9197-44A6-8B65-EE7B934E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1466952"/>
            <a:ext cx="2580015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88159A-08DB-41FB-BEE0-9EBDF5F3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8" y="1619842"/>
            <a:ext cx="2197790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逻辑事实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1932CE4-A5DD-4812-AE9F-BA2AC29B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8" y="1992511"/>
            <a:ext cx="2197790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150"/>
              <a:t>Membership / Cardinality / ActiveSelector</a:t>
            </a:r>
          </a:p>
        </p:txBody>
      </p:sp>
      <p:sp>
        <p:nvSpPr>
          <p:cNvPr id="8" name="panel-C_f · cancellation">
            <a:extLst xmlns:a="http://schemas.openxmlformats.org/drawingml/2006/main">
              <a:ext uri="{FF2B5EF4-FFF2-40B4-BE49-F238E27FC236}">
                <a16:creationId xmlns:a16="http://schemas.microsoft.com/office/drawing/2014/main" id="{8BBC7AF9-57E1-439A-A2C6-F3FF92BE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859" y="1466952"/>
            <a:ext cx="2580015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44E805-21FD-4B23-A9F0-51885830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971" y="1619842"/>
            <a:ext cx="2197790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依赖关系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DA49AA2-8A85-4C37-B7D2-E810403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971" y="1992511"/>
            <a:ext cx="2197790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150"/>
              <a:t>字段、容器、指针、计数必须描述同一拓扑</a:t>
            </a:r>
          </a:p>
        </p:txBody>
      </p:sp>
      <p:sp>
        <p:nvSpPr>
          <p:cNvPr id="11" name="panel-T_f · protection">
            <a:extLst xmlns:a="http://schemas.openxmlformats.org/drawingml/2006/main">
              <a:ext uri="{FF2B5EF4-FFF2-40B4-BE49-F238E27FC236}">
                <a16:creationId xmlns:a16="http://schemas.microsoft.com/office/drawing/2014/main" id="{2F9C8171-A037-42E5-9B3D-825500BA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542" y="1466952"/>
            <a:ext cx="2580015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2330CA0-669C-43CF-8475-69DD7C90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654" y="1619842"/>
            <a:ext cx="2197790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出口契约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5701CAB-904C-4CBB-99BE-D48D4E56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654" y="1992511"/>
            <a:ext cx="2197790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150"/>
              <a:t>SUCCESS 或 FAILURE_ROLLED_BACK</a:t>
            </a:r>
          </a:p>
        </p:txBody>
      </p:sp>
      <p:sp>
        <p:nvSpPr>
          <p:cNvPr id="14" name="panel-R_f · residual">
            <a:extLst xmlns:a="http://schemas.openxmlformats.org/drawingml/2006/main">
              <a:ext uri="{FF2B5EF4-FFF2-40B4-BE49-F238E27FC236}">
                <a16:creationId xmlns:a16="http://schemas.microsoft.com/office/drawing/2014/main" id="{F37CABA3-B706-4896-ABB9-2F0555B5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224" y="1466952"/>
            <a:ext cx="2713793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1A0B328-57FC-44FE-8D22-8B6F7D3E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336" y="1619842"/>
            <a:ext cx="2331569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恢复接管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C9DB608-7B2B-40B5-AAC3-0FCEE8B4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336" y="1992511"/>
            <a:ext cx="2331569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150"/>
              <a:t>明确恢复机制负责后续收敛</a:t>
            </a:r>
          </a:p>
        </p:txBody>
      </p:sp>
      <p:sp>
        <p:nvSpPr>
          <p:cNvPr id="21" name="code-IDENTITY-AWARE CANCELLATION">
            <a:extLst xmlns:a="http://schemas.openxmlformats.org/drawingml/2006/main">
              <a:ext uri="{FF2B5EF4-FFF2-40B4-BE49-F238E27FC236}">
                <a16:creationId xmlns:a16="http://schemas.microsoft.com/office/drawing/2014/main" id="{94C04B6E-701B-42D7-A363-FB129372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198" y="3076593"/>
            <a:ext cx="6372528" cy="3047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22" name="bar-IDENTITY-AWARE CANCELLATION">
            <a:extLst xmlns:a="http://schemas.openxmlformats.org/drawingml/2006/main">
              <a:ext uri="{FF2B5EF4-FFF2-40B4-BE49-F238E27FC236}">
                <a16:creationId xmlns:a16="http://schemas.microsoft.com/office/drawing/2014/main" id="{B3FC2D81-32FF-4636-B4EA-A61FE557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198" y="3076593"/>
            <a:ext cx="78101" cy="3047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15C2426-A7ED-45E9-910B-83855E3E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688" y="3209936"/>
            <a:ext cx="5945830" cy="250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200" b="1"/>
              <a:t>FILESYSTEM METADATA COMPLETION BUNDLE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81A6F01-C12B-45BF-B718-397101DB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688" y="3524245"/>
            <a:ext cx="5968054" cy="242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000"/>
              <a:t>Source writes / helper calls</a:t>
            </a:r>
          </a:p>
          <a:p xmlns:a="http://schemas.openxmlformats.org/drawingml/2006/main">
            <a:r>
              <a:rPr sz="1000"/>
              <a:t>        ↓ lift</a:t>
            </a:r>
          </a:p>
          <a:p xmlns:a="http://schemas.openxmlformats.org/drawingml/2006/main">
            <a:r>
              <a:rPr sz="1000"/>
              <a:t>Filesystem logical facts</a:t>
            </a:r>
          </a:p>
          <a:p xmlns:a="http://schemas.openxmlformats.org/drawingml/2006/main">
            <a:r>
              <a:rPr sz="1000"/>
              <a:t>        ↓ compose</a:t>
            </a:r>
          </a:p>
          <a:p xmlns:a="http://schemas.openxmlformats.org/drawingml/2006/main">
            <a:r>
              <a:rPr sz="1000"/>
              <a:t>Completion bundle B_op</a:t>
            </a:r>
          </a:p>
          <a:p xmlns:a="http://schemas.openxmlformats.org/drawingml/2006/main">
            <a:r>
              <a:rPr sz="1000"/>
              <a:t>        ↓ check each exit</a:t>
            </a:r>
          </a:p>
          <a:p xmlns:a="http://schemas.openxmlformats.org/drawingml/2006/main">
            <a:r>
              <a:rPr sz="1000"/>
              <a:t>SUCCESS | ROLLED_BACK | RECOVERY_OWNED | ILLEGAL_PARTIAL</a:t>
            </a:r>
          </a:p>
          <a:p xmlns:a="http://schemas.openxmlformats.org/drawingml/2006/main">
            <a:r>
              <a:rPr sz="1000"/>
              <a:t> </a:t>
            </a:r>
          </a:p>
          <a:p xmlns:a="http://schemas.openxmlformats.org/drawingml/2006/main">
            <a:r>
              <a:rPr sz="1000"/>
              <a:t>E_f / C_f / T_f / R_f 仍保留，但只作为构造完成束的路径证据。</a:t>
            </a:r>
          </a:p>
        </p:txBody>
      </p:sp>
    </p:spTree>
    <p:extLst>
      <p:ext uri="{BB962C8B-B14F-4D97-AF65-F5344CB8AC3E}">
        <p14:creationId xmlns:p14="http://schemas.microsoft.com/office/powerpoint/2010/main" val="1613121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B87AD8-EEA3-47F9-BA92-5DB270C2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504977"/>
            <a:ext cx="11277013" cy="609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Microsoft YaHei"/>
                <a:ea typeface="Microsoft YaHei"/>
                <a:cs typeface="Microsoft YaHei"/>
              </a:rPr>
              <a:t>为什么采用完成束：文件系统语义进入核心，落地成本仍可控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F63067-2007-430D-9A2D-F8BAEA38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1181217"/>
            <a:ext cx="11277013" cy="190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panel-E_f · reaching effects">
            <a:extLst xmlns:a="http://schemas.openxmlformats.org/drawingml/2006/main">
              <a:ext uri="{FF2B5EF4-FFF2-40B4-BE49-F238E27FC236}">
                <a16:creationId xmlns:a16="http://schemas.microsoft.com/office/drawing/2014/main" id="{A1E657A6-9197-44A6-8B65-EE7B934E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76" y="1466952"/>
            <a:ext cx="2580015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88159A-08DB-41FB-BEE0-9EBDF5F3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8" y="1619842"/>
            <a:ext cx="2197790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文件系统特有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1932CE4-A5DD-4812-AE9F-BA2AC29B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8" y="1992511"/>
            <a:ext cx="2197790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150"/>
              <a:t>检查 topology / namespace / accounting / recovery</a:t>
            </a:r>
          </a:p>
        </p:txBody>
      </p:sp>
      <p:sp>
        <p:nvSpPr>
          <p:cNvPr id="8" name="panel-C_f · cancellation">
            <a:extLst xmlns:a="http://schemas.openxmlformats.org/drawingml/2006/main">
              <a:ext uri="{FF2B5EF4-FFF2-40B4-BE49-F238E27FC236}">
                <a16:creationId xmlns:a16="http://schemas.microsoft.com/office/drawing/2014/main" id="{8BBC7AF9-57E1-439A-A2C6-F3FF92BE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859" y="1466952"/>
            <a:ext cx="2580015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44E805-21FD-4B23-A9F0-51885830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971" y="1619842"/>
            <a:ext cx="2197790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避免规则爆炸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DA49AA2-8A85-4C37-B7D2-E810403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971" y="1992511"/>
            <a:ext cx="2197790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150"/>
              <a:t>3–4 类模板；各 FS 只绑定字段与 API 角色</a:t>
            </a:r>
          </a:p>
        </p:txBody>
      </p:sp>
      <p:sp>
        <p:nvSpPr>
          <p:cNvPr id="11" name="panel-T_f · protection">
            <a:extLst xmlns:a="http://schemas.openxmlformats.org/drawingml/2006/main">
              <a:ext uri="{FF2B5EF4-FFF2-40B4-BE49-F238E27FC236}">
                <a16:creationId xmlns:a16="http://schemas.microsoft.com/office/drawing/2014/main" id="{2F9C8171-A037-42E5-9B3D-825500BA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542" y="1466952"/>
            <a:ext cx="2580015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2330CA0-669C-43CF-8475-69DD7C90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654" y="1619842"/>
            <a:ext cx="2197790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减少误报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5701CAB-904C-4CBB-99BE-D48D4E56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654" y="1992511"/>
            <a:ext cx="2197790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150"/>
              <a:t>报告缺失义务，减少孤立 residual</a:t>
            </a:r>
          </a:p>
        </p:txBody>
      </p:sp>
      <p:sp>
        <p:nvSpPr>
          <p:cNvPr id="14" name="panel-R_f · residual">
            <a:extLst xmlns:a="http://schemas.openxmlformats.org/drawingml/2006/main">
              <a:ext uri="{FF2B5EF4-FFF2-40B4-BE49-F238E27FC236}">
                <a16:creationId xmlns:a16="http://schemas.microsoft.com/office/drawing/2014/main" id="{F37CABA3-B706-4896-ABB9-2F0555B5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224" y="1466952"/>
            <a:ext cx="2713793" cy="12613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1A0B328-57FC-44FE-8D22-8B6F7D3E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336" y="1619842"/>
            <a:ext cx="2331569" cy="28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400" b="1"/>
              <a:t>指导跨过程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C9DB608-7B2B-40B5-AAC3-0FCEE8B4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336" y="1992511"/>
            <a:ext cx="2331569" cy="6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150"/>
              <a:t>只为受阻的 bundle 触发摘要与身份证明</a:t>
            </a:r>
          </a:p>
        </p:txBody>
      </p:sp>
      <p:sp>
        <p:nvSpPr>
          <p:cNvPr id="21" name="code-IDENTITY-AWARE CANCELLATION">
            <a:extLst xmlns:a="http://schemas.openxmlformats.org/drawingml/2006/main">
              <a:ext uri="{FF2B5EF4-FFF2-40B4-BE49-F238E27FC236}">
                <a16:creationId xmlns:a16="http://schemas.microsoft.com/office/drawing/2014/main" id="{94C04B6E-701B-42D7-A363-FB129372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198" y="3076593"/>
            <a:ext cx="6372528" cy="3047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DBDBD"/>
            </a:solidFill>
            <a:prstDash val="solid"/>
          </a:ln>
        </p:spPr>
      </p:sp>
      <p:sp>
        <p:nvSpPr>
          <p:cNvPr id="22" name="bar-IDENTITY-AWARE CANCELLATION">
            <a:extLst xmlns:a="http://schemas.openxmlformats.org/drawingml/2006/main">
              <a:ext uri="{FF2B5EF4-FFF2-40B4-BE49-F238E27FC236}">
                <a16:creationId xmlns:a16="http://schemas.microsoft.com/office/drawing/2014/main" id="{B3FC2D81-32FF-4636-B4EA-A61FE557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198" y="3076593"/>
            <a:ext cx="78101" cy="3047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15C2426-A7ED-45E9-910B-83855E3E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688" y="3209936"/>
            <a:ext cx="5945830" cy="250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1200" b="1"/>
              <a:t>WHY THIS ARCHITECTURE · TOC BOTTLENECK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81A6F01-C12B-45BF-B718-397101DB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688" y="3524245"/>
            <a:ext cx="5968054" cy="242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000"/>
              <a:t>当前瓶颈不是 CFG 深度，而是不知道“元数据操作何时完成”。</a:t>
            </a:r>
          </a:p>
          <a:p xmlns:a="http://schemas.openxmlformats.org/drawingml/2006/main">
            <a:r>
              <a:rPr sz="1000"/>
              <a:t> </a:t>
            </a:r>
          </a:p>
          <a:p xmlns:a="http://schemas.openxmlformats.org/drawingml/2006/main">
            <a:r>
              <a:rPr sz="1000"/>
              <a:t>1  拓扑–成员–计数完成束  → #16 / #17 / #18 / P3</a:t>
            </a:r>
          </a:p>
          <a:p xmlns:a="http://schemas.openxmlformats.org/drawingml/2006/main">
            <a:r>
              <a:rPr sz="1000"/>
              <a:t>2  结果完成契约          → ext4 #1/#2/#4/#5 · XFS #8/#13 · Btrfs #15</a:t>
            </a:r>
          </a:p>
          <a:p xmlns:a="http://schemas.openxmlformats.org/drawingml/2006/main">
            <a:r>
              <a:rPr sz="1000"/>
              <a:t>3  恢复所有权契约        → Btrfs #7 / remount state</a:t>
            </a:r>
          </a:p>
          <a:p xmlns:a="http://schemas.openxmlformats.org/drawingml/2006/main">
            <a:r>
              <a:rPr sz="1000"/>
              <a:t> </a:t>
            </a:r>
          </a:p>
          <a:p xmlns:a="http://schemas.openxmlformats.org/drawingml/2006/main">
            <a:r>
              <a:rPr sz="1000"/>
              <a:t>先覆盖目标 bug，再逐类扩展，不承诺完整文件系统验证。</a:t>
            </a:r>
          </a:p>
        </p:txBody>
      </p:sp>
    </p:spTree>
    <p:extLst>
      <p:ext uri="{BB962C8B-B14F-4D97-AF65-F5344CB8AC3E}">
        <p14:creationId xmlns:p14="http://schemas.microsoft.com/office/powerpoint/2010/main" val="1613121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2026-07-28T06:05:19.3920000Z</dcterms:created>
  <dcterms:modified xsi:type="dcterms:W3CDTF">2026-07-28T06:05:19.3920000Z</dcterms:modified>
</coreProperties>
</file>