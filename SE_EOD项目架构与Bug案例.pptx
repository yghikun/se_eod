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7ce8dd432f47bf" /><Relationship Type="http://schemas.openxmlformats.org/officeDocument/2006/relationships/extended-properties" Target="/docProps/app.xml" Id="R76bde0ee87d84bdb" /><Relationship Type="http://schemas.openxmlformats.org/officeDocument/2006/relationships/officeDocument" Target="/ppt/presentation.xml" Id="R92af5d6b511d4b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ad272f92834305"/>
  </p:sldMasterIdLst>
  <p:notesMasterIdLst>
    <p:notesMasterId xmlns:r="http://schemas.openxmlformats.org/officeDocument/2006/relationships" r:id="R4684e4f7e7184fb1"/>
  </p:notesMasterIdLst>
  <p:sldIdLst>
    <p:sldId xmlns:r="http://schemas.openxmlformats.org/officeDocument/2006/relationships" id="256" r:id="Rd53f866c08d847db"/>
    <p:sldId xmlns:r="http://schemas.openxmlformats.org/officeDocument/2006/relationships" id="257" r:id="R0d52be4592c14271"/>
    <p:sldId xmlns:r="http://schemas.openxmlformats.org/officeDocument/2006/relationships" id="258" r:id="R3badc3db8eec48f6"/>
    <p:sldId xmlns:r="http://schemas.openxmlformats.org/officeDocument/2006/relationships" id="259" r:id="Re5718be9cdc34c9c"/>
    <p:sldId xmlns:r="http://schemas.openxmlformats.org/officeDocument/2006/relationships" id="260" r:id="Rba15e93261344767"/>
    <p:sldId xmlns:r="http://schemas.openxmlformats.org/officeDocument/2006/relationships" id="261" r:id="Rf83cccffb45f4b97"/>
    <p:sldId xmlns:r="http://schemas.openxmlformats.org/officeDocument/2006/relationships" id="262" r:id="R2b881500d88c45e7"/>
    <p:sldId xmlns:r="http://schemas.openxmlformats.org/officeDocument/2006/relationships" id="263" r:id="Rf3867eabf7b74019"/>
    <p:sldId xmlns:r="http://schemas.openxmlformats.org/officeDocument/2006/relationships" id="264" r:id="R047033c291554359"/>
    <p:sldId xmlns:r="http://schemas.openxmlformats.org/officeDocument/2006/relationships" id="265" r:id="R4e46752047844ce2"/>
    <p:sldId xmlns:r="http://schemas.openxmlformats.org/officeDocument/2006/relationships" id="266" r:id="R6cd63df3c0524b1a"/>
    <p:sldId xmlns:r="http://schemas.openxmlformats.org/officeDocument/2006/relationships" id="267" r:id="Rd07d11d00c5741b4"/>
    <p:sldId xmlns:r="http://schemas.openxmlformats.org/officeDocument/2006/relationships" id="268" r:id="R66d6e941aa7e4b1a"/>
    <p:sldId xmlns:r="http://schemas.openxmlformats.org/officeDocument/2006/relationships" id="269" r:id="R51b729ef7cff447c"/>
    <p:sldId xmlns:r="http://schemas.openxmlformats.org/officeDocument/2006/relationships" id="270" r:id="R0c54263c293c45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7757a346954b1c" /><Relationship Type="http://schemas.openxmlformats.org/officeDocument/2006/relationships/slideMaster" Target="/ppt/slideMasters/slideMaster1.xml" Id="R05ad272f92834305" /><Relationship Type="http://schemas.openxmlformats.org/officeDocument/2006/relationships/notesMaster" Target="/ppt/notesMasters/notesMaster1.xml" Id="R4684e4f7e7184fb1" /><Relationship Type="http://schemas.openxmlformats.org/officeDocument/2006/relationships/presProps" Target="/ppt/presProps.xml" Id="R03c760b330cf4535" /><Relationship Type="http://schemas.openxmlformats.org/officeDocument/2006/relationships/tableStyles" Target="/ppt/tableStyles.xml" Id="Rdc43d3956b304cef" /><Relationship Type="http://schemas.openxmlformats.org/officeDocument/2006/relationships/slide" Target="/ppt/slides/slide1.xml" Id="Rd53f866c08d847db" /><Relationship Type="http://schemas.openxmlformats.org/officeDocument/2006/relationships/slide" Target="/ppt/slides/slide2.xml" Id="R0d52be4592c14271" /><Relationship Type="http://schemas.openxmlformats.org/officeDocument/2006/relationships/slide" Target="/ppt/slides/slide3.xml" Id="R3badc3db8eec48f6" /><Relationship Type="http://schemas.openxmlformats.org/officeDocument/2006/relationships/slide" Target="/ppt/slides/slide4.xml" Id="Re5718be9cdc34c9c" /><Relationship Type="http://schemas.openxmlformats.org/officeDocument/2006/relationships/slide" Target="/ppt/slides/slide5.xml" Id="Rba15e93261344767" /><Relationship Type="http://schemas.openxmlformats.org/officeDocument/2006/relationships/slide" Target="/ppt/slides/slide6.xml" Id="Rf83cccffb45f4b97" /><Relationship Type="http://schemas.openxmlformats.org/officeDocument/2006/relationships/slide" Target="/ppt/slides/slide7.xml" Id="R2b881500d88c45e7" /><Relationship Type="http://schemas.openxmlformats.org/officeDocument/2006/relationships/slide" Target="/ppt/slides/slide8.xml" Id="Rf3867eabf7b74019" /><Relationship Type="http://schemas.openxmlformats.org/officeDocument/2006/relationships/slide" Target="/ppt/slides/slide9.xml" Id="R047033c291554359" /><Relationship Type="http://schemas.openxmlformats.org/officeDocument/2006/relationships/slide" Target="/ppt/slides/slide10.xml" Id="R4e46752047844ce2" /><Relationship Type="http://schemas.openxmlformats.org/officeDocument/2006/relationships/slide" Target="/ppt/slides/slide11.xml" Id="R6cd63df3c0524b1a" /><Relationship Type="http://schemas.openxmlformats.org/officeDocument/2006/relationships/slide" Target="/ppt/slides/slide12.xml" Id="Rd07d11d00c5741b4" /><Relationship Type="http://schemas.openxmlformats.org/officeDocument/2006/relationships/slide" Target="/ppt/slides/slide13.xml" Id="R66d6e941aa7e4b1a" /><Relationship Type="http://schemas.openxmlformats.org/officeDocument/2006/relationships/slide" Target="/ppt/slides/slide14.xml" Id="R51b729ef7cff447c" /><Relationship Type="http://schemas.openxmlformats.org/officeDocument/2006/relationships/slide" Target="/ppt/slides/slide15.xml" Id="R0c54263c293c45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c649ffecec49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6811a476ee447e" /><Relationship Type="http://schemas.openxmlformats.org/officeDocument/2006/relationships/notesMaster" Target="/ppt/notesMasters/notesMaster1.xml" Id="Ra1fdf5afae6a45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60473040c4ebb" /><Relationship Type="http://schemas.openxmlformats.org/officeDocument/2006/relationships/notesMaster" Target="/ppt/notesMasters/notesMaster1.xml" Id="R0b6438eb5e4a47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db00786b1f41e9" /><Relationship Type="http://schemas.openxmlformats.org/officeDocument/2006/relationships/notesMaster" Target="/ppt/notesMasters/notesMaster1.xml" Id="R2d054d529e9140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715ddaceb4d77" /><Relationship Type="http://schemas.openxmlformats.org/officeDocument/2006/relationships/notesMaster" Target="/ppt/notesMasters/notesMaster1.xml" Id="R3c0c4bd32afc45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0a60567a2b4196" /><Relationship Type="http://schemas.openxmlformats.org/officeDocument/2006/relationships/notesMaster" Target="/ppt/notesMasters/notesMaster1.xml" Id="R610a97e1a48a42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7a9aa878a74e64" /><Relationship Type="http://schemas.openxmlformats.org/officeDocument/2006/relationships/notesMaster" Target="/ppt/notesMasters/notesMaster1.xml" Id="Rbd09a3b1ecd740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268fa756d748d9" /><Relationship Type="http://schemas.openxmlformats.org/officeDocument/2006/relationships/notesMaster" Target="/ppt/notesMasters/notesMaster1.xml" Id="R808dc49c07d841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036830b1474c2d" /><Relationship Type="http://schemas.openxmlformats.org/officeDocument/2006/relationships/notesMaster" Target="/ppt/notesMasters/notesMaster1.xml" Id="Raacfc74205a64a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b7328926cb4434" /><Relationship Type="http://schemas.openxmlformats.org/officeDocument/2006/relationships/notesMaster" Target="/ppt/notesMasters/notesMaster1.xml" Id="R90b1a23ba10545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b7ebc0ee68471c" /><Relationship Type="http://schemas.openxmlformats.org/officeDocument/2006/relationships/notesMaster" Target="/ppt/notesMasters/notesMaster1.xml" Id="R100f5806a16741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954791b83a4da1" /><Relationship Type="http://schemas.openxmlformats.org/officeDocument/2006/relationships/notesMaster" Target="/ppt/notesMasters/notesMaster1.xml" Id="Rcc3c7a9ef8cc43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3f31f677334ee9" /><Relationship Type="http://schemas.openxmlformats.org/officeDocument/2006/relationships/notesMaster" Target="/ppt/notesMasters/notesMaster1.xml" Id="Rf5f91ea1d13647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f26a1f9cf4427f" /><Relationship Type="http://schemas.openxmlformats.org/officeDocument/2006/relationships/notesMaster" Target="/ppt/notesMasters/notesMaster1.xml" Id="R5f669dccc61841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3790735d3d4eca" /><Relationship Type="http://schemas.openxmlformats.org/officeDocument/2006/relationships/notesMaster" Target="/ppt/notesMasters/notesMaster1.xml" Id="R9d511a1457ef4b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65fa1e88704b95" /><Relationship Type="http://schemas.openxmlformats.org/officeDocument/2006/relationships/notesMaster" Target="/ppt/notesMasters/notesMaster1.xml" Id="Rc843e642c9494a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开场强调：项目的目标不是宣称自动确认 bug，而是把失败路径上的文件系统元数据残差变成可审计证据。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E:/yanjiusheng/阅读论文/file_system/SE_EOD/README.md</a:t>
            </a:r>
          </a:p>
          <a:p xmlns:a="http://schemas.openxmlformats.org/drawingml/2006/main">
            <a:r>
              <a:t>- E:/yanjiusheng/阅读论文/file_system/SE_EOD/docs/PROJECT_ARCHITECTURE.md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测试全绿说明代码路径稳定；18 条记录是研究证据账本；M37 的 4 个失败表示语义比较仍超出兼容预算，不能混为一个健康指标。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E:/yanjiusheng/阅读论文/file_system/SE_EOD/outputs/residual-evaluation-batch/m37-regression-gate.json</a:t>
            </a:r>
          </a:p>
          <a:p xmlns:a="http://schemas.openxmlformats.org/drawingml/2006/main">
            <a:r>
              <a:t>- E:/yanjiusheng/阅读论文/file_system/SE_EOD/.github/workflows/ci.yml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这是整套架构的中心。状态标签只是实现格，不是论文贡献；贡献是围绕失败点计算 R_f。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E:/yanjiusheng/阅读论文/file_system/SE_EOD/README.md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  <a:p xmlns:a="http://schemas.openxmlformats.org/drawingml/2006/main">
            <a:r>
              <a:t>- E:/yanjiusheng/阅读论文/file_system/SE_EOD/PAPER_ROADMAP.md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架构不是单个 detector：前端、分析核、证据治理三层缺一不可。最后一层解释了为什么项目同时保留 539 行人工 oracle 与回归门。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E:/yanjiusheng/阅读论文/file_system/SE_EOD/docs/PROJECT_ARCHITECTURE.md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  <a:p xmlns:a="http://schemas.openxmlformats.org/drawingml/2006/main">
            <a:r>
              <a:t>- E:/yanjiusheng/阅读论文/file_system/SE_EOD/outputs/candidate_review_oracle.jsonl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复杂度集中在跨函数摘要、切片和效果抽取：function_summary.py 约 4,869 行，是当前最大的维护热点。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E:/yanjiusheng/阅读论文/file_system/SE_EOD/src/frontend/model.py</a:t>
            </a:r>
          </a:p>
          <a:p xmlns:a="http://schemas.openxmlformats.org/drawingml/2006/main">
            <a:r>
              <a:t>- E:/yanjiusheng/阅读论文/file_system/SE_EOD/src/cfg.py</a:t>
            </a:r>
          </a:p>
          <a:p xmlns:a="http://schemas.openxmlformats.org/drawingml/2006/main">
            <a:r>
              <a:t>- E:/yanjiusheng/阅读论文/file_system/SE_EOD/src/metadata_scope.py</a:t>
            </a:r>
          </a:p>
          <a:p xmlns:a="http://schemas.openxmlformats.org/drawingml/2006/main">
            <a:r>
              <a:t>- E:/yanjiusheng/阅读论文/file_system/SE_EOD/src/failure_points.py</a:t>
            </a:r>
          </a:p>
          <a:p xmlns:a="http://schemas.openxmlformats.org/drawingml/2006/main">
            <a:r>
              <a:t>- E:/yanjiusheng/阅读论文/file_system/SE_EOD/src/effect_extractor.py</a:t>
            </a:r>
          </a:p>
          <a:p xmlns:a="http://schemas.openxmlformats.org/drawingml/2006/main">
            <a:r>
              <a:t>- E:/yanjiusheng/阅读论文/file_system/SE_EOD/src/residual_slicer.py</a:t>
            </a:r>
          </a:p>
          <a:p xmlns:a="http://schemas.openxmlformats.org/drawingml/2006/main">
            <a:r>
              <a:t>- E:/yanjiusheng/阅读论文/file_system/SE_EOD/src/function_summary.py</a:t>
            </a:r>
          </a:p>
          <a:p xmlns:a="http://schemas.openxmlformats.org/drawingml/2006/main">
            <a:r>
              <a:t>- E:/yanjiusheng/阅读论文/file_system/SE_EOD/src/evaluation_harness.py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这一页用于防止过度解读。项目文档明确指出 Candidate 只是兼容别名，不应当等同于 confirmed bug。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E:/yanjiusheng/阅读论文/file_system/SE_EOD/README.md</a:t>
            </a:r>
          </a:p>
          <a:p xmlns:a="http://schemas.openxmlformats.org/drawingml/2006/main">
            <a:r>
              <a:t>- E:/yanjiusheng/阅读论文/file_system/SE_EOD/docs/METADATA_RESIDUAL_ARCHITECTURE.md</a:t>
            </a:r>
          </a:p>
          <a:p xmlns:a="http://schemas.openxmlformats.org/drawingml/2006/main">
            <a:r>
              <a:t>- E:/yanjiusheng/阅读论文/file_system/SE_EOD/PAPER_ROADMAP.md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先只讲源码路径：赋值发生在 4213，提交在 4217，失败后到 4235/4240。这里形成结构清晰的 mutation → failure → error exit。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E:/yanjiusheng/阅读论文/file_system/SE_EOD/linux-sources/linux-v6.14-fs/fs/btrfs/relocation.c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这是最完整的案例：分析器用于定位残差，故障注入用于证明在 fs_error=0 的恢复失败中引用确实未清理。补丁已进入 btrfs for-next，但材料未声称已进 Linus mainline。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  <a:p xmlns:a="http://schemas.openxmlformats.org/drawingml/2006/main">
            <a:r>
              <a:t>- E:/yanjiusheng/阅读论文/file_system/SE_EOD/outputs/linux-v6.8/btrfs/recover_relocation_qemu_report.md</a:t>
            </a:r>
          </a:p>
          <a:p xmlns:a="http://schemas.openxmlformats.org/drawingml/2006/main">
            <a:r>
              <a:t>- E:/yanjiusheng/阅读论文/file_system/SE_EOD/linux-sources/linux-v6.14-fs/fs/btrfs/relocation.c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这个案例不只是资源未释放，而是 outcome residual：操作状态成功、函数结果失败。账本中的复现实验显示清理 stale error 后 FS_IOC_FSSETXATTR 失败数从 802 降到 86。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E:/yanjiusheng/阅读论文/file_system/SE_EOD/linux-sources/linux-v6.14-fs/fs/ext4/xattr.c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 bug 共用一条失败链，但残差根不同：事务列表、活动设备指针、fs_devices 拓扑。它说明身份感知不能只看变量名，必须覆盖多个 owner 与容器关系。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讲解时把 2875–2903 看成发布阶段，把 2920–2938 看成失败点，把 2987–3017 看成局部回滚。三段正好对应双向切片的边界。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E:/yanjiusheng/阅读论文/file_system/SE_EOD/linux-sources/linux-v6.14-fs/fs/btrfs/volumes.c</a:t>
            </a:r>
          </a:p>
          <a:p xmlns:a="http://schemas.openxmlformats.org/drawingml/2006/main">
            <a:r>
              <a:t>- E:/yanjiusheng/阅读论文/file_system/SE_EOD/outputs/confirmed_bugs.md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M37 当前覆盖 314 个源文件、9,676 个函数和 6,872 个失败切片。柱图只比较边界残差与 UNKNOWN，不把 review/contained 混入，以免分类含义不一致。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E:/yanjiusheng/阅读论文/file_system/SE_EOD/outputs/residual-evaluation-batch/linux-v6.14-fs-btrfs-m37-semantic-audit/summary.json</a:t>
            </a:r>
          </a:p>
          <a:p xmlns:a="http://schemas.openxmlformats.org/drawingml/2006/main">
            <a:r>
              <a:t>- E:/yanjiusheng/阅读论文/file_system/SE_EOD/outputs/residual-evaluation-batch/linux-v6.14-fs-ext4-m37-semantic-audit/summary.json</a:t>
            </a:r>
          </a:p>
          <a:p xmlns:a="http://schemas.openxmlformats.org/drawingml/2006/main">
            <a:r>
              <a:t>- E:/yanjiusheng/阅读论文/file_system/SE_EOD/outputs/residual-evaluation-batch/linux-v6.14-fs-f2fs-m37-semantic-audit/summary.json</a:t>
            </a:r>
          </a:p>
          <a:p xmlns:a="http://schemas.openxmlformats.org/drawingml/2006/main">
            <a:r>
              <a:t>- E:/yanjiusheng/阅读论文/file_system/SE_EOD/outputs/residual-evaluation-batch/linux-v6.14-fs-xfs-m37-semantic-audit/summary.json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38 个检查中 34 个通过。新增候选、丢失基线 witness、oracle 安全回归都为 0；失败集中在 compatibility match budget，说明比较键与语义身份还不够精确。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E:/yanjiusheng/阅读论文/file_system/SE_EOD/outputs/residual-evaluation-batch/m37-regression-gate.json</a:t>
            </a:r>
          </a:p>
          <a:p xmlns:a="http://schemas.openxmlformats.org/drawingml/2006/main">
            <a:r>
              <a:t>- E:/yanjiusheng/阅读论文/file_system/SE_EOD/scripts/check_m35_regression_gate.py</a:t>
            </a:r>
          </a:p>
          <a:p xmlns:a="http://schemas.openxmlformats.org/drawingml/2006/main">
            <a:r>
              <a:t>- E:/yanjiusheng/阅读论文/file_system/SE_EOD/scripts/compare_residual_runs.py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M37c 显示 SUMMARY_BODY_UNAVAILABLE 是最大 UNKNOWN 缺口：251 份报告、172 份 sole blocker，其中 149 份源码可用。先做这些比盲目扩展规则更有直接收益。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E:/yanjiusheng/阅读论文/file_system/SE_EOD/outputs/residual-evaluation-batch/m37c-semantic-blocker-impact/semantic_blocker_impact.md</a:t>
            </a:r>
          </a:p>
          <a:p xmlns:a="http://schemas.openxmlformats.org/drawingml/2006/main">
            <a:r>
              <a:t>- E:/yanjiusheng/阅读论文/file_system/SE_EOD/PAPER_ROADMAP.md</a:t>
            </a:r>
          </a:p>
          <a:p xmlns:a="http://schemas.openxmlformats.org/drawingml/2006/main">
            <a:r>
              <a:t>- E:/yanjiusheng/阅读论文/file_system/SE_EOD/PROJECT_HANDOFF.md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收束：项目已经从规则堆叠转向证据驱动残差分析；案例证明方法有价值，而当前门失败清楚指出了下一步工程重点。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E:/yanjiusheng/阅读论文/file_system/SE_EOD/README.md</a:t>
            </a:r>
          </a:p>
          <a:p xmlns:a="http://schemas.openxmlformats.org/drawingml/2006/main">
            <a:r>
              <a:t>- E:/yanjiusheng/阅读论文/file_system/SE_EOD/PAPER_ROADMAP.md</a:t>
            </a:r>
          </a:p>
          <a:p xmlns:a="http://schemas.openxmlformats.org/drawingml/2006/main">
            <a:r>
              <a:t>- E:/yanjiusheng/阅读论文/file_system/SE_EOD/outputs/residual-evaluation-batch/m37-regression-gate.json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28302b588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73e3fec41d4a97" /><Relationship Type="http://schemas.openxmlformats.org/officeDocument/2006/relationships/slideLayout" Target="/ppt/slideLayouts/slideLayout1.xml" Id="R12594fdd81124d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94fdd81124d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a192a86e546e5" /><Relationship Type="http://schemas.openxmlformats.org/officeDocument/2006/relationships/notesSlide" Target="/ppt/notesSlides/notesSlide1.xml" Id="Ra6b68bcee8ac45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db68f638f4862" /><Relationship Type="http://schemas.openxmlformats.org/officeDocument/2006/relationships/notesSlide" Target="/ppt/notesSlides/notesSlide2.xml" Id="Rfa1d7df8517a49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1c8010d514c98" /><Relationship Type="http://schemas.openxmlformats.org/officeDocument/2006/relationships/notesSlide" Target="/ppt/notesSlides/notesSlide3.xml" Id="Rc1f49fa0b0f94e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f71534b0a4ffe" /><Relationship Type="http://schemas.openxmlformats.org/officeDocument/2006/relationships/notesSlide" Target="/ppt/notesSlides/notesSlide4.xml" Id="R6e0236e5fc414d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26051814e4996" /><Relationship Type="http://schemas.openxmlformats.org/officeDocument/2006/relationships/notesSlide" Target="/ppt/notesSlides/notesSlide5.xml" Id="R5ac01bdadd45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c5b737bee4a6c" /><Relationship Type="http://schemas.openxmlformats.org/officeDocument/2006/relationships/notesSlide" Target="/ppt/notesSlides/notesSlide6.xml" Id="Rc9f59940c5e443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40463ef1b4e60" /><Relationship Type="http://schemas.openxmlformats.org/officeDocument/2006/relationships/notesSlide" Target="/ppt/notesSlides/notesSlide7.xml" Id="Rf6737a85f3564a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926f655154a01" /><Relationship Type="http://schemas.openxmlformats.org/officeDocument/2006/relationships/notesSlide" Target="/ppt/notesSlides/notesSlide8.xml" Id="R173b1f34c00b44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14af199b54abf" /><Relationship Type="http://schemas.openxmlformats.org/officeDocument/2006/relationships/notesSlide" Target="/ppt/notesSlides/notesSlide9.xml" Id="Rb3144a530dfd41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dfe3118844df7" /><Relationship Type="http://schemas.openxmlformats.org/officeDocument/2006/relationships/notesSlide" Target="/ppt/notesSlides/notesSlide10.xml" Id="R8e5f4fb019e646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b01c1b6f5486e" /><Relationship Type="http://schemas.openxmlformats.org/officeDocument/2006/relationships/notesSlide" Target="/ppt/notesSlides/notesSlide11.xml" Id="Rb4687aac9fec40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83dea0a28482d" /><Relationship Type="http://schemas.openxmlformats.org/officeDocument/2006/relationships/chart" Target="/ppt/slides/charts/chart1.xml" Id="Re0bcd7179b7c4c70" /><Relationship Type="http://schemas.openxmlformats.org/officeDocument/2006/relationships/notesSlide" Target="/ppt/notesSlides/notesSlide12.xml" Id="R13524410d28d47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3ded6c5024c75" /><Relationship Type="http://schemas.openxmlformats.org/officeDocument/2006/relationships/notesSlide" Target="/ppt/notesSlides/notesSlide13.xml" Id="R06668e37876449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21ba78265494b" /><Relationship Type="http://schemas.openxmlformats.org/officeDocument/2006/relationships/notesSlide" Target="/ppt/notesSlides/notesSlide14.xml" Id="R07de42e002a64f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831c5c7524c8d" /><Relationship Type="http://schemas.openxmlformats.org/officeDocument/2006/relationships/notesSlide" Target="/ppt/notesSlides/notesSlide15.xml" Id="R6ef3f2563a31442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边界残差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Btrfs</c:v>
              </c:pt>
              <c:pt idx="1">
                <c:v>Ext4</c:v>
              </c:pt>
              <c:pt idx="2">
                <c:v>F2FS</c:v>
              </c:pt>
              <c:pt idx="3">
                <c:v>XFS</c:v>
              </c:pt>
            </c:strLit>
          </c:cat>
          <c:val>
            <c:numLit>
              <c:formatCode>General</c:formatCode>
              <c:ptCount val="4"/>
              <c:pt idx="0">
                <c:v>231</c:v>
              </c:pt>
              <c:pt idx="1">
                <c:v>75</c:v>
              </c:pt>
              <c:pt idx="2">
                <c:v>37</c:v>
              </c:pt>
              <c:pt idx="3">
                <c:v>187</c:v>
              </c:pt>
            </c:numLit>
          </c:val>
        </c:ser>
        <c:ser>
          <c:idx val="1"/>
          <c:order val="1"/>
          <c:tx>
            <c:v>UNKNOWN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Btrfs</c:v>
              </c:pt>
              <c:pt idx="1">
                <c:v>Ext4</c:v>
              </c:pt>
              <c:pt idx="2">
                <c:v>F2FS</c:v>
              </c:pt>
              <c:pt idx="3">
                <c:v>XFS</c:v>
              </c:pt>
            </c:strLit>
          </c:cat>
          <c:val>
            <c:numLit>
              <c:formatCode>General</c:formatCode>
              <c:ptCount val="4"/>
              <c:pt idx="0">
                <c:v>174</c:v>
              </c:pt>
              <c:pt idx="1">
                <c:v>136</c:v>
              </c:pt>
              <c:pt idx="2">
                <c:v>53</c:v>
              </c:pt>
              <c:pt idx="3">
                <c:v>117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0000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CB493BA-5E1C-4401-8C12-36005486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从失败路径到
元数据残差证据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E8214C0-96CD-4854-B8D0-E9AF0B49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Linux 文件系统静态分析 · 当前实现、真实 bug 与下一步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300BCA6-8BFD-4B7E-B6C4-3A6A5CA9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SE_EOD · 项目架构复盘</a:t>
            </a:r>
          </a:p>
        </p:txBody>
      </p:sp>
    </p:spTree>
    <p:extLst>
      <p:ext uri="{BB962C8B-B14F-4D97-AF65-F5344CB8AC3E}">
        <p14:creationId xmlns:p14="http://schemas.microsoft.com/office/powerpoint/2010/main" val="1570200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FD878C0-B653-40FF-8D7D-48509B2C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C5565FD-465C-40F9-BCC8-DBABFA0B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69C01E8-5F59-4D9A-8084-7F30CB61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F8583B9-F52F-411F-9354-52DFDA7F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C89B5A4-1ADA-4DB7-95EC-7D0183F3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实现稳定，但语义回归门还没有过线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1265681-4B76-4A11-B968-FBA677C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单元测试通过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CCD830C-1A24-48FA-B71E-1CEAE56D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M37 门失败项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18C54F2-E87F-42F1-A3D6-98588C1A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已确认 bug 记录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AEFED55-A546-4180-885B-9E9C7A4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rPr>
              <a:t>297 / 297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1F850D85-DBDD-4652-8F16-F4454590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7103CF7-7494-4299-A38A-16D7B51F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D46A81E2-D24E-4E93-A2BC-939AA51A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当前快照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单元测试、确认缺陷账本与 M37 批量评估同时存在；三者回答的是不同问题。</a:t>
            </a:r>
          </a:p>
        </p:txBody>
      </p:sp>
    </p:spTree>
    <p:extLst>
      <p:ext uri="{BB962C8B-B14F-4D97-AF65-F5344CB8AC3E}">
        <p14:creationId xmlns:p14="http://schemas.microsoft.com/office/powerpoint/2010/main" val="7058324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D8DEB2D-3636-4714-9F24-88BD294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7BD7EB6-43D3-4BEA-98AA-A1625710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残差公式把“发生了什么”与“错误退出时还剩什么”分开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567E147-78EB-4BAB-8D62-AFF6777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E_f · 到达失败点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失败发生前已经生效的结构、计数或恢复元数据效果。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29CB0B3-ED2D-4CAA-A16C-2602F32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C_f · 取消与补偿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错误路径上与同一对象、键和值匹配的逆向效果。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C29716D-7FB6-4334-9DAB-55967DB3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T_f · 保护与转移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事务、日志、孤儿、恢复或延期机制明确接管的效果。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D072363-784F-40BC-B966-3838DAE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R_f · 最终残差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R_f = Normalize(E_f ⊕ C_f) − T_f；非空才进入报告。</a:t>
            </a:r>
          </a:p>
        </p:txBody>
      </p:sp>
    </p:spTree>
    <p:extLst>
      <p:ext uri="{BB962C8B-B14F-4D97-AF65-F5344CB8AC3E}">
        <p14:creationId xmlns:p14="http://schemas.microsoft.com/office/powerpoint/2010/main" val="6490027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727C7AD-2C81-4F9E-9828-1B82406E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51087ED-C4B4-47AD-BDD0-C64BCF88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主链路分成三段：理解源码、计算残差、约束结论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4457ABF-5F5A-48AD-8738-FB72DF8B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01F359D-63F4-48DD-A2F4-7F2B936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8B970E5-FDF9-47E7-A1F5-0199259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24630E6-A585-4134-9268-6B24C59B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· 前端与控制流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BCFC6B8-ADC1-405F-A0D6-0B02423D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 · 残差计算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AB544F5-D5A9-4880-9E8F-F80A88ED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 · 证据治理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F4EED99-10FE-47F3-B515-3DC40ED1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双向切片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向后收集 E_f，向前收集 C_f / T_f，再做身份感知归一化。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4D4F213-69A6-4542-A90D-E645765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FunctionIR + CFG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Tree-sitter 解析 C；函数级 CFG 保留分支、返回与调用点。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3E06183-2D42-4E49-A54D-9F19D90D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报告 + Oracle + Gate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 witness；人工 verdict 与跨版本比较防止语义漂移。</a:t>
            </a:r>
          </a:p>
        </p:txBody>
      </p:sp>
    </p:spTree>
    <p:extLst>
      <p:ext uri="{BB962C8B-B14F-4D97-AF65-F5344CB8AC3E}">
        <p14:creationId xmlns:p14="http://schemas.microsoft.com/office/powerpoint/2010/main" val="4933939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A28A73E-1B14-4BA7-AC49-7BF637D2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23B26F4-F929-4718-8ED9-FDEF628A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模块边界围绕“证据可追溯”组织，而不是按文件系统堆规则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52377A6-029C-4C2D-8F5A-2153A9AB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effect_extractor.py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抽取 Root / Key / Plane / Delta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38B01EA0-6839-4F1A-A0DF-2D27AF3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residual_slicer.py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E_f / C_f / T_f 与路径约束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2E7D5C67-B0B8-4392-84B3-396AF422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function_summary.py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跨函数参数化与退出分区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0B25B499-BF57-4FBF-897D-0BB62717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harness + oracle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批量评估、比较、审计与回归门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F6DA86A-3E87-416D-9012-2D56482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frontend/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 AST → 中立 FunctionIR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4B63AF10-52BB-4DF6-8044-CC41665A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cfg.py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函数内控制流与可达性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5FA91BD5-9E2E-4418-B4F9-D9C2611B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metadata_scope.py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只保留结构 / 计数 / 恢复元数据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FE8EBEA0-8AB8-4305-82F8-9BEEC41D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failure_points.py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定位失败调用、检查与错误出口</a:t>
            </a:r>
          </a:p>
        </p:txBody>
      </p:sp>
    </p:spTree>
    <p:extLst>
      <p:ext uri="{BB962C8B-B14F-4D97-AF65-F5344CB8AC3E}">
        <p14:creationId xmlns:p14="http://schemas.microsoft.com/office/powerpoint/2010/main" val="19146246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17198F-F5B2-4DF6-8D2E-E30A6AE5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350D70A-35FA-4199-9DC3-05A90632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报告严格区分“函数边界残差”与“已确认活体 bug”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C5140DF3-6107-460E-A006-2106F5E4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D5015FF-F336-4E10-9F88-A4999639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rPr>
              <a:t>分析器可以声称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C76942A-11B1-49CA-A3B9-7A1C95F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R_f 非空且到达错误出口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效果属于元数据作用域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证据来自源码或显式原语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EC6D5DF-152C-4B32-B0E3-469E1D45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B1F1D07-C063-4C65-98B2-E47B25F5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分析器不能越界声称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B8E51BD-214B-4DE1-921E-FF3F623B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owner 一定继续存活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一定造成用户可见损坏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无需复现即可确认为 bug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D719EC4-4F57-4E34-ABD6-A02DAF91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源码能证明 R_f 非空，并不自动证明 owner 仍存活、系统继续正常运行或缺陷可自然触发。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因此当前主分类是 FUNCTION_BOUNDARY_RESIDUAL；LIVE_METADATA_RESIDUAL 仍保留给未来 owner-liveness 层。</a:t>
            </a:r>
          </a:p>
        </p:txBody>
      </p:sp>
    </p:spTree>
    <p:extLst>
      <p:ext uri="{BB962C8B-B14F-4D97-AF65-F5344CB8AC3E}">
        <p14:creationId xmlns:p14="http://schemas.microsoft.com/office/powerpoint/2010/main" val="7192280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1C1FB5F-3F39-4595-93B4-8868181B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4D26FDA-021B-4293-AB23-AC73B95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#7：一次失败提交让 reloc_root 引用越过错误出口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FEAAAFC-975B-4E35-947C-D3B731E0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7EF5FFB-6E8B-4A35-9629-49EEA590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fs_root-&gt;reloc_root =
btrfs_grab_root(reloc_root);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2304850-94E8-4530-AF45-D6C9C65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写入：relocation-root 引用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位置：relocation.c:4213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发生在失败提交之前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5380FBD-0A23-43E3-B186-D33AE19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05C3C9B-E29F-4FF5-9BD5-4568FDF5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4841"/>
                </a:solidFill>
                <a:latin typeface="Consolas"/>
                <a:ea typeface="Consolas"/>
                <a:cs typeface="Consolas"/>
              </a:rPr>
              <a:t>ret = btrfs_commit_transaction(trans);
if (ret) goto out_unset;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00F13A9-73C5-40C8-810B-8A6B8B33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出口：out_unset → out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位置：relocation.c:4217–4241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缺少对挂接引用的局部逆操作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6A6C399-6218-47D0-902D-58FEACE9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btrfs_recover_relocation() · Linux 6.14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恢复循环把 reloc_root 挂到 fs_root；随后第一次事务提交失败会跳到 out_unset。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局部错误清理只释放 reloc_roots 列表与 path，没有明确清空 fs_root-&gt;reloc_root。</a:t>
            </a:r>
          </a:p>
        </p:txBody>
      </p:sp>
    </p:spTree>
    <p:extLst>
      <p:ext uri="{BB962C8B-B14F-4D97-AF65-F5344CB8AC3E}">
        <p14:creationId xmlns:p14="http://schemas.microsoft.com/office/powerpoint/2010/main" val="94875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54B7EE5-6B79-4407-B87B-25E4CB0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BDD3785-5F2C-404A-A20E-FF0CC370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#7 的证据链从静态残差走到了故障注入确认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03B6F54-E74E-4F33-8C00-14898635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C673906-2A57-4B7D-B3C0-AA4E52B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560A61A-6CFC-4296-AB0D-77CBE02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5C960CB-8BBF-456B-B9EA-A73B125E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DC1A541B-E9CE-441E-8BD1-9A631389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E_f：建立挂接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fs_root-&gt;reloc_root 获得一个 btrfs_grab_root() 引用；这是恢复域中的结构效果。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B3F5034-462D-4990-B842-9E1A4AF6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3FF2E639-B833-436E-8272-95BC033C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C_f / T_f：均未闭合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out_unset 取消控制对象，但没有覆盖已挂接的 fs_root 引用；是否依赖 FS_ERROR 清理仍是关键条件。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66183CBB-50D9-440F-8451-024EDE14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8811D0C4-9FD7-4412-93F7-8467493B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R_f：引用仍在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recover_noabort 注入中 25 个 root 保留 reloc_refs=1，且 fs_error=0；缺少 dropping reloc_root 日志。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4E166186-C336-4D7E-B9CD-8B84AD4C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路径条件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BA32F0A-F9D6-4936-83B1-6665743B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源码残差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BBC268E1-91A4-4CE3-9FA8-A69E474E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rPr>
              <a:t>QEMU 证据</a:t>
            </a:r>
          </a:p>
        </p:txBody>
      </p:sp>
    </p:spTree>
    <p:extLst>
      <p:ext uri="{BB962C8B-B14F-4D97-AF65-F5344CB8AC3E}">
        <p14:creationId xmlns:p14="http://schemas.microsoft.com/office/powerpoint/2010/main" val="6274288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F70C74A-C45D-4596-BD5B-3ECEB0D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9D23A39-8E6C-408C-9047-2345945C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Bug #4：重试成功，却把旧的 -ENOSPC 带到了返回值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678CAD8-F3B3-4FCC-8A52-8F2C6387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5625995-A93D-4EBE-9198-4ACE1F7D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rPr>
              <a:t>实际状态
i_extra_isize 已更新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57890F5-4B3C-41A8-8DBD-6A96F0CC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retry：目标降为 s_min_extra_isize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shift：执行元数据移动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line 2855：提交新 extra_isize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577EF659-1E97-4F6C-9EF5-A798649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A4529A7-A2FD-4392-A7B5-F0ABD954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返回结果
仍返回 -ENOSPC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6CCDBDC-3F47-417A-BB9F-07212F9D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error 未在 retry 前清零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cleanup：return error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结果与元数据状态发生分歧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4858DA1-5F70-4751-B67D-3AE31A16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ext4_expand_extra_isize_ea()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第一次 ext4_xattr_make_inode_space() 返回 -ENOSPC，代码降低目标 extra_isize 并 goto retry。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如果第二次在 inode 内找到空间，直接 goto shift 并更新 i_extra_isize；但 error 仍可能保存第一次失败值。</a:t>
            </a:r>
          </a:p>
        </p:txBody>
      </p:sp>
    </p:spTree>
    <p:extLst>
      <p:ext uri="{BB962C8B-B14F-4D97-AF65-F5344CB8AC3E}">
        <p14:creationId xmlns:p14="http://schemas.microsoft.com/office/powerpoint/2010/main" val="14823649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F8AF6A8-E38D-4F05-A5A9-73979EB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99275B0-2790-48E8-BA67-E39F96A5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Btrfs sprout 失败不是一个点，而是三组状态同时需要回滚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9815DACE-D15A-4F50-8B0F-368137C4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post_commit_list 仍挂在事务更新链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FE77A29-6736-48C1-BBAD-43488447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#16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25B7861F-0281-43A8-9A00-2E3CA9A9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latest_dev / s_bdev 指向失败设备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C6B6DF0-6B6E-42D7-B3A7-6CCA463D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#17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89837DE-8478-4EE9-9A69-3D42FBFF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fs_devices 已完成 sprout 切换但未恢复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F903609-08A4-4925-809D-78B814A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#18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61D3D428-C011-4411-9F83-CFACFA7F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WARN、NULL 解引用与 kernel BUG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604AD2D5-C257-477B-8F01-151DC98B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EDCC68BA-4CB2-4F30-B30D-E7A1998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btrfs_init_new_device()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代码先发布拓扑、计数与活动指针，随后创建首批可写 chunk。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后续失败只删除新设备与部分计数，无法自动恢复所有早先状态。</a:t>
            </a:r>
          </a:p>
        </p:txBody>
      </p:sp>
    </p:spTree>
    <p:extLst>
      <p:ext uri="{BB962C8B-B14F-4D97-AF65-F5344CB8AC3E}">
        <p14:creationId xmlns:p14="http://schemas.microsoft.com/office/powerpoint/2010/main" val="18483205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91C7AA5-35AD-4682-844D-F05E6639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88DFC0B-B76E-4F9A-A834-9ED8EF5C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Sprout 案例暴露了跨域回滚的核心难点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8FDA375-DDA8-4AFE-97EC-FA8308C7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CB78F3B-2091-4685-BE1C-67D26ECA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226F67B-A654-44BF-A2C0-1946D87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AC778D7-F93A-4B28-BCFC-A538BB67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0B34A832-5A18-4726-A199-18BF8EB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先发布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btrfs_setup_sprout()、active device 切换、设备链表和计数先发布。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0BD9660A-9736-4691-AED5-D3D3335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F1A00343-8817-4F7D-AA46-D4996090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后失败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init_first_rw_device() / btrfs_add_dev_item() / btrfs_finish_sprout() 任一失败都进入 error_sysfs。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9AEF017C-1F6E-47AC-8BF9-E656EB7B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4E13509-D85B-4BDF-9D69-E59229C0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只回滚局部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error_sysfs 删除设备和计数，却没有完整逆转事务链、活动指针和 sprout 容器状态。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C88BBA3A-3EB1-4667-B366-962E00CD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FAILURE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D35B5D9-D516-41E4-A138-0511D819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TOPOLOGY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5E135921-8BBF-44BF-95A8-36317B8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PARTIAL ROLLBACK</a:t>
            </a:r>
          </a:p>
        </p:txBody>
      </p:sp>
    </p:spTree>
    <p:extLst>
      <p:ext uri="{BB962C8B-B14F-4D97-AF65-F5344CB8AC3E}">
        <p14:creationId xmlns:p14="http://schemas.microsoft.com/office/powerpoint/2010/main" val="10778106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34EC7B9C-890D-40DB-AA80-6351268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四个文件系统已形成可量化的残差分析基线</a:t>
            </a:r>
          </a:p>
        </p:txBody>
      </p:sp>
      <p:sp>
        <p:nvSpPr>
          <p:cNvPr id="2" name="metric-0">
            <a:extLst xmlns:a="http://schemas.openxmlformats.org/drawingml/2006/main">
              <a:ext uri="{FF2B5EF4-FFF2-40B4-BE49-F238E27FC236}">
                <a16:creationId xmlns:a16="http://schemas.microsoft.com/office/drawing/2014/main" id="{7920D283-7805-4FE5-98A6-6B1D29D0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76750"/>
            <a:ext cx="3568732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4E58424C-D1AF-480D-A311-766F35F5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4762500"/>
            <a:ext cx="11512582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9,676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函数被分析</a:t>
            </a:r>
          </a:p>
        </p:txBody>
      </p:sp>
      <p:sp>
        <p:nvSpPr>
          <p:cNvPr id="4" name="metric-1">
            <a:extLst xmlns:a="http://schemas.openxmlformats.org/drawingml/2006/main">
              <a:ext uri="{FF2B5EF4-FFF2-40B4-BE49-F238E27FC236}">
                <a16:creationId xmlns:a16="http://schemas.microsoft.com/office/drawing/2014/main" id="{B52E3D30-BDDB-4ABE-A044-E7C6F245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4476750"/>
            <a:ext cx="3568732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4A2E1B8E-50E0-447E-A0AF-13F2619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4762500"/>
            <a:ext cx="7594568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6,872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失败切片</a:t>
            </a:r>
          </a:p>
        </p:txBody>
      </p:sp>
      <p:sp>
        <p:nvSpPr>
          <p:cNvPr id="6" name="metric-2">
            <a:extLst xmlns:a="http://schemas.openxmlformats.org/drawingml/2006/main">
              <a:ext uri="{FF2B5EF4-FFF2-40B4-BE49-F238E27FC236}">
                <a16:creationId xmlns:a16="http://schemas.microsoft.com/office/drawing/2014/main" id="{935B511D-BD4F-4568-9507-994A385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476750"/>
            <a:ext cx="3568732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FC91EEB2-92F2-4607-AB29-CE55F97D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4762500"/>
            <a:ext cx="3673983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1,425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最终报告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B333FD4-BF99-4CB8-8148-9ACF7983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95300" y="1257300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bcd7179b7c4c70"/>
          </a:graphicData>
        </a:graphic>
      </p:graphicFrame>
    </p:spTree>
    <p:extLst>
      <p:ext uri="{BB962C8B-B14F-4D97-AF65-F5344CB8AC3E}">
        <p14:creationId xmlns:p14="http://schemas.microsoft.com/office/powerpoint/2010/main" val="88738411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EEEF0F2-DE49-4178-B553-70E31E3E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单测全绿，但 M37 语义回归门仍有 4 项超预算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BCE0FE-FA93-4207-8C31-7DF75CEF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失败点不是新增候选或丢失 witness，而是兼容匹配过多：比较器仍依赖语义例外，稳定身份尚未完全建立。</a:t>
            </a:r>
          </a:p>
        </p:txBody>
      </p:sp>
      <p:graphicFrame>
        <p:nvGraphicFramePr>
          <p:cNvPr id="9" name="gate-table"/>
          <p:cNvGraphicFramePr/>
          <p:nvPr/>
        </p:nvGraphicFramePr>
        <p:xfrm>
          <a:off xmlns:a="http://schemas.openxmlformats.org/drawingml/2006/main" x="393668" y="2076450"/>
          <a:ext xmlns:a="http://schemas.openxmlformats.org/drawingml/2006/main" cx="11404568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571750"/>
                <a:gridCol w="1762125"/>
                <a:gridCol w="2476500"/>
                <a:gridCol w="2257425"/>
              </a:tblGrid>
              <a:tr h="643890">
                <a:tc>
                  <a:txBody>
                    <a:bodyPr/>
                    <a:lstStyle/>
                    <a:p>
                      <a:r>
                        <a:t>文件系统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实际兼容匹配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预算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超出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门状态</a:t>
                      </a:r>
                    </a:p>
                  </a:txBody>
                  <a:tcPr marL="91440" marR="91440" marT="45720" marB="45720"/>
                </a:tc>
              </a:tr>
              <a:tr h="643890">
                <a:tc>
                  <a:txBody>
                    <a:bodyPr/>
                    <a:lstStyle/>
                    <a:p>
                      <a:r>
                        <a:t>Btrfs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+71 / 1.40x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 marL="91440" marR="91440" marT="45720" marB="45720"/>
                </a:tc>
              </a:tr>
              <a:tr h="643890">
                <a:tc>
                  <a:txBody>
                    <a:bodyPr/>
                    <a:lstStyle/>
                    <a:p>
                      <a:r>
                        <a:t>Ext4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+20 / 1.21x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 marL="91440" marR="91440" marT="45720" marB="45720"/>
                </a:tc>
              </a:tr>
              <a:tr h="643890">
                <a:tc>
                  <a:txBody>
                    <a:bodyPr/>
                    <a:lstStyle/>
                    <a:p>
                      <a:r>
                        <a:t>F2FS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+13 / 1.37x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 marL="91440" marR="91440" marT="45720" marB="45720"/>
                </a:tc>
              </a:tr>
              <a:tr h="643890">
                <a:tc>
                  <a:txBody>
                    <a:bodyPr/>
                    <a:lstStyle/>
                    <a:p>
                      <a:r>
                        <a:t>XFS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+294 / 1.74x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ate-callout">
            <a:extLst xmlns:a="http://schemas.openxmlformats.org/drawingml/2006/main">
              <a:ext uri="{FF2B5EF4-FFF2-40B4-BE49-F238E27FC236}">
                <a16:creationId xmlns:a16="http://schemas.microsoft.com/office/drawing/2014/main" id="{8F64D106-C4BD-443C-8FCE-DEC23121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24500"/>
            <a:ext cx="11404568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DEC"/>
          </a:solidFill>
        </p:spPr>
      </p:sp>
      <p:sp>
        <p:nvSpPr>
          <p:cNvPr id="5" name="gate-callout-text">
            <a:extLst xmlns:a="http://schemas.openxmlformats.org/drawingml/2006/main">
              <a:ext uri="{FF2B5EF4-FFF2-40B4-BE49-F238E27FC236}">
                <a16:creationId xmlns:a16="http://schemas.microsoft.com/office/drawing/2014/main" id="{AFA596DA-9C74-4FD1-95DC-2C078BDA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5785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结论：当前结果可讲、可复现，但不能把 M37 描述为已通过。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AE01915-4623-4405-8A2A-52F0057A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360292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FD03D36-7E5F-4D09-B56B-F5196960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0EDB3E1-FE18-4F9E-934B-6E80C29D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下一阶段应先降低语义不确定性，再扩大扫描规模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FF5EF0B6-B74C-4F82-B9F4-6A602277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修正兼容匹配超预算，提升 exact identity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0F71B34-84FD-445F-8B8C-6EE379DF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4841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A96953F8-D197-4929-8DCD-2237205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优先补 172 个 sole-gap summary blocker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EFD1E68-F47F-4791-8507-77C57AFA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13E8E43-6ED7-48F7-ADC4-68CBEE67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实现 owner-liveness / failure-domain 证明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ECD6596E-D961-4DC5-B978-D0919B0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8D6653CD-1C73-4146-A407-358D114E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 stale return 与 success-outcome 纳入统一模型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173C3BA8-7D0F-44B1-AF2A-DAD77ADE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A93A5541-C222-4070-80F6-76F51EAB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优先级原则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先让同一 witness 在版本与里程碑之间可稳定匹配。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再补 owner-liveness，最后扩展到 outcome residual。</a:t>
            </a:r>
          </a:p>
        </p:txBody>
      </p:sp>
    </p:spTree>
    <p:extLst>
      <p:ext uri="{BB962C8B-B14F-4D97-AF65-F5344CB8AC3E}">
        <p14:creationId xmlns:p14="http://schemas.microsoft.com/office/powerpoint/2010/main" val="2531288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49B4373-FE4E-4E2E-8CD4-57E46376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架构已经能解释 bug；
下一步要证明影响边界。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7DBBFEB-E439-46D5-9572-F7BBD78B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残差计算是核心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真实案例验证价值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语义稳定性决定可信度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C1CF5F5-53EE-47A0-A05C-617B1E8D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SE_EOD</a:t>
            </a:r>
          </a:p>
        </p:txBody>
      </p:sp>
    </p:spTree>
    <p:extLst>
      <p:ext uri="{BB962C8B-B14F-4D97-AF65-F5344CB8AC3E}">
        <p14:creationId xmlns:p14="http://schemas.microsoft.com/office/powerpoint/2010/main" val="620021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2026-07-26T04:41:15.8260000Z</dcterms:created>
  <dcterms:modified xsi:type="dcterms:W3CDTF">2026-07-26T04:41:15.8260000Z</dcterms:modified>
</coreProperties>
</file>