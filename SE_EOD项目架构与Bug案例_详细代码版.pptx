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7eb1d633694bcc" /><Relationship Type="http://schemas.openxmlformats.org/officeDocument/2006/relationships/extended-properties" Target="/docProps/app.xml" Id="R7d368232316c41ad" /><Relationship Type="http://schemas.openxmlformats.org/officeDocument/2006/relationships/officeDocument" Target="/ppt/presentation.xml" Id="R8a2c49d662e04c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55a148105f4a09"/>
  </p:sldMasterIdLst>
  <p:notesMasterIdLst>
    <p:notesMasterId xmlns:r="http://schemas.openxmlformats.org/officeDocument/2006/relationships" r:id="R8ac6b6167809427d"/>
  </p:notesMasterIdLst>
  <p:sldIdLst>
    <p:sldId xmlns:r="http://schemas.openxmlformats.org/officeDocument/2006/relationships" id="256" r:id="Rcdcf27661e8b405d"/>
    <p:sldId xmlns:r="http://schemas.openxmlformats.org/officeDocument/2006/relationships" id="257" r:id="R9326cea6483d4a2c"/>
    <p:sldId xmlns:r="http://schemas.openxmlformats.org/officeDocument/2006/relationships" id="258" r:id="Rb5764a563c2a47da"/>
    <p:sldId xmlns:r="http://schemas.openxmlformats.org/officeDocument/2006/relationships" id="259" r:id="R40ebe3629a334ff5"/>
    <p:sldId xmlns:r="http://schemas.openxmlformats.org/officeDocument/2006/relationships" id="260" r:id="R0b1af1aede0a47bf"/>
    <p:sldId xmlns:r="http://schemas.openxmlformats.org/officeDocument/2006/relationships" id="261" r:id="Rcc845f477bd54ec8"/>
    <p:sldId xmlns:r="http://schemas.openxmlformats.org/officeDocument/2006/relationships" id="262" r:id="R66b10d97202646b9"/>
    <p:sldId xmlns:r="http://schemas.openxmlformats.org/officeDocument/2006/relationships" id="263" r:id="R5217572e91234699"/>
    <p:sldId xmlns:r="http://schemas.openxmlformats.org/officeDocument/2006/relationships" id="264" r:id="R532a4b8d98fe402f"/>
    <p:sldId xmlns:r="http://schemas.openxmlformats.org/officeDocument/2006/relationships" id="265" r:id="Rce1a4512761348a7"/>
    <p:sldId xmlns:r="http://schemas.openxmlformats.org/officeDocument/2006/relationships" id="266" r:id="Rcd75aff17d614758"/>
    <p:sldId xmlns:r="http://schemas.openxmlformats.org/officeDocument/2006/relationships" id="267" r:id="Ra0468e364cd04284"/>
    <p:sldId xmlns:r="http://schemas.openxmlformats.org/officeDocument/2006/relationships" id="268" r:id="R174d4f8fffbb421c"/>
    <p:sldId xmlns:r="http://schemas.openxmlformats.org/officeDocument/2006/relationships" id="269" r:id="Rc07edafab46c4835"/>
    <p:sldId xmlns:r="http://schemas.openxmlformats.org/officeDocument/2006/relationships" id="270" r:id="Re62759eaf54846be"/>
    <p:sldId xmlns:r="http://schemas.openxmlformats.org/officeDocument/2006/relationships" id="271" r:id="R94adea37f7eb4846"/>
    <p:sldId xmlns:r="http://schemas.openxmlformats.org/officeDocument/2006/relationships" id="272" r:id="R1ef55cd19cef4510"/>
    <p:sldId xmlns:r="http://schemas.openxmlformats.org/officeDocument/2006/relationships" id="273" r:id="Ra2d8fca73c3b4769"/>
    <p:sldId xmlns:r="http://schemas.openxmlformats.org/officeDocument/2006/relationships" id="274" r:id="Ra9686abb2fb441d3"/>
    <p:sldId xmlns:r="http://schemas.openxmlformats.org/officeDocument/2006/relationships" id="275" r:id="R53ddc1f4a87445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8066de726b447f" /><Relationship Type="http://schemas.openxmlformats.org/officeDocument/2006/relationships/slideMaster" Target="/ppt/slideMasters/slideMaster1.xml" Id="Rc555a148105f4a09" /><Relationship Type="http://schemas.openxmlformats.org/officeDocument/2006/relationships/notesMaster" Target="/ppt/notesMasters/notesMaster1.xml" Id="R8ac6b6167809427d" /><Relationship Type="http://schemas.openxmlformats.org/officeDocument/2006/relationships/presProps" Target="/ppt/presProps.xml" Id="R65cd0aa68ead4b36" /><Relationship Type="http://schemas.openxmlformats.org/officeDocument/2006/relationships/tableStyles" Target="/ppt/tableStyles.xml" Id="Rbcfd7d98efb74809" /><Relationship Type="http://schemas.openxmlformats.org/officeDocument/2006/relationships/slide" Target="/ppt/slides/slide1.xml" Id="Rcdcf27661e8b405d" /><Relationship Type="http://schemas.openxmlformats.org/officeDocument/2006/relationships/slide" Target="/ppt/slides/slide2.xml" Id="R9326cea6483d4a2c" /><Relationship Type="http://schemas.openxmlformats.org/officeDocument/2006/relationships/slide" Target="/ppt/slides/slide3.xml" Id="Rb5764a563c2a47da" /><Relationship Type="http://schemas.openxmlformats.org/officeDocument/2006/relationships/slide" Target="/ppt/slides/slide4.xml" Id="R40ebe3629a334ff5" /><Relationship Type="http://schemas.openxmlformats.org/officeDocument/2006/relationships/slide" Target="/ppt/slides/slide5.xml" Id="R0b1af1aede0a47bf" /><Relationship Type="http://schemas.openxmlformats.org/officeDocument/2006/relationships/slide" Target="/ppt/slides/slide6.xml" Id="Rcc845f477bd54ec8" /><Relationship Type="http://schemas.openxmlformats.org/officeDocument/2006/relationships/slide" Target="/ppt/slides/slide7.xml" Id="R66b10d97202646b9" /><Relationship Type="http://schemas.openxmlformats.org/officeDocument/2006/relationships/slide" Target="/ppt/slides/slide8.xml" Id="R5217572e91234699" /><Relationship Type="http://schemas.openxmlformats.org/officeDocument/2006/relationships/slide" Target="/ppt/slides/slide9.xml" Id="R532a4b8d98fe402f" /><Relationship Type="http://schemas.openxmlformats.org/officeDocument/2006/relationships/slide" Target="/ppt/slides/slide10.xml" Id="Rce1a4512761348a7" /><Relationship Type="http://schemas.openxmlformats.org/officeDocument/2006/relationships/slide" Target="/ppt/slides/slide11.xml" Id="Rcd75aff17d614758" /><Relationship Type="http://schemas.openxmlformats.org/officeDocument/2006/relationships/slide" Target="/ppt/slides/slide12.xml" Id="Ra0468e364cd04284" /><Relationship Type="http://schemas.openxmlformats.org/officeDocument/2006/relationships/slide" Target="/ppt/slides/slide13.xml" Id="R174d4f8fffbb421c" /><Relationship Type="http://schemas.openxmlformats.org/officeDocument/2006/relationships/slide" Target="/ppt/slides/slide14.xml" Id="Rc07edafab46c4835" /><Relationship Type="http://schemas.openxmlformats.org/officeDocument/2006/relationships/slide" Target="/ppt/slides/slide15.xml" Id="Re62759eaf54846be" /><Relationship Type="http://schemas.openxmlformats.org/officeDocument/2006/relationships/slide" Target="/ppt/slides/slide16.xml" Id="R94adea37f7eb4846" /><Relationship Type="http://schemas.openxmlformats.org/officeDocument/2006/relationships/slide" Target="/ppt/slides/slide17.xml" Id="R1ef55cd19cef4510" /><Relationship Type="http://schemas.openxmlformats.org/officeDocument/2006/relationships/slide" Target="/ppt/slides/slide18.xml" Id="Ra2d8fca73c3b4769" /><Relationship Type="http://schemas.openxmlformats.org/officeDocument/2006/relationships/slide" Target="/ppt/slides/slide19.xml" Id="Ra9686abb2fb441d3" /><Relationship Type="http://schemas.openxmlformats.org/officeDocument/2006/relationships/slide" Target="/ppt/slides/slide20.xml" Id="R53ddc1f4a87445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b8760d92c749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59c8f129274cb4" /><Relationship Type="http://schemas.openxmlformats.org/officeDocument/2006/relationships/notesMaster" Target="/ppt/notesMasters/notesMaster1.xml" Id="R3719ecbb49824b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87bfd4d9cf4a3f" /><Relationship Type="http://schemas.openxmlformats.org/officeDocument/2006/relationships/notesMaster" Target="/ppt/notesMasters/notesMaster1.xml" Id="R5b9cbff7ac3040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a84e75425046fb" /><Relationship Type="http://schemas.openxmlformats.org/officeDocument/2006/relationships/notesMaster" Target="/ppt/notesMasters/notesMaster1.xml" Id="Rab55448f45f546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cb31a936814a67" /><Relationship Type="http://schemas.openxmlformats.org/officeDocument/2006/relationships/notesMaster" Target="/ppt/notesMasters/notesMaster1.xml" Id="R9e930deb59d84a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70923d35d64114" /><Relationship Type="http://schemas.openxmlformats.org/officeDocument/2006/relationships/notesMaster" Target="/ppt/notesMasters/notesMaster1.xml" Id="Re8744043c60946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f49d8877574137" /><Relationship Type="http://schemas.openxmlformats.org/officeDocument/2006/relationships/notesMaster" Target="/ppt/notesMasters/notesMaster1.xml" Id="R8640d0216c204e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886b59ec3c4a57" /><Relationship Type="http://schemas.openxmlformats.org/officeDocument/2006/relationships/notesMaster" Target="/ppt/notesMasters/notesMaster1.xml" Id="R11440a427db942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a58f48ba9a46ed" /><Relationship Type="http://schemas.openxmlformats.org/officeDocument/2006/relationships/notesMaster" Target="/ppt/notesMasters/notesMaster1.xml" Id="R1c51e38705fc45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b4f8a1ad0e4f39" /><Relationship Type="http://schemas.openxmlformats.org/officeDocument/2006/relationships/notesMaster" Target="/ppt/notesMasters/notesMaster1.xml" Id="Rb7ee6891153343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fe1504eae244fd" /><Relationship Type="http://schemas.openxmlformats.org/officeDocument/2006/relationships/notesMaster" Target="/ppt/notesMasters/notesMaster1.xml" Id="R53dd88453a4c40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326e4820a74db0" /><Relationship Type="http://schemas.openxmlformats.org/officeDocument/2006/relationships/notesMaster" Target="/ppt/notesMasters/notesMaster1.xml" Id="R3e4819a9449840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07fc93aadc4431" /><Relationship Type="http://schemas.openxmlformats.org/officeDocument/2006/relationships/notesMaster" Target="/ppt/notesMasters/notesMaster1.xml" Id="R9e6dc0ee07c84a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b622e95cba4964" /><Relationship Type="http://schemas.openxmlformats.org/officeDocument/2006/relationships/notesMaster" Target="/ppt/notesMasters/notesMaster1.xml" Id="Rea360eec2fb545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9d910ba7a5a4c41" /><Relationship Type="http://schemas.openxmlformats.org/officeDocument/2006/relationships/notesMaster" Target="/ppt/notesMasters/notesMaster1.xml" Id="R5cac27d639de49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fb12845228d4dd6" /><Relationship Type="http://schemas.openxmlformats.org/officeDocument/2006/relationships/notesMaster" Target="/ppt/notesMasters/notesMaster1.xml" Id="R3d691e5f3fc340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d8783b79d04dec" /><Relationship Type="http://schemas.openxmlformats.org/officeDocument/2006/relationships/notesMaster" Target="/ppt/notesMasters/notesMaster1.xml" Id="Rfd928f8c295c422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9d4dfd9664445fa" /><Relationship Type="http://schemas.openxmlformats.org/officeDocument/2006/relationships/notesMaster" Target="/ppt/notesMasters/notesMaster1.xml" Id="Rd7ae48923d754bb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dc0f52d886d4b3a" /><Relationship Type="http://schemas.openxmlformats.org/officeDocument/2006/relationships/notesMaster" Target="/ppt/notesMasters/notesMaster1.xml" Id="R96d248c14bcc482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49c0567473f4ee0" /><Relationship Type="http://schemas.openxmlformats.org/officeDocument/2006/relationships/notesMaster" Target="/ppt/notesMasters/notesMaster1.xml" Id="R3f0779fb6172491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3a3cbf2190a42c1" /><Relationship Type="http://schemas.openxmlformats.org/officeDocument/2006/relationships/notesMaster" Target="/ppt/notesMasters/notesMaster1.xml" Id="R4896f4cb5b594f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开场先说明：本报告不是罗列规则，而是解释项目如何把失败路径上的状态变更组织成可追溯、可复核的证据。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E:/yanjiusheng/阅读论文/file_system/SE_EOD/README.md</a:t>
            </a:r>
          </a:p>
          <a:p xmlns:a="http://schemas.openxmlformats.org/drawingml/2006/main">
            <a:r>
              <a:t>- E:/yanjiusheng/阅读论文/file_system/SE_EOD/docs/PROJECT_ARCHITECTURE.md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这一页定义系统的沟通目标：输出不是一个分数，而是从源码事实到结论事实的可回溯链条。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E:/yanjiusheng/阅读论文/file_system/SE_EOD/docs/PROJECT_ARCHITECTURE.md</a:t>
            </a:r>
          </a:p>
          <a:p xmlns:a="http://schemas.openxmlformats.org/drawingml/2006/main">
            <a:r>
              <a:t>- E:/yanjiusheng/阅读论文/file_system/SE_EOD/docs/METADATA_RESIDUAL_ARCHITECTURE.md</a:t>
            </a:r>
          </a:p>
          <a:p xmlns:a="http://schemas.openxmlformats.org/drawingml/2006/main">
            <a:r>
              <a:t>- E:/yanjiusheng/阅读论文/file_system/SE_EOD/src/metadata_residual.py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这一页是全套架构的核心。状态标签只是结果，真正的方法贡献是围绕失败点计算 R_f，并保留身份与源码位置。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E:/yanjiusheng/阅读论文/file_system/SE_EOD/docs/METADATA_RESIDUAL_ARCHITECTURE.md</a:t>
            </a:r>
          </a:p>
          <a:p xmlns:a="http://schemas.openxmlformats.org/drawingml/2006/main">
            <a:r>
              <a:t>- E:/yanjiusheng/阅读论文/file_system/SE_EOD/src/metadata_residual.py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讲解时强调三层：程序理解、残差计算、证据治理。任何一层缺失都会导致结果不可审计。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E:/yanjiusheng/阅读论文/file_system/SE_EOD/docs/PROJECT_ARCHITECTURE.md</a:t>
            </a:r>
          </a:p>
          <a:p xmlns:a="http://schemas.openxmlformats.org/drawingml/2006/main">
            <a:r>
              <a:t>- E:/yanjiusheng/阅读论文/file_system/SE_EOD/docs/METADATA_RESIDUAL_ARCHITECTURE.md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复杂度主要集中在效果抽取、切片和函数摘要。文件系统差异通过作用域配置与源码证据进入，而不是复制四套分析器。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E:/yanjiusheng/阅读论文/file_system/SE_EOD/src/frontend/model.py</a:t>
            </a:r>
          </a:p>
          <a:p xmlns:a="http://schemas.openxmlformats.org/drawingml/2006/main">
            <a:r>
              <a:t>- E:/yanjiusheng/阅读论文/file_system/SE_EOD/src/cfg.py</a:t>
            </a:r>
          </a:p>
          <a:p xmlns:a="http://schemas.openxmlformats.org/drawingml/2006/main">
            <a:r>
              <a:t>- E:/yanjiusheng/阅读论文/file_system/SE_EOD/src/metadata_scope.py</a:t>
            </a:r>
          </a:p>
          <a:p xmlns:a="http://schemas.openxmlformats.org/drawingml/2006/main">
            <a:r>
              <a:t>- E:/yanjiusheng/阅读论文/file_system/SE_EOD/src/failure_points.py</a:t>
            </a:r>
          </a:p>
          <a:p xmlns:a="http://schemas.openxmlformats.org/drawingml/2006/main">
            <a:r>
              <a:t>- E:/yanjiusheng/阅读论文/file_system/SE_EOD/src/effect_extractor.py</a:t>
            </a:r>
          </a:p>
          <a:p xmlns:a="http://schemas.openxmlformats.org/drawingml/2006/main">
            <a:r>
              <a:t>- E:/yanjiusheng/阅读论文/file_system/SE_EOD/src/residual_slicer.py</a:t>
            </a:r>
          </a:p>
          <a:p xmlns:a="http://schemas.openxmlformats.org/drawingml/2006/main">
            <a:r>
              <a:t>- E:/yanjiusheng/阅读论文/file_system/SE_EOD/src/function_summary.py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MetadataEffect 是最小证据单元；ResidualSlice 是一次失败路径分析的完整账本。保留 out-of-scope 与 containment proof 是为了审计，不是只保留最终标签。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E:/yanjiusheng/阅读论文/file_system/SE_EOD/src/metadata_residual.py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这页解释为什么项目不把某个分支中的 abort 或 cleanup 粗暴视为函数级保证。分区保持 return constraint 与源码路径相关。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E:/yanjiusheng/阅读论文/file_system/SE_EOD/src/function_summary.py</a:t>
            </a:r>
          </a:p>
          <a:p xmlns:a="http://schemas.openxmlformats.org/drawingml/2006/main">
            <a:r>
              <a:t>- E:/yanjiusheng/阅读论文/file_system/SE_EOD/docs/METADATA_RESIDUAL_ARCHITECTURE.md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这一页用于限制结论边界。报告中的 Candidate 不是 confirmed bug；动态注入、补丁审查或历史修复用于把候选推进为确认记录。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E:/yanjiusheng/阅读论文/file_system/SE_EOD/README.md</a:t>
            </a:r>
          </a:p>
          <a:p xmlns:a="http://schemas.openxmlformats.org/drawingml/2006/main">
            <a:r>
              <a:t>- E:/yanjiusheng/阅读论文/file_system/SE_EOD/PAPER_ROADMAP.md</a:t>
            </a:r>
          </a:p>
          <a:p xmlns:a="http://schemas.openxmlformats.org/drawingml/2006/main">
            <a:r>
              <a:t>- E:/yanjiusheng/阅读论文/file_system/SE_EOD/outputs/confirmed_bugs.md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先讲因果链，不急着讲动态结果：attach 发生在提交之前，提交失败让控制直接进入 out_unset。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E:/yanjiusheng/阅读论文/file_system/SE_EOD/linux-sources/linux-v6.14-fs/fs/btrfs/relocation.c</a:t>
            </a:r>
          </a:p>
          <a:p xmlns:a="http://schemas.openxmlformats.org/drawingml/2006/main">
            <a:r>
              <a:t>- E:/yanjiusheng/阅读论文/file_system/SE_EOD/outputs/confirmed_bugs.md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逐行讲 4200 与 4213 的差异：前者仍把对象放回本地列表，后者已经转移到 fs_root 字段；因此后续 free_reloc_roots() 无法覆盖它。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E:/yanjiusheng/阅读论文/file_system/SE_EOD/linux-sources/linux-v6.14-fs/fs/btrfs/relocation.c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free_reloc_roots 只能释放仍在局部 reloc_roots 列表中的根。4213 之后对象已经不在该列表，而是挂到 fs_root 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E:/yanjiusheng/阅读论文/file_system/SE_EOD/linux-sources/linux-v6.14-fs/fs/btrfs/relocation.c</a:t>
            </a:r>
          </a:p>
          <a:p xmlns:a="http://schemas.openxmlformats.org/drawingml/2006/main">
            <a:r>
              <a:t>- E:/yanjiusheng/阅读论文/file_system/SE_EOD/docs/METADATA_RESIDUAL_ARCHITECTURE.md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这里区分静态分析与动态确认：静态分析定位缺口，QEMU 注入证明引用确实跨越失败出口，维护者 for-next 接受提供外部审查证据。示意代码表达修复意图，不等同于原始补丁逐字内容。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E:/yanjiusheng/阅读论文/file_system/SE_EOD/outputs/confirmed_bugs.md</a:t>
            </a:r>
          </a:p>
          <a:p xmlns:a="http://schemas.openxmlformats.org/drawingml/2006/main">
            <a:r>
              <a:t>- E:/yanjiusheng/阅读论文/file_system/SE_EOD/outputs/linux-v6.8/btrfs/recover_relocation_qemu_report.md</a:t>
            </a:r>
          </a:p>
          <a:p xmlns:a="http://schemas.openxmlformats.org/drawingml/2006/main">
            <a:r>
              <a:t>- E:/yanjiusheng/阅读论文/file_system/SE_EOD/linux-sources/linux-v6.14-fs/fs/btrfs/relocation.c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这类 Bug 的难点是 loop/retry 语义：同一变量 error 跨迭代携带值，而元数据状态可能在后续迭代成功。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E:/yanjiusheng/阅读论文/file_system/SE_EOD/linux-sources/linux-v6.14-fs/fs/ext4/xattr.c</a:t>
            </a:r>
          </a:p>
          <a:p xmlns:a="http://schemas.openxmlformats.org/drawingml/2006/main">
            <a:r>
              <a:t>- E:/yanjiusheng/阅读论文/file_system/SE_EOD/outputs/confirmed_bugs.md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强调这是 outcome residual：状态已经改变，返回值却否认改变。上层可能重试、回滚或向用户报告错误，从而产生二次影响。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E:/yanjiusheng/阅读论文/file_system/SE_EOD/linux-sources/linux-v6.14-fs/fs/ext4/xattr.c</a:t>
            </a:r>
          </a:p>
          <a:p xmlns:a="http://schemas.openxmlformats.org/drawingml/2006/main">
            <a:r>
              <a:t>- E:/yanjiusheng/阅读论文/file_system/SE_EOD/outputs/confirmed_bugs.md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修复补丁在 fallback retry 前清零 error。802→86 是补丁复现记录，不应解读为剩余 86 次都属于同一 Bug。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E:/yanjiusheng/阅读论文/file_system/SE_EOD/outputs/confirmed_bugs.md</a:t>
            </a:r>
          </a:p>
          <a:p xmlns:a="http://schemas.openxmlformats.org/drawingml/2006/main">
            <a:r>
              <a:t>- E:/yanjiusheng/阅读论文/file_system/SE_EOD/linux-sources/linux-v6.14-fs/fs/ext4/xattr.c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2863–2903 是发布阶段：多个 owner 和容器同时改变。这个案例直接检验分析器的 identity-aware cancellation 与 owner 关系建模。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E:/yanjiusheng/阅读论文/file_system/SE_EOD/linux-sources/linux-v6.14-fs/fs/btrfs/volumes.c</a:t>
            </a:r>
          </a:p>
          <a:p xmlns:a="http://schemas.openxmlformats.org/drawingml/2006/main">
            <a:r>
              <a:t>- E:/yanjiusheng/阅读论文/file_system/SE_EOD/outputs/confirmed_bugs.md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对照发布与清理两段代码：error_sysfs 有很多减法，但这些减法只覆盖同一 owner 的局部字段，不能自动证明 topology 与 active pointer 已恢复。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E:/yanjiusheng/阅读论文/file_system/SE_EOD/linux-sources/linux-v6.14-fs/fs/btrfs/volumes.c</a:t>
            </a:r>
          </a:p>
          <a:p xmlns:a="http://schemas.openxmlformats.org/drawingml/2006/main">
            <a:r>
              <a:t>- E:/yanjiusheng/阅读论文/file_system/SE_EOD/outputs/confirmed_bugs.md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#16–#18 共用一条失败链，但 residual root 不同，因此形成三个独立 Bug 记录和三补丁系列。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E:/yanjiusheng/阅读论文/file_system/SE_EOD/outputs/confirmed_bugs.md</a:t>
            </a:r>
          </a:p>
          <a:p xmlns:a="http://schemas.openxmlformats.org/drawingml/2006/main">
            <a:r>
              <a:t>- E:/yanjiusheng/阅读论文/file_system/SE_EOD/linux-sources/linux-v6.14-fs/fs/btrfs/volumes.c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横向比较三个案例：它们不是同一种规则的重复命中，而是分别检验引用身份、控制流重试和多 owner 回滚能力。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E:/yanjiusheng/阅读论文/file_system/SE_EOD/outputs/confirmed_bugs.md</a:t>
            </a:r>
          </a:p>
          <a:p xmlns:a="http://schemas.openxmlformats.org/drawingml/2006/main">
            <a:r>
              <a:t>- E:/yanjiusheng/阅读论文/file_system/SE_EOD/linux-sources/linux-v6.14-fs/fs/btrfs/relocation.c</a:t>
            </a:r>
          </a:p>
          <a:p xmlns:a="http://schemas.openxmlformats.org/drawingml/2006/main">
            <a:r>
              <a:t>- E:/yanjiusheng/阅读论文/file_system/SE_EOD/linux-sources/linux-v6.14-fs/fs/ext4/xattr.c</a:t>
            </a:r>
          </a:p>
          <a:p xmlns:a="http://schemas.openxmlformats.org/drawingml/2006/main">
            <a:r>
              <a:t>- E:/yanjiusheng/阅读论文/file_system/SE_EOD/linux-sources/linux-v6.14-fs/fs/btrfs/volumes.c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结尾回到方法本身：路径、身份、分区和证据边界共同构成可审计的 Bug 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E:/yanjiusheng/阅读论文/file_system/SE_EOD/docs/METADATA_RESIDUAL_ARCHITECTURE.md</a:t>
            </a:r>
          </a:p>
          <a:p xmlns:a="http://schemas.openxmlformats.org/drawingml/2006/main">
            <a:r>
              <a:t>- E:/yanjiusheng/阅读论文/file_system/SE_EOD/src/metadata_residual.py</a:t>
            </a:r>
          </a:p>
          <a:p xmlns:a="http://schemas.openxmlformats.org/drawingml/2006/main">
            <a:r>
              <a:t>- E:/yanjiusheng/阅读论文/file_system/SE_EOD/src/function_summary.py</a:t>
            </a:r>
          </a:p>
          <a:p xmlns:a="http://schemas.openxmlformats.org/drawingml/2006/main">
            <a:r>
              <a:t>- E:/yanjiusheng/阅读论文/file_system/SE_EOD/outputs/confirmed_bugs.md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6e6158f9ea4e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ba1744c20c403a" /><Relationship Type="http://schemas.openxmlformats.org/officeDocument/2006/relationships/slideLayout" Target="/ppt/slideLayouts/slideLayout1.xml" Id="R6f31f2b7176e4d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31f2b7176e4d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e4c380a3240ad" /><Relationship Type="http://schemas.openxmlformats.org/officeDocument/2006/relationships/notesSlide" Target="/ppt/notesSlides/notesSlide1.xml" Id="R0e5b74cf212949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08e62f62e4e99" /><Relationship Type="http://schemas.openxmlformats.org/officeDocument/2006/relationships/notesSlide" Target="/ppt/notesSlides/notesSlide2.xml" Id="R111b2989970f46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d13243fcb4601" /><Relationship Type="http://schemas.openxmlformats.org/officeDocument/2006/relationships/notesSlide" Target="/ppt/notesSlides/notesSlide3.xml" Id="R308709364ed64e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7869660ef431c" /><Relationship Type="http://schemas.openxmlformats.org/officeDocument/2006/relationships/notesSlide" Target="/ppt/notesSlides/notesSlide4.xml" Id="R99e2f2564ed644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8c662c34d4952" /><Relationship Type="http://schemas.openxmlformats.org/officeDocument/2006/relationships/notesSlide" Target="/ppt/notesSlides/notesSlide5.xml" Id="Rf9d6513369b149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61b9222b546c4" /><Relationship Type="http://schemas.openxmlformats.org/officeDocument/2006/relationships/notesSlide" Target="/ppt/notesSlides/notesSlide6.xml" Id="R963e582e0bfb44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b27f413124d13" /><Relationship Type="http://schemas.openxmlformats.org/officeDocument/2006/relationships/notesSlide" Target="/ppt/notesSlides/notesSlide7.xml" Id="R480e7a2a204340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479e374bc41e7" /><Relationship Type="http://schemas.openxmlformats.org/officeDocument/2006/relationships/notesSlide" Target="/ppt/notesSlides/notesSlide8.xml" Id="Ra603b5dafff14b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f2144284f4cbe" /><Relationship Type="http://schemas.openxmlformats.org/officeDocument/2006/relationships/notesSlide" Target="/ppt/notesSlides/notesSlide9.xml" Id="Rf2627fe4686242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c2f52c19c43ac" /><Relationship Type="http://schemas.openxmlformats.org/officeDocument/2006/relationships/notesSlide" Target="/ppt/notesSlides/notesSlide10.xml" Id="R83382030563f4d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31405506b4ab5" /><Relationship Type="http://schemas.openxmlformats.org/officeDocument/2006/relationships/notesSlide" Target="/ppt/notesSlides/notesSlide11.xml" Id="R6d7883e1ee7143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5af07187b4096" /><Relationship Type="http://schemas.openxmlformats.org/officeDocument/2006/relationships/notesSlide" Target="/ppt/notesSlides/notesSlide12.xml" Id="R5bc324b6a87947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5d8132015402c" /><Relationship Type="http://schemas.openxmlformats.org/officeDocument/2006/relationships/notesSlide" Target="/ppt/notesSlides/notesSlide13.xml" Id="Rfa0d9516e0f34a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b96e96f56463a" /><Relationship Type="http://schemas.openxmlformats.org/officeDocument/2006/relationships/notesSlide" Target="/ppt/notesSlides/notesSlide14.xml" Id="Ra77c5cfc00a7400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854c1a90e4d87" /><Relationship Type="http://schemas.openxmlformats.org/officeDocument/2006/relationships/notesSlide" Target="/ppt/notesSlides/notesSlide15.xml" Id="R2f186ee370a447e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3629635cf4ad9" /><Relationship Type="http://schemas.openxmlformats.org/officeDocument/2006/relationships/notesSlide" Target="/ppt/notesSlides/notesSlide16.xml" Id="R43ffae00c45c429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19f66ec324fb2" /><Relationship Type="http://schemas.openxmlformats.org/officeDocument/2006/relationships/notesSlide" Target="/ppt/notesSlides/notesSlide17.xml" Id="Re794da992ccb484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65410b98b4164" /><Relationship Type="http://schemas.openxmlformats.org/officeDocument/2006/relationships/notesSlide" Target="/ppt/notesSlides/notesSlide18.xml" Id="Rcd30bdff79c243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15ad8627c4cbe" /><Relationship Type="http://schemas.openxmlformats.org/officeDocument/2006/relationships/notesSlide" Target="/ppt/notesSlides/notesSlide19.xml" Id="R9cf6e2f99dfa43b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1691d0b654c02" /><Relationship Type="http://schemas.openxmlformats.org/officeDocument/2006/relationships/notesSlide" Target="/ppt/notesSlides/notesSlide20.xml" Id="R251b4a54e52e40f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A0AB190-F9BA-4A89-AEA1-D5AF49D4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SE_EOD · 项目架构详解</a:t>
            </a:r>
          </a:p>
        </p:txBody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7782A9EF-DA2F-4D2F-838D-D1506269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906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2742A31-CD42-406E-968B-3F0EC662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809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从失败路径到</a:t>
            </a:r>
          </a:p>
          <a:p xmlns:a="http://schemas.openxmlformats.org/drawingml/2006/main">
            <a:pPr algn="l">
              <a:defRPr sz="5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元数据残差证据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4AF0C49-7ABD-4FAC-AC3B-D94D6207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Linux 文件系统静态分析 · 架构、源码链路与真实 Bug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42C8C6F-3E12-43A0-8B95-DFC456B7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详细代码版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396E531-A926-482A-9075-4EBF7019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6769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2026.07</a:t>
            </a:r>
          </a:p>
        </p:txBody>
      </p:sp>
    </p:spTree>
    <p:extLst>
      <p:ext uri="{BB962C8B-B14F-4D97-AF65-F5344CB8AC3E}">
        <p14:creationId xmlns:p14="http://schemas.microsoft.com/office/powerpoint/2010/main" val="159360856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">
            <a:extLst xmlns:a="http://schemas.openxmlformats.org/drawingml/2006/main">
              <a:ext uri="{FF2B5EF4-FFF2-40B4-BE49-F238E27FC236}">
                <a16:creationId xmlns:a16="http://schemas.microsoft.com/office/drawing/2014/main" id="{A036464F-70D7-47B5-950E-B02A006E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SE_EOD · FAILURE-PATH METADATA RESIDUAL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F9C561A-8891-4A8C-A0E4-77FCDE83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系统的输出不是告警数量，而是一条可审计的失败因果链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E01DD18-DBFB-4907-8A66-B26D86BD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F8822FD-CF5D-4EBD-BD37-07AF4BD3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B81066D-E3C2-407C-8D4B-AF17BD1B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stage-rule-1">
            <a:extLst xmlns:a="http://schemas.openxmlformats.org/drawingml/2006/main">
              <a:ext uri="{FF2B5EF4-FFF2-40B4-BE49-F238E27FC236}">
                <a16:creationId xmlns:a16="http://schemas.microsoft.com/office/drawing/2014/main" id="{9FC48E1A-6533-42BA-AE3C-EE4084BB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9BA2942-1F49-4638-8402-4A7B601F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源码事实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6BAFCB9-BD58-498D-BB91-AA3829FB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记录具体赋值、容器更新、计数变化、调用返回和 goto / return 位置。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7C6116F-2999-4480-94E9-E139C0F9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669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2662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2AB5481-B8D6-4030-9C51-4F135281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621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stage-rule-2">
            <a:extLst xmlns:a="http://schemas.openxmlformats.org/drawingml/2006/main">
              <a:ext uri="{FF2B5EF4-FFF2-40B4-BE49-F238E27FC236}">
                <a16:creationId xmlns:a16="http://schemas.microsoft.com/office/drawing/2014/main" id="{46D981BB-87E4-412B-BB7B-FE71B7A0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5737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E475C4B-9F25-45AC-B2E2-C1AB8FCA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19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路径事实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F3FDD63-ADAB-4D36-8FC8-FAFDA7D3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证明状态写入能够到达失败点，并沿哪一条错误边到达函数出口。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6A40385-D599-43D6-BFAF-8BDE7D26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2662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1BFF15E-FBA5-4646-9F3A-DB8394A6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621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stage-rule-3">
            <a:extLst xmlns:a="http://schemas.openxmlformats.org/drawingml/2006/main">
              <a:ext uri="{FF2B5EF4-FFF2-40B4-BE49-F238E27FC236}">
                <a16:creationId xmlns:a16="http://schemas.microsoft.com/office/drawing/2014/main" id="{24C6427F-F42F-4A45-95DB-5A0E9082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5737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694233E-543A-45A3-900C-DD6BD6D8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19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语义事实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B546E45-EC9B-47A2-ABEA-173C55D3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把写入表示为 Root / Key / Plane / Delta / Value，并匹配取消或保护。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DDD17E1-08CA-4C03-BEBE-2EA4919F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669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2662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7B83349-B042-4188-81F9-CFD02914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621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stage-rule-4">
            <a:extLst xmlns:a="http://schemas.openxmlformats.org/drawingml/2006/main">
              <a:ext uri="{FF2B5EF4-FFF2-40B4-BE49-F238E27FC236}">
                <a16:creationId xmlns:a16="http://schemas.microsoft.com/office/drawing/2014/main" id="{A7BB6C92-B197-4470-9C1E-719C16F5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57375"/>
            <a:ext cx="264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0037B46-5150-4971-BE5A-9ECAEB60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193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结论事实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C02B8C1-0899-4A6E-A362-97FA30CA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输出残差、源码 witness、未解决身份和结论边界，供人工或动态验证。</a:t>
            </a:r>
          </a:p>
        </p:txBody>
      </p:sp>
      <p:sp>
        <p:nvSpPr>
          <p:cNvPr id="24" name="callout-输入">
            <a:extLst xmlns:a="http://schemas.openxmlformats.org/drawingml/2006/main">
              <a:ext uri="{FF2B5EF4-FFF2-40B4-BE49-F238E27FC236}">
                <a16:creationId xmlns:a16="http://schemas.microsoft.com/office/drawing/2014/main" id="{C5897975-E12A-4583-BFF5-ED54B96F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3238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0664CC7-D0B6-437A-897D-C9B718C1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86225"/>
            <a:ext cx="2895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9D6E8659-A934-4614-BC25-6D8973CC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Linux C 源码 + 文件系统元数据作用域合同</a:t>
            </a:r>
          </a:p>
        </p:txBody>
      </p:sp>
      <p:sp>
        <p:nvSpPr>
          <p:cNvPr id="27" name="callout-分析核心">
            <a:extLst xmlns:a="http://schemas.openxmlformats.org/drawingml/2006/main">
              <a:ext uri="{FF2B5EF4-FFF2-40B4-BE49-F238E27FC236}">
                <a16:creationId xmlns:a16="http://schemas.microsoft.com/office/drawing/2014/main" id="{22DF885F-B2FA-4045-9F5F-0E4BC822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43350"/>
            <a:ext cx="4210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D3002FE-7241-4EF9-A179-8BA10AC0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86225"/>
            <a:ext cx="3867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分析核心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8ECBF107-98AA-44DD-BF7C-43395CF7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19600"/>
            <a:ext cx="3867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FunctionIR + CFG + failure point + bidirectional slice + function summary</a:t>
            </a:r>
          </a:p>
        </p:txBody>
      </p:sp>
      <p:sp>
        <p:nvSpPr>
          <p:cNvPr id="30" name="callout-输出">
            <a:extLst xmlns:a="http://schemas.openxmlformats.org/drawingml/2006/main">
              <a:ext uri="{FF2B5EF4-FFF2-40B4-BE49-F238E27FC236}">
                <a16:creationId xmlns:a16="http://schemas.microsoft.com/office/drawing/2014/main" id="{AE10FC59-C20A-4EAE-9D41-DDD82047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43350"/>
            <a:ext cx="28765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9EC78A1E-E90C-45B4-BB49-A36E7AC5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86225"/>
            <a:ext cx="2533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F1123E98-E2E4-4DE1-A43B-96CFFF8B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1960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ResidualSlice：E_f、C_f、T_f、R_f、error exit、rationale 与 evidence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CAFEBF34-2C5F-40D0-854C-FC3DC48D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同一条证据链既服务于自动报告，也允许审查者回到原始源码逐行复核。</a:t>
            </a:r>
          </a:p>
        </p:txBody>
      </p:sp>
    </p:spTree>
    <p:extLst>
      <p:ext uri="{BB962C8B-B14F-4D97-AF65-F5344CB8AC3E}">
        <p14:creationId xmlns:p14="http://schemas.microsoft.com/office/powerpoint/2010/main" val="9344959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19E2C797-390F-40DC-821E-895BEBF7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SE_EOD · FAILURE-PATH METADATA RESIDUAL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127631F-0FBF-4B4B-B917-AC9B2E5F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残差模型把“发生了什么”与“错误退出时还剩什么”分开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2A83026-121B-4DCC-B43D-D8F4165E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29906EE-08AB-4362-9C95-4BE0B64A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callout-E_f · 到达失败点">
            <a:extLst xmlns:a="http://schemas.openxmlformats.org/drawingml/2006/main">
              <a:ext uri="{FF2B5EF4-FFF2-40B4-BE49-F238E27FC236}">
                <a16:creationId xmlns:a16="http://schemas.microsoft.com/office/drawing/2014/main" id="{A2DFE73B-419B-400B-A10B-3D613DBD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571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90E93F0-5957-4B04-BFF3-3B36AD7B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2402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E_f · 到达失败点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62EF6CF-4DBF-42B3-B37C-C6FA75F4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2228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失败发生前已经生效的结构、计数、恢复或事务元数据效果。</a:t>
            </a:r>
          </a:p>
        </p:txBody>
      </p:sp>
      <p:sp>
        <p:nvSpPr>
          <p:cNvPr id="8" name="callout-C_f · 取消 / 补偿">
            <a:extLst xmlns:a="http://schemas.openxmlformats.org/drawingml/2006/main">
              <a:ext uri="{FF2B5EF4-FFF2-40B4-BE49-F238E27FC236}">
                <a16:creationId xmlns:a16="http://schemas.microsoft.com/office/drawing/2014/main" id="{34859B78-E5E5-4DA0-AF5D-08224DF9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81150"/>
            <a:ext cx="2571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5F2A0EB-5B7A-4961-B4C6-07F3B62D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2402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C_f · 取消 / 补偿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16FDD61-E110-408B-9B15-AC86FA32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57400"/>
            <a:ext cx="2228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错误路径上与同一对象、键和值匹配的逆向效果。</a:t>
            </a:r>
          </a:p>
        </p:txBody>
      </p:sp>
      <p:sp>
        <p:nvSpPr>
          <p:cNvPr id="11" name="callout-T_f · 保护 / 转移">
            <a:extLst xmlns:a="http://schemas.openxmlformats.org/drawingml/2006/main">
              <a:ext uri="{FF2B5EF4-FFF2-40B4-BE49-F238E27FC236}">
                <a16:creationId xmlns:a16="http://schemas.microsoft.com/office/drawing/2014/main" id="{47445578-17DF-445C-AFAD-3679BF81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81150"/>
            <a:ext cx="2571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0F7277F-09D1-4CD4-9F8E-DFF3D26E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2402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T_f · 保护 / 转移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1C95A3A-05FF-40E2-A02C-DAC93E7D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57400"/>
            <a:ext cx="2228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9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事务 abort、owner teardown、forced shutdown 等明确接管效果。</a:t>
            </a:r>
          </a:p>
        </p:txBody>
      </p:sp>
      <p:sp>
        <p:nvSpPr>
          <p:cNvPr id="14" name="callout-R_f · 最终残差">
            <a:extLst xmlns:a="http://schemas.openxmlformats.org/drawingml/2006/main">
              <a:ext uri="{FF2B5EF4-FFF2-40B4-BE49-F238E27FC236}">
                <a16:creationId xmlns:a16="http://schemas.microsoft.com/office/drawing/2014/main" id="{9D881AFD-2F25-40DC-BE75-DCFBAF7A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81150"/>
            <a:ext cx="27051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A2CF0FB-D3CC-422C-8E76-3D364EFD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24025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R_f · 最终残差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688A89B-150D-4D32-A7D6-AF84C15C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57400"/>
            <a:ext cx="2362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8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R_f = Normalize(E_f ⊕ C_f) − T_f。非空且到达错误出口才进入报告。</a:t>
            </a:r>
          </a:p>
        </p:txBody>
      </p:sp>
      <p:sp>
        <p:nvSpPr>
          <p:cNvPr id="17" name="code-IDENTITY-AWARE CANCELLATION">
            <a:extLst xmlns:a="http://schemas.openxmlformats.org/drawingml/2006/main">
              <a:ext uri="{FF2B5EF4-FFF2-40B4-BE49-F238E27FC236}">
                <a16:creationId xmlns:a16="http://schemas.microsoft.com/office/drawing/2014/main" id="{ABE6844D-51F9-41EA-B9C9-548EF021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1375"/>
            <a:ext cx="72390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18" name="code-bar-IDENTITY-AWARE CANCELLATION">
            <a:extLst xmlns:a="http://schemas.openxmlformats.org/drawingml/2006/main">
              <a:ext uri="{FF2B5EF4-FFF2-40B4-BE49-F238E27FC236}">
                <a16:creationId xmlns:a16="http://schemas.microsoft.com/office/drawing/2014/main" id="{FA9852B0-8A62-45D8-95B6-1F721E8F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1375"/>
            <a:ext cx="666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E8285D2-FD44-4958-8F8D-C936E763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147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IDENTITY-AWARE CANCELLATION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BA87328-C334-452B-90C9-EDC51AFD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9525"/>
            <a:ext cx="69151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0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Effect = &lt;Root, Key, Plane, Delta, Value, Site, Evidence&gt;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identity(effect)        = (Root, Key, Plane)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cancellation_key(effect)= (Root, Key, Plane, Value)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ADD(list, device)       ↔ REMOVE(list, device)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INC(counter, n)         ↔ DEC(counter, n)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ATTACH(root.reloc_root) ↔ DROP(root.reloc_root)</a:t>
            </a:r>
          </a:p>
        </p:txBody>
      </p:sp>
      <p:sp>
        <p:nvSpPr>
          <p:cNvPr id="21" name="callout-关键约束">
            <a:extLst xmlns:a="http://schemas.openxmlformats.org/drawingml/2006/main">
              <a:ext uri="{FF2B5EF4-FFF2-40B4-BE49-F238E27FC236}">
                <a16:creationId xmlns:a16="http://schemas.microsoft.com/office/drawing/2014/main" id="{5AD9162E-E53E-4C8E-9A02-C6C185F9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81375"/>
            <a:ext cx="37528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6BE14DA-9A7E-4532-8923-99ACA573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24250"/>
            <a:ext cx="3409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关键约束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F4864B3-827A-468D-9BD1-7DBD96C9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57625"/>
            <a:ext cx="3409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名字相似不等于同一对象。Root、Key、Plane、Value 的身份必须兼容，才能把补偿认作取消。</a:t>
            </a:r>
          </a:p>
        </p:txBody>
      </p:sp>
    </p:spTree>
    <p:extLst>
      <p:ext uri="{BB962C8B-B14F-4D97-AF65-F5344CB8AC3E}">
        <p14:creationId xmlns:p14="http://schemas.microsoft.com/office/powerpoint/2010/main" val="11311504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kicker">
            <a:extLst xmlns:a="http://schemas.openxmlformats.org/drawingml/2006/main">
              <a:ext uri="{FF2B5EF4-FFF2-40B4-BE49-F238E27FC236}">
                <a16:creationId xmlns:a16="http://schemas.microsoft.com/office/drawing/2014/main" id="{84DC202D-3A7C-4ABD-9B2B-A566150A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SE_EOD · FAILURE-PATH METADATA RESIDUAL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54B5854-B2CE-4CF9-A6A9-BD880544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主链路从 C 源码走到可审计 witness，共经过八个阶段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882C005-27EB-402D-AD1C-7D7F4D5A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19CD728-ADA7-4971-8A97-6C065DAD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666BB80A-1AAC-4A65-A0E3-655EE31A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62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718A167-083E-490E-B0B9-D8317C79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FBE74CC-4FF5-49AA-A677-91B64DF7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Linux C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969A2AF-6203-4AFC-996E-ED9C77D5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78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源文件与版本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B2DB1A0-ADAD-4F7F-9981-A3A8E3CB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860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2662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D0259676-603C-4ECC-A7C9-5D2DD273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790700"/>
            <a:ext cx="1162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2670B00-45D2-4A40-A7B0-8C160B8A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52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961F31D-8CD3-4D53-B4F6-CDD11507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33625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1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FunctionIR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B9C4511-6C51-48A6-BBBB-998AD8B9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241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Tree-sitter 前端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472F1E1-8158-4162-BE98-DFECDBBC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860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2662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6B18AE93-212E-453F-912F-D376B5E6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90700"/>
            <a:ext cx="1162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9E0119B-C2B8-4CCA-A878-53856FDE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52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1669B86-7040-4226-8B52-7A075FB4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33625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CFG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C8C3729-267C-4044-886B-F74F1764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241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分支与错误出口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6EF7031-33A0-486D-BB90-596CB8AD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860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2662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ECADB8EE-638F-46BD-8C8A-D5558DB1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90700"/>
            <a:ext cx="1162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EB74803-217D-4D18-9516-695C9F23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952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9ECAD05-9185-4B2B-9DC0-62453409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33625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Scope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5DC74F0-6157-413B-A463-0DE23075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241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41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元数据边界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555FDE7-FBBF-4135-B294-9539062A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860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2662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478E32C2-A8FC-4FCF-825A-A861A38C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1162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BFAAC6DE-00C0-49FC-92A1-1668A086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B3963CF-0B47-41C3-9EBC-8C2C5775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33625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Failure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384BB68-8353-4360-9666-E656DFD3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41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失败点发现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E8C0C266-7FBD-4967-B6D0-41AB0305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2662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7CE983C5-FA34-4539-83C7-79902CF7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790700"/>
            <a:ext cx="1162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5A2755A7-9061-4BF5-A361-D66557AE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52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708701B9-01C8-49E2-A813-F1AF4B2E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33625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Slice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1E8F1F1B-33E1-43BA-8340-0CAE167A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241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3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E_f / C_f / T_f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D0650EDC-F727-4B02-B144-1313D2D1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860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2662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5" name="box">
            <a:extLst xmlns:a="http://schemas.openxmlformats.org/drawingml/2006/main">
              <a:ext uri="{FF2B5EF4-FFF2-40B4-BE49-F238E27FC236}">
                <a16:creationId xmlns:a16="http://schemas.microsoft.com/office/drawing/2014/main" id="{F9CD73EB-83BC-48A0-84F9-125E4916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90700"/>
            <a:ext cx="1162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22004069-4CEF-4C79-8550-46667DDF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52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B5590C27-7F9E-4023-A4DF-8C7890F4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33625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59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Summary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8D2ADCEA-AB4E-4FD3-A113-0470C168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241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41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跨过程投影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39DFD459-12EF-4B23-BAB4-1DCA6688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860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2662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0" name="box">
            <a:extLst xmlns:a="http://schemas.openxmlformats.org/drawingml/2006/main">
              <a:ext uri="{FF2B5EF4-FFF2-40B4-BE49-F238E27FC236}">
                <a16:creationId xmlns:a16="http://schemas.microsoft.com/office/drawing/2014/main" id="{2EA65FF7-2D34-452A-B86A-18994DF4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790700"/>
            <a:ext cx="1162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5CC7954D-7A8B-42E2-8EE4-EF02861C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952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8A0E5B24-2497-4E3E-A0C2-4C609840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333625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Report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464E268E-B4B4-47CB-BFEC-17EF1431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7241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78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证据与回归门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49EDB522-CDCC-471F-BF43-E726FC92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5" name="stage-rule-1">
            <a:extLst xmlns:a="http://schemas.openxmlformats.org/drawingml/2006/main">
              <a:ext uri="{FF2B5EF4-FFF2-40B4-BE49-F238E27FC236}">
                <a16:creationId xmlns:a16="http://schemas.microsoft.com/office/drawing/2014/main" id="{F5164F13-D71B-408B-916B-272A996D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337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DAD82732-21A5-495D-8D55-3AFF9181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理解源程序</a:t>
            </a:r>
          </a:p>
        </p:txBody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6EA4C7D9-D469-48B7-8AB1-818652F4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前端把不同 C 写法归一为 FunctionIR；CFG 保留条件、goto、return 与调用点。</a:t>
            </a:r>
          </a:p>
        </p:txBody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1F34208A-F05A-418C-B7B8-63997BCE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481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9" name="stage-rule-2">
            <a:extLst xmlns:a="http://schemas.openxmlformats.org/drawingml/2006/main">
              <a:ext uri="{FF2B5EF4-FFF2-40B4-BE49-F238E27FC236}">
                <a16:creationId xmlns:a16="http://schemas.microsoft.com/office/drawing/2014/main" id="{BAB0DC1B-4007-4724-990A-B187BA5F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4337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868CD180-FC05-417E-B913-D6F57FF0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053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计算失败残差</a:t>
            </a:r>
          </a:p>
        </p:txBody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7C5C5AC6-AA33-464A-A2E3-4F3DE2B4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863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以失败点为锚，向后找已发生效果，沿错误路径向前找取消、保护和退出。</a:t>
            </a:r>
          </a:p>
        </p:txBody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F8CA29F1-5CC3-4776-9671-286B0E76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481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3" name="stage-rule-3">
            <a:extLst xmlns:a="http://schemas.openxmlformats.org/drawingml/2006/main">
              <a:ext uri="{FF2B5EF4-FFF2-40B4-BE49-F238E27FC236}">
                <a16:creationId xmlns:a16="http://schemas.microsoft.com/office/drawing/2014/main" id="{5CA30811-5202-44B8-BAC6-A8D9A611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4337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CE47C2B8-809D-463A-80F7-5082DD48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053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约束结论边界</a:t>
            </a:r>
          </a:p>
        </p:txBody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20EFFC41-F53B-4D18-84A2-31AD29A3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863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跨过程摘要、oracle 与回归门共同防止“候选残差”被过度表述为已确认 Bug。</a:t>
            </a:r>
          </a:p>
        </p:txBody>
      </p:sp>
    </p:spTree>
    <p:extLst>
      <p:ext uri="{BB962C8B-B14F-4D97-AF65-F5344CB8AC3E}">
        <p14:creationId xmlns:p14="http://schemas.microsoft.com/office/powerpoint/2010/main" val="4740812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kicker">
            <a:extLst xmlns:a="http://schemas.openxmlformats.org/drawingml/2006/main">
              <a:ext uri="{FF2B5EF4-FFF2-40B4-BE49-F238E27FC236}">
                <a16:creationId xmlns:a16="http://schemas.microsoft.com/office/drawing/2014/main" id="{50051E32-1C64-4E2A-8A32-E779955A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SE_EOD · FAILURE-PATH METADATA RESIDUAL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949271F-F046-4BF8-8666-852D9A56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模块按证据责任划分，而不是按文件系统堆叠规则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CD9B752-01C9-4255-88F9-3FBC09F8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116709E-842B-4FBC-96E2-29651114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97FC0B3-FE75-45CA-85E7-540C5FA1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frontend/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690F1D1-B3E7-42B0-B957-E4D6E9C3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4668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 AST → FunctionIR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8F4C5622-D9F3-4C1C-8E42-877B11D6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999"/>
          </a:solidFill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C8826CE-D954-481B-B4B2-0B4E03F5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保留源码位置、表达式与调用点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0DA46F1-012B-4B31-AC9B-31C4C726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66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cfg.py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CBDDA92-6E47-4DDF-AB52-9158A40E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4668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函数内控制流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0B09338A-962C-47CB-A5B0-C6457E32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999"/>
          </a:solidFill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FCEC329-07C3-4D01-A339-8C741361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431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构建块、边与错误出口可达性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33C8A0B-9B89-44AB-A39C-D55AA98C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metadata_scope.py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A5F6038-B798-4893-8E7E-AF8363B6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6289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作用域合同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D453AC04-4686-4045-9780-9395F0F6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999"/>
          </a:solidFill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7B73E57-2554-4859-A5A0-1D3068D2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过滤非结构/计数/恢复元数据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DBF9A3D-25D6-424D-95D9-D7F70ED6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failure_points.py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F07E18D-9244-4A93-8867-BEC42A01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289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失败点发现</a:t>
            </a:r>
          </a:p>
        </p:txBody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F6EE195D-0838-4F6A-A376-1A6CDAE5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718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999"/>
          </a:solidFill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C14462F-4D07-4FC8-9A41-9EE13D1D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051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识别错误检查、goto 与 error return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C8D50A3-5FFD-496F-BF3E-535C41E9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effect_extractor.py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9A4633F-B3A9-496C-BF76-BD8C9E43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7909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效果抽取</a:t>
            </a:r>
          </a:p>
        </p:txBody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89A69756-A6AA-4038-AE14-DE8749CB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338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999"/>
          </a:solidFill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A5AAF17-E0A3-4AD7-ABE0-00CCE8F2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生成 Root / Key / Plane / Delta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E503505-28CE-4EE0-8264-6EC17820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residual_slicer.py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A046FC4-A37B-4723-ADA0-1BB41798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7909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双向切片</a:t>
            </a:r>
          </a:p>
        </p:txBody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A7A1CA9E-761D-4043-B58E-5BEEA4F6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338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999"/>
          </a:solidFill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E498ADC-A63E-4042-8FAB-26C0AB1F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672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计算 E_f、C_f、T_f 与 R_f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3A940135-D7F0-4D2B-AC0C-5EC4C92C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function_summary.py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7BC2404D-1751-4F8B-800D-EBD1FCFF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953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跨过程语义</a:t>
            </a:r>
          </a:p>
        </p:txBody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4E6AB326-3897-476B-AC40-AED217BE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999"/>
          </a:solidFill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472F5A9-F378-4AC5-8F28-8BF104E7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参数化效果并保留错误出口分区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517CE216-D955-4033-AF16-814CE0A4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53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harness + oracle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60BC0878-330D-4FAB-9E90-FA53363F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953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证据治理</a:t>
            </a:r>
          </a:p>
        </p:txBody>
      </p:sp>
      <p:sp>
        <p:nvSpPr>
          <p:cNvPr id="35" name="box">
            <a:extLst xmlns:a="http://schemas.openxmlformats.org/drawingml/2006/main">
              <a:ext uri="{FF2B5EF4-FFF2-40B4-BE49-F238E27FC236}">
                <a16:creationId xmlns:a16="http://schemas.microsoft.com/office/drawing/2014/main" id="{2A62FC43-BB75-4955-9B3D-26AB381B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95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999"/>
          </a:solidFill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7F2AAAD3-7214-452D-B121-C861DB8B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292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批量评估、人工 verdict 与回归门</a:t>
            </a:r>
          </a:p>
        </p:txBody>
      </p:sp>
    </p:spTree>
    <p:extLst>
      <p:ext uri="{BB962C8B-B14F-4D97-AF65-F5344CB8AC3E}">
        <p14:creationId xmlns:p14="http://schemas.microsoft.com/office/powerpoint/2010/main" val="20282197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845B8067-BEB8-40B8-BA50-3D872F17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SE_EOD · FAILURE-PATH METADATA RESIDUAL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5F8424-6064-4AC3-9B12-781A933B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核心数据结构直接保留身份、路径和证据来源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C391E78-E305-4E48-B35D-498663CD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2F6177F-6FD5-45DE-A8C6-86CF2252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code-src/metadata_residual.py · MetadataEffect">
            <a:extLst xmlns:a="http://schemas.openxmlformats.org/drawingml/2006/main">
              <a:ext uri="{FF2B5EF4-FFF2-40B4-BE49-F238E27FC236}">
                <a16:creationId xmlns:a16="http://schemas.microsoft.com/office/drawing/2014/main" id="{D43747F9-2F0E-4930-940F-CA971636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54292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6" name="code-bar-src/metadata_residual.py · MetadataEffect">
            <a:extLst xmlns:a="http://schemas.openxmlformats.org/drawingml/2006/main">
              <a:ext uri="{FF2B5EF4-FFF2-40B4-BE49-F238E27FC236}">
                <a16:creationId xmlns:a16="http://schemas.microsoft.com/office/drawing/2014/main" id="{632D0414-CE7A-4753-AADA-F82550D5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66675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D565408-3266-4B72-8901-42B05186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src/metadata_residual.py · MetadataEffect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4F53EBC-B308-45CE-AA64-97E8AA27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51054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231  @dataclass(frozen=True)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232  class MetadataEffect: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233      root: str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234      key: str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235      plane: MetadataPlane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236      delta: MetadataDelta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237      value: str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238      site: SourceSite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239      evidence: EffectEvidence = DIRECT_SOURCE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...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247      def identity(self):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248          return (self.root, self.key, self.plane)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250      def cancellation_key(self):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251          return (self.root, self.key, self.plane, self.value)</a:t>
            </a:r>
          </a:p>
        </p:txBody>
      </p:sp>
      <p:sp>
        <p:nvSpPr>
          <p:cNvPr id="9" name="code-src/metadata_residual.py · ResidualSlice">
            <a:extLst xmlns:a="http://schemas.openxmlformats.org/drawingml/2006/main">
              <a:ext uri="{FF2B5EF4-FFF2-40B4-BE49-F238E27FC236}">
                <a16:creationId xmlns:a16="http://schemas.microsoft.com/office/drawing/2014/main" id="{19511331-DA04-49BD-BE85-E92317EC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47800"/>
            <a:ext cx="55435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10" name="code-bar-src/metadata_residual.py · ResidualSlice">
            <a:extLst xmlns:a="http://schemas.openxmlformats.org/drawingml/2006/main">
              <a:ext uri="{FF2B5EF4-FFF2-40B4-BE49-F238E27FC236}">
                <a16:creationId xmlns:a16="http://schemas.microsoft.com/office/drawing/2014/main" id="{F1DD56DF-EB48-42FA-AD71-C63BD79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47800"/>
            <a:ext cx="66675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A4E2720-976B-4FBA-976A-9F1E1422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8115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src/metadata_residual.py · ResidualSlice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4FDDCF1-3A36-42E6-9EB6-04EBD1EF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52197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312  @dataclass(frozen=True)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313  class ResidualSlice: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314      failure_site: SourceSite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315      reaching_effects: tuple[MetadataEffect, ...]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316      cancellations: tuple[MetadataEffect, ...]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317      protections: tuple[MetadataEffect, ...]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318      residuals: tuple[MetadataEffect, ...]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319      state: ResidualState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320      exit_site: SourceSite | None = None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321      rationale: str = ""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322      out_of_scope_effects: tuple[...] = ()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323      containment_proofs: tuple[...] = ()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324      owner_teardown_proofs: tuple[...] = ()</a:t>
            </a:r>
          </a:p>
        </p:txBody>
      </p:sp>
    </p:spTree>
    <p:extLst>
      <p:ext uri="{BB962C8B-B14F-4D97-AF65-F5344CB8AC3E}">
        <p14:creationId xmlns:p14="http://schemas.microsoft.com/office/powerpoint/2010/main" val="5734706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7ED77D73-D95C-4E3B-9785-66328E2B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SE_EOD · FAILURE-PATH METADATA RESIDUAL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9427FAA-4B39-4A2F-ACC2-77528891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跨过程摘要按错误出口分区，避免把分支特有清理投影到所有失败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6AC2595-4521-4F6F-BB53-78871748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2FE30F1-EBE9-4114-8042-227352FB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code-function_summary.py · ErrorExitPartition">
            <a:extLst xmlns:a="http://schemas.openxmlformats.org/drawingml/2006/main">
              <a:ext uri="{FF2B5EF4-FFF2-40B4-BE49-F238E27FC236}">
                <a16:creationId xmlns:a16="http://schemas.microsoft.com/office/drawing/2014/main" id="{75ACB885-446B-4523-B08E-56070D1A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533400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6" name="code-bar-function_summary.py · ErrorExitPartition">
            <a:extLst xmlns:a="http://schemas.openxmlformats.org/drawingml/2006/main">
              <a:ext uri="{FF2B5EF4-FFF2-40B4-BE49-F238E27FC236}">
                <a16:creationId xmlns:a16="http://schemas.microsoft.com/office/drawing/2014/main" id="{264AA122-3F0F-435E-90BD-F1CB7977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66675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578C008-8581-4814-80EB-5A5C7BB4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function_summary.py · ErrorExitPartition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143B819-C15F-4353-838D-968639DE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501015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196  @dataclass(frozen=True)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197  class ErrorExitPartition: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200      exit_site: SourceSite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201      return_expression: str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202      return_constraint: str = ""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203      opens: tuple[MetadataEffect, ...] = ()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204      cancels: tuple[MetadataEffect, ...] = ()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205      protects: tuple[MetadataEffect, ...] = ()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206      residuals: tuple[MetadataEffect, ...] = ()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207      terminal_actions: tuple[MetadataEffect, ...] = ()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209      path: tuple[SourceSite, ...] = ()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210      complete: bool = False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211      unknown_causes: tuple[str, ...] = ()</a:t>
            </a:r>
          </a:p>
        </p:txBody>
      </p:sp>
      <p:sp>
        <p:nvSpPr>
          <p:cNvPr id="9" name="code-function_summary.py · FunctionSummary">
            <a:extLst xmlns:a="http://schemas.openxmlformats.org/drawingml/2006/main">
              <a:ext uri="{FF2B5EF4-FFF2-40B4-BE49-F238E27FC236}">
                <a16:creationId xmlns:a16="http://schemas.microsoft.com/office/drawing/2014/main" id="{96001E95-29A7-403A-8A60-FAF7AAA4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47800"/>
            <a:ext cx="563880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10" name="code-bar-function_summary.py · FunctionSummary">
            <a:extLst xmlns:a="http://schemas.openxmlformats.org/drawingml/2006/main">
              <a:ext uri="{FF2B5EF4-FFF2-40B4-BE49-F238E27FC236}">
                <a16:creationId xmlns:a16="http://schemas.microsoft.com/office/drawing/2014/main" id="{373E3435-4EC3-4F5E-9437-6B333C39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47800"/>
            <a:ext cx="66675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67E4F13-BECF-4B9A-A804-2C384766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function_summary.py · FunctionSummary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217B31E-4336-48FC-BE5D-D1CBBBBF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531495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283  @dataclass(frozen=True)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284  class FunctionSummary: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285      function_name: str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286      parameters: tuple[str, ...]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292      opens: tuple[MetadataEffect, ...]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293      cancels: tuple[MetadataEffect, ...]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294      protects: tuple[MetadataEffect, ...]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296      error_opens: tuple[...] = ()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297      error_cancels: tuple[...] = ()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298      error_protects: tuple[...] = ()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307      error_exit_partitions: tuple[...] = ()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308      error_partitions_exhaustive: bool = False</a:t>
            </a:r>
          </a:p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309      unresolved_calls: tuple[str, ...] = ()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12E9C9D-4627-4920-83DD-A41352CF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投影规则：只有所有完整 error partition 都包含 terminal action，才把它提升为聚合调用者失败语义。</a:t>
            </a:r>
          </a:p>
        </p:txBody>
      </p:sp>
    </p:spTree>
    <p:extLst>
      <p:ext uri="{BB962C8B-B14F-4D97-AF65-F5344CB8AC3E}">
        <p14:creationId xmlns:p14="http://schemas.microsoft.com/office/powerpoint/2010/main" val="2874666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B66959FC-BF7A-4245-8D3E-9F43FC80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SE_EOD · FAILURE-PATH METADATA RESIDUAL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6CCC445-4ECA-4574-8523-E919D38A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分析器只证明函数边界残差；确认 Bug 需要额外活性与影响证据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6B6B1AF-2FFF-4C88-94EB-269CD059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CBAEB03-4B1D-401E-ABD0-97B42954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callout-可以自动声称">
            <a:extLst xmlns:a="http://schemas.openxmlformats.org/drawingml/2006/main">
              <a:ext uri="{FF2B5EF4-FFF2-40B4-BE49-F238E27FC236}">
                <a16:creationId xmlns:a16="http://schemas.microsoft.com/office/drawing/2014/main" id="{E961E176-8E5D-487D-B12E-DFCDB2DB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1435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9F845A1-A4F4-4691-99D8-EF8E4F57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24025"/>
            <a:ext cx="4800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可以自动声称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C442606-B8C8-4A69-A216-BFC6C90B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48006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R_f 非空并到达错误出口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效果属于文件系统元数据作用域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witness 可定位到源码站点与路径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取消或保护关系有显式身份依据</a:t>
            </a:r>
          </a:p>
        </p:txBody>
      </p:sp>
      <p:sp>
        <p:nvSpPr>
          <p:cNvPr id="8" name="callout-不能自动越界声称">
            <a:extLst xmlns:a="http://schemas.openxmlformats.org/drawingml/2006/main">
              <a:ext uri="{FF2B5EF4-FFF2-40B4-BE49-F238E27FC236}">
                <a16:creationId xmlns:a16="http://schemas.microsoft.com/office/drawing/2014/main" id="{9CF503FB-BC05-400E-A4D2-E01E94C1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81150"/>
            <a:ext cx="56007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A23684E-5D95-447E-B424-1621FC6E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24025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不能自动越界声称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3961A56-5D43-4EE3-BDEB-E1C542E7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57400"/>
            <a:ext cx="52578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owner 在退出后一定继续存活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残差一定造成用户可见损坏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候选一定自然可触发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未复现即可视为 upstream Bug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38CF1EC-BCBB-4E5F-A3D6-F2B5E581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FUNCTION_BOUNDARY_RESIDUAL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96FAFC8-7AB8-455F-AD93-F8003065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530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2662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85945A8-A66A-4E19-8BF3-FF76A28E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101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owner-liveness / failure-domain proof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AEADBA7-28B9-4740-9139-8A9EC705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2662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ADC8122-2449-46C5-85C2-53A64500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10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confirmed bug</a:t>
            </a:r>
          </a:p>
        </p:txBody>
      </p:sp>
    </p:spTree>
    <p:extLst>
      <p:ext uri="{BB962C8B-B14F-4D97-AF65-F5344CB8AC3E}">
        <p14:creationId xmlns:p14="http://schemas.microsoft.com/office/powerpoint/2010/main" val="3461765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3588F4CD-85FC-4573-96AF-54AEC2DB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CASE 01 · BTRFS RELOCATION RECOVERY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D10530F-30E1-4F44-8EC7-08E397B7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Bug #7：reloc_root 引用先挂接，第一次提交失败后直接进入清理出口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5ABB4DE-79C7-46A1-A63A-2B9F4D60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DC98A22-252F-4B91-8CB3-2CEDF335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051D776-07CE-48A9-BA45-C8A87287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stage-rule-1">
            <a:extLst xmlns:a="http://schemas.openxmlformats.org/drawingml/2006/main">
              <a:ext uri="{FF2B5EF4-FFF2-40B4-BE49-F238E27FC236}">
                <a16:creationId xmlns:a16="http://schemas.microsoft.com/office/drawing/2014/main" id="{ABC9EAC6-C74A-4EEA-98D6-2DA6FFAE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98DF20D-0839-45DC-A00C-46A94A39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读取恢复根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F3BAFB7-729E-4D89-A3B3-AB3FDA07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4128–4135：读取 reloc_root，并加入本地 reloc_roots 列表。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4A972C0-01EC-4044-B215-DE449079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430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stage-rule-2">
            <a:extLst xmlns:a="http://schemas.openxmlformats.org/drawingml/2006/main">
              <a:ext uri="{FF2B5EF4-FFF2-40B4-BE49-F238E27FC236}">
                <a16:creationId xmlns:a16="http://schemas.microsoft.com/office/drawing/2014/main" id="{1100C12A-DDB1-4192-B195-CA2BA5CA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383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A48A6A7-9EA0-4FF9-A5CA-6E4935EE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建立持久挂接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7DDEA9A-422B-48FE-8C73-F9316B5B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4196–4214：取得 fs_root，__add_reloc_root() 后 grab 引用写入 fs_root-&gt;reloc_root。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387A3E7-2B74-4E54-A4A8-CD7C4D9F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5430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stage-rule-3">
            <a:extLst xmlns:a="http://schemas.openxmlformats.org/drawingml/2006/main">
              <a:ext uri="{FF2B5EF4-FFF2-40B4-BE49-F238E27FC236}">
                <a16:creationId xmlns:a16="http://schemas.microsoft.com/office/drawing/2014/main" id="{462E1630-5078-44B7-A5E7-47C70C54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383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DA20342-891D-4221-8BCF-705D1B72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提交失败跳转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8DA062A-5BC1-4F7F-AFA6-8E8C325F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812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4217–4219：btrfs_commit_transaction() 返回错误，goto out_unset。</a:t>
            </a:r>
          </a:p>
        </p:txBody>
      </p:sp>
      <p:sp>
        <p:nvSpPr>
          <p:cNvPr id="17" name="callout-关键状态写入">
            <a:extLst xmlns:a="http://schemas.openxmlformats.org/drawingml/2006/main">
              <a:ext uri="{FF2B5EF4-FFF2-40B4-BE49-F238E27FC236}">
                <a16:creationId xmlns:a16="http://schemas.microsoft.com/office/drawing/2014/main" id="{386BB7AD-B0D2-43C8-900C-A27E3928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533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915FD98-E561-45D3-BAA5-E4CE7F04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86225"/>
            <a:ext cx="4991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关键状态写入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AEA405F-58A3-4E3F-9DF8-69B3D171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4991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fs_root-&gt;reloc_root = btrfs_grab_root(reloc_root);</a:t>
            </a:r>
          </a:p>
        </p:txBody>
      </p:sp>
      <p:sp>
        <p:nvSpPr>
          <p:cNvPr id="20" name="callout-关键失败边">
            <a:extLst xmlns:a="http://schemas.openxmlformats.org/drawingml/2006/main">
              <a:ext uri="{FF2B5EF4-FFF2-40B4-BE49-F238E27FC236}">
                <a16:creationId xmlns:a16="http://schemas.microsoft.com/office/drawing/2014/main" id="{62B73D16-6173-479D-ABAC-3BEC7BE8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43350"/>
            <a:ext cx="533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6077766-3252-429A-8D10-D715A737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86225"/>
            <a:ext cx="4991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关键失败边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2DF89DE-E66D-4B0B-9305-1BCFDEC6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4991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ret = btrfs_commit_transaction(trans);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if (ret) goto out_unset;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8F6A738-3DB1-42DE-BE68-C5CBEBB3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问题不在“有没有 goto”，而在 goto 之后的清理集合是否覆盖刚刚发布到 fs_root 的引用。</a:t>
            </a:r>
          </a:p>
        </p:txBody>
      </p:sp>
    </p:spTree>
    <p:extLst>
      <p:ext uri="{BB962C8B-B14F-4D97-AF65-F5344CB8AC3E}">
        <p14:creationId xmlns:p14="http://schemas.microsoft.com/office/powerpoint/2010/main" val="1524938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1EBC06D4-3A60-4DF7-B871-1AFD0E41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CASE 01 · SOURCE WALKTHROUGH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ADD7F3D-50F7-4D39-A44C-F5966F1E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Bug #7 源码：写入发生在循环内，失败边发生在循环之后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AC9873E-4918-4B9C-AE39-C9A870AC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42674C4-E2FE-4D08-8A20-0C682F48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code-fs/btrfs/relocation.c · 4185–4219">
            <a:extLst xmlns:a="http://schemas.openxmlformats.org/drawingml/2006/main">
              <a:ext uri="{FF2B5EF4-FFF2-40B4-BE49-F238E27FC236}">
                <a16:creationId xmlns:a16="http://schemas.microsoft.com/office/drawing/2014/main" id="{9EC667F0-57F6-4A8E-9A26-91AC55A9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7667625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6" name="code-bar-fs/btrfs/relocation.c · 4185–4219">
            <a:extLst xmlns:a="http://schemas.openxmlformats.org/drawingml/2006/main">
              <a:ext uri="{FF2B5EF4-FFF2-40B4-BE49-F238E27FC236}">
                <a16:creationId xmlns:a16="http://schemas.microsoft.com/office/drawing/2014/main" id="{72270313-82E5-4898-943C-FCFC3CF3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66675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E510052-B851-45C6-9922-A1617053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14475"/>
            <a:ext cx="728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fs/btrfs/relocation.c · 4185–4219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E499ABA-6607-4844-AA2A-BEA652B0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7343775" cy="432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91"/>
          </a:bodyPr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4185  while (!list_empty(&amp;reloc_roots)) {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4186      reloc_root = list_entry(reloc_roots.next,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4187                    struct btrfs_root, root_list);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4188      list_del(&amp;reloc_root-&gt;root_list);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...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4196      fs_root = btrfs_get_fs_root(fs_info,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4197                    reloc_root-&gt;root_key.offset, false);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4198      if (IS_ERR(fs_root)) {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4199          ret = PTR_ERR(fs_root);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4200          list_add_tail(&amp;reloc_root-&gt;root_list, &amp;reloc_roots);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4201          btrfs_end_transaction(trans);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4202          goto out_unset;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4203      }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4205      ret = __add_reloc_root(reloc_root);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4207      if (ret) {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4208          list_add_tail(&amp;reloc_root-&gt;root_list, &amp;reloc_roots);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4209          btrfs_put_root(fs_root);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4210          btrfs_end_transaction(trans);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4211          goto out_unset;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4212      }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4213      fs_root-&gt;reloc_root = btrfs_grab_root(reloc_root);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4214      btrfs_put_root(fs_root);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4215  }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4217  ret = btrfs_commit_transaction(trans);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4218  if (ret)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4219      goto out_unset;</a:t>
            </a:r>
          </a:p>
        </p:txBody>
      </p:sp>
      <p:sp>
        <p:nvSpPr>
          <p:cNvPr id="9" name="callout-① 获取 owner">
            <a:extLst xmlns:a="http://schemas.openxmlformats.org/drawingml/2006/main">
              <a:ext uri="{FF2B5EF4-FFF2-40B4-BE49-F238E27FC236}">
                <a16:creationId xmlns:a16="http://schemas.microsoft.com/office/drawing/2014/main" id="{D8ADC6D8-8BDB-48AF-8076-B3B4853D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381125"/>
            <a:ext cx="33051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A5EB057-0968-489A-8D89-EDFC0D0A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524000"/>
            <a:ext cx="2962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① 获取 owner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D36C3D4-6BF2-45DA-9860-F80F5D39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857375"/>
            <a:ext cx="29622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48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4196–4203：fs_root 获取失败时，reloc_root 会重新放回本地列表；这条路径有显式回收线索。</a:t>
            </a:r>
          </a:p>
        </p:txBody>
      </p:sp>
      <p:sp>
        <p:nvSpPr>
          <p:cNvPr id="12" name="callout-② 发布引用">
            <a:extLst xmlns:a="http://schemas.openxmlformats.org/drawingml/2006/main">
              <a:ext uri="{FF2B5EF4-FFF2-40B4-BE49-F238E27FC236}">
                <a16:creationId xmlns:a16="http://schemas.microsoft.com/office/drawing/2014/main" id="{ADC83D7A-C222-4FE7-AA1D-6C9E4593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43225"/>
            <a:ext cx="33051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AA8763C-540D-4E46-BFEE-9D5D9C28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086100"/>
            <a:ext cx="2962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发布引用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B235379-CB2D-4073-B681-4728FDAD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419475"/>
            <a:ext cx="29622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48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4213：grab_root() 增加引用，并把指针存入 fs_root-&gt;reloc_root。之后本地 list 已经为空。</a:t>
            </a:r>
          </a:p>
        </p:txBody>
      </p:sp>
      <p:sp>
        <p:nvSpPr>
          <p:cNvPr id="15" name="callout-③ 提交失败">
            <a:extLst xmlns:a="http://schemas.openxmlformats.org/drawingml/2006/main">
              <a:ext uri="{FF2B5EF4-FFF2-40B4-BE49-F238E27FC236}">
                <a16:creationId xmlns:a16="http://schemas.microsoft.com/office/drawing/2014/main" id="{790EF77D-3BEC-48B2-8EE7-8EEF1621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505325"/>
            <a:ext cx="330517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2CA2806-A56E-4CC1-B7D6-096A653A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648200"/>
            <a:ext cx="2962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③ 提交失败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1BC042F-A282-43FF-868D-70AA5338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981575"/>
            <a:ext cx="29622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4217–4219：commit 失败时只知道跳到 out_unset；必须检查该出口是否反向清除已挂接引用。</a:t>
            </a:r>
          </a:p>
        </p:txBody>
      </p:sp>
    </p:spTree>
    <p:extLst>
      <p:ext uri="{BB962C8B-B14F-4D97-AF65-F5344CB8AC3E}">
        <p14:creationId xmlns:p14="http://schemas.microsoft.com/office/powerpoint/2010/main" val="18434615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6938A649-33F7-4A5A-9FA2-9B4E84C8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CASE 01 · RESIDUAL CALCULATION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66D6968-BCCE-4ADC-A0FC-1F311FD8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Bug #7 清理出口释放局部控制对象，却没有显式清空已挂接字段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2FC47A4-5A4D-407B-8908-3BC2509A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3134E5F-F266-4F96-ACDD-EF8DF080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code-fs/btrfs/relocation.c · 4231–4252">
            <a:extLst xmlns:a="http://schemas.openxmlformats.org/drawingml/2006/main">
              <a:ext uri="{FF2B5EF4-FFF2-40B4-BE49-F238E27FC236}">
                <a16:creationId xmlns:a16="http://schemas.microsoft.com/office/drawing/2014/main" id="{1921D58A-4839-44E8-B4B7-E105562E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5905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6" name="code-bar-fs/btrfs/relocation.c · 4231–4252">
            <a:extLst xmlns:a="http://schemas.openxmlformats.org/drawingml/2006/main">
              <a:ext uri="{FF2B5EF4-FFF2-40B4-BE49-F238E27FC236}">
                <a16:creationId xmlns:a16="http://schemas.microsoft.com/office/drawing/2014/main" id="{5BDA9574-0395-477B-8AF3-0129EBD6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6667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7AD81E5-458B-4B40-8270-6050C7C5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14475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fs/btrfs/relocation.c · 4231–4252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0CE3768-36AD-459B-8953-6967BC1A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5581650" cy="421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1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4231  out_clean:</a:t>
            </a:r>
          </a:p>
          <a:p xmlns:a="http://schemas.openxmlformats.org/drawingml/2006/main">
            <a:pPr algn="l">
              <a:defRPr sz="121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1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4232      ret2 = clean_dirty_subvols(rc);</a:t>
            </a:r>
          </a:p>
          <a:p xmlns:a="http://schemas.openxmlformats.org/drawingml/2006/main">
            <a:pPr algn="l">
              <a:defRPr sz="121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1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4233      if (ret2 &lt; 0 &amp;&amp; !ret)</a:t>
            </a:r>
          </a:p>
          <a:p xmlns:a="http://schemas.openxmlformats.org/drawingml/2006/main">
            <a:pPr algn="l">
              <a:defRPr sz="121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1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4234          ret = ret2;</a:t>
            </a:r>
          </a:p>
          <a:p xmlns:a="http://schemas.openxmlformats.org/drawingml/2006/main">
            <a:pPr algn="l">
              <a:defRPr sz="121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1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4235  out_unset:</a:t>
            </a:r>
          </a:p>
          <a:p xmlns:a="http://schemas.openxmlformats.org/drawingml/2006/main">
            <a:pPr algn="l">
              <a:defRPr sz="121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1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4236      unset_reloc_control(rc);</a:t>
            </a:r>
          </a:p>
          <a:p xmlns:a="http://schemas.openxmlformats.org/drawingml/2006/main">
            <a:pPr algn="l">
              <a:defRPr sz="121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1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4237  out_end:</a:t>
            </a:r>
          </a:p>
          <a:p xmlns:a="http://schemas.openxmlformats.org/drawingml/2006/main">
            <a:pPr algn="l">
              <a:defRPr sz="121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1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4238      reloc_chunk_end(fs_info);</a:t>
            </a:r>
          </a:p>
          <a:p xmlns:a="http://schemas.openxmlformats.org/drawingml/2006/main">
            <a:pPr algn="l">
              <a:defRPr sz="121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1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4239      free_reloc_control(rc);</a:t>
            </a:r>
          </a:p>
          <a:p xmlns:a="http://schemas.openxmlformats.org/drawingml/2006/main">
            <a:pPr algn="l">
              <a:defRPr sz="121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1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4240  out:</a:t>
            </a:r>
          </a:p>
          <a:p xmlns:a="http://schemas.openxmlformats.org/drawingml/2006/main">
            <a:pPr algn="l">
              <a:defRPr sz="121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1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4241      free_reloc_roots(&amp;reloc_roots);</a:t>
            </a:r>
          </a:p>
          <a:p xmlns:a="http://schemas.openxmlformats.org/drawingml/2006/main">
            <a:pPr algn="l">
              <a:defRPr sz="121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1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4243      btrfs_free_path(path);</a:t>
            </a:r>
          </a:p>
          <a:p xmlns:a="http://schemas.openxmlformats.org/drawingml/2006/main">
            <a:pPr algn="l">
              <a:defRPr sz="121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1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4245      if (ret == 0) {</a:t>
            </a:r>
          </a:p>
          <a:p xmlns:a="http://schemas.openxmlformats.org/drawingml/2006/main">
            <a:pPr algn="l">
              <a:defRPr sz="121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1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4246          /* cleanup orphan inode ... */</a:t>
            </a:r>
          </a:p>
          <a:p xmlns:a="http://schemas.openxmlformats.org/drawingml/2006/main">
            <a:pPr algn="l">
              <a:defRPr sz="121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1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4247          fs_root = btrfs_grab_root(fs_info-&gt;data_reloc_root);</a:t>
            </a:r>
          </a:p>
          <a:p xmlns:a="http://schemas.openxmlformats.org/drawingml/2006/main">
            <a:pPr algn="l">
              <a:defRPr sz="121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1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4249          ret = btrfs_orphan_cleanup(fs_root);</a:t>
            </a:r>
          </a:p>
          <a:p xmlns:a="http://schemas.openxmlformats.org/drawingml/2006/main">
            <a:pPr algn="l">
              <a:defRPr sz="121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1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4250          btrfs_put_root(fs_root);</a:t>
            </a:r>
          </a:p>
          <a:p xmlns:a="http://schemas.openxmlformats.org/drawingml/2006/main">
            <a:pPr algn="l">
              <a:defRPr sz="121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1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4251      }</a:t>
            </a:r>
          </a:p>
          <a:p xmlns:a="http://schemas.openxmlformats.org/drawingml/2006/main">
            <a:pPr algn="l">
              <a:defRPr sz="121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1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4252      return ret;</a:t>
            </a:r>
          </a:p>
        </p:txBody>
      </p:sp>
      <p:sp>
        <p:nvSpPr>
          <p:cNvPr id="9" name="callout-E_f">
            <a:extLst xmlns:a="http://schemas.openxmlformats.org/drawingml/2006/main">
              <a:ext uri="{FF2B5EF4-FFF2-40B4-BE49-F238E27FC236}">
                <a16:creationId xmlns:a16="http://schemas.microsoft.com/office/drawing/2014/main" id="{51329DA9-60D2-452E-8453-BFBD6DD6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81125"/>
            <a:ext cx="5029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DA5C2DE-E72A-4C6B-AAA5-41176AE5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524000"/>
            <a:ext cx="4686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E_f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2D173F6-6426-49D4-B31F-BB95BB3C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57375"/>
            <a:ext cx="4686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3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ATTACH(fs_root-&gt;reloc_root, reloc_root)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site = relocation.c:4213</a:t>
            </a:r>
          </a:p>
        </p:txBody>
      </p:sp>
      <p:sp>
        <p:nvSpPr>
          <p:cNvPr id="12" name="callout-C_f">
            <a:extLst xmlns:a="http://schemas.openxmlformats.org/drawingml/2006/main">
              <a:ext uri="{FF2B5EF4-FFF2-40B4-BE49-F238E27FC236}">
                <a16:creationId xmlns:a16="http://schemas.microsoft.com/office/drawing/2014/main" id="{DDB20751-C505-45D9-A2D5-DB0C7391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5029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B8C2AB6-9A45-49C8-82E3-76ECABA2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76525"/>
            <a:ext cx="4686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C_f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8F55B1F-6233-42F3-B2DD-9F41F27C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09900"/>
            <a:ext cx="468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76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unset_reloc_control / free_reloc_control / free_reloc_roots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均未指向 fs_root-&gt;reloc_root</a:t>
            </a:r>
          </a:p>
        </p:txBody>
      </p:sp>
      <p:sp>
        <p:nvSpPr>
          <p:cNvPr id="15" name="callout-T_f">
            <a:extLst xmlns:a="http://schemas.openxmlformats.org/drawingml/2006/main">
              <a:ext uri="{FF2B5EF4-FFF2-40B4-BE49-F238E27FC236}">
                <a16:creationId xmlns:a16="http://schemas.microsoft.com/office/drawing/2014/main" id="{CC6CD613-A6DB-49CD-AB93-F9825675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67150"/>
            <a:ext cx="5029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290514C-A46C-4D60-A30E-B8716E16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10025"/>
            <a:ext cx="4686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T_f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1280C3F-99AE-4670-BBDB-F0A3282B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43400"/>
            <a:ext cx="4686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3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提交失败不等同于字段引用被事务接管；当前路径也没有 owner teardown 证明。</a:t>
            </a:r>
          </a:p>
        </p:txBody>
      </p:sp>
      <p:sp>
        <p:nvSpPr>
          <p:cNvPr id="18" name="callout-R_f">
            <a:extLst xmlns:a="http://schemas.openxmlformats.org/drawingml/2006/main">
              <a:ext uri="{FF2B5EF4-FFF2-40B4-BE49-F238E27FC236}">
                <a16:creationId xmlns:a16="http://schemas.microsoft.com/office/drawing/2014/main" id="{AD379CA3-37E9-4AD2-ACC9-2427DA4C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19675"/>
            <a:ext cx="5029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FC741E4-EF83-49B2-A733-1267EABA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62550"/>
            <a:ext cx="4686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R_f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5C97065-24A9-481D-809E-4D1449AC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495925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ATTACH(fs_root-&gt;reloc_root, reloc_root) 仍然存活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⇒ FUNCTION_BOUNDARY_RESIDUAL</a:t>
            </a:r>
          </a:p>
        </p:txBody>
      </p:sp>
    </p:spTree>
    <p:extLst>
      <p:ext uri="{BB962C8B-B14F-4D97-AF65-F5344CB8AC3E}">
        <p14:creationId xmlns:p14="http://schemas.microsoft.com/office/powerpoint/2010/main" val="135895312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F11E087F-C44B-486F-9DD8-D6D01926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CASE 01 · FAULT INJECTION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BF8690F-0D6E-43EC-88AA-3E446C60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Bug #7 的动态证据把静态残差推进为已确认缺陷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01EF75C-83CE-41B4-BD84-A31373F8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05E166E-41F0-4B6A-B15D-87DE48FC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metric-残留 roots">
            <a:extLst xmlns:a="http://schemas.openxmlformats.org/drawingml/2006/main">
              <a:ext uri="{FF2B5EF4-FFF2-40B4-BE49-F238E27FC236}">
                <a16:creationId xmlns:a16="http://schemas.microsoft.com/office/drawing/2014/main" id="{C59F44E1-9538-425A-A630-F23712C3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6A12C8F-E153-4A73-B2D7-AEF9F174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12CC8B4-466C-436A-BFBF-8373C66D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残留 roots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62CEA5E-403C-4661-9C96-4AC39C2B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recover_noabort 注入结果</a:t>
            </a:r>
          </a:p>
        </p:txBody>
      </p:sp>
      <p:sp>
        <p:nvSpPr>
          <p:cNvPr id="9" name="metric-引用仍在">
            <a:extLst xmlns:a="http://schemas.openxmlformats.org/drawingml/2006/main">
              <a:ext uri="{FF2B5EF4-FFF2-40B4-BE49-F238E27FC236}">
                <a16:creationId xmlns:a16="http://schemas.microsoft.com/office/drawing/2014/main" id="{5026F1AB-3598-4BCA-968D-F16B3B8F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049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EE90B0C-E01B-4B16-89D9-7201B6B0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954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reloc_refs = 1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BBAC1D7-9401-45ED-99D6-BAB63462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28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引用仍在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31BAA67-B2C6-4592-91BA-5B285123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失败返回后未归零</a:t>
            </a:r>
          </a:p>
        </p:txBody>
      </p:sp>
      <p:sp>
        <p:nvSpPr>
          <p:cNvPr id="13" name="metric-非全局错误清理">
            <a:extLst xmlns:a="http://schemas.openxmlformats.org/drawingml/2006/main">
              <a:ext uri="{FF2B5EF4-FFF2-40B4-BE49-F238E27FC236}">
                <a16:creationId xmlns:a16="http://schemas.microsoft.com/office/drawing/2014/main" id="{36FC04E5-F70D-4E89-8803-646298BC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04950"/>
            <a:ext cx="400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31F8514-57B6-481A-BD0D-8C7E5668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fs_error = 0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EB89F85-9B6B-42E6-A0AB-880F2E97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288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非全局错误清理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93A69C1-0536-45C9-B1D1-39DAA55A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71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排除依赖 FS_ERROR 的解释</a:t>
            </a:r>
          </a:p>
        </p:txBody>
      </p:sp>
      <p:sp>
        <p:nvSpPr>
          <p:cNvPr id="17" name="code-PATCH INTENT · 对称撤销（示意）">
            <a:extLst xmlns:a="http://schemas.openxmlformats.org/drawingml/2006/main">
              <a:ext uri="{FF2B5EF4-FFF2-40B4-BE49-F238E27FC236}">
                <a16:creationId xmlns:a16="http://schemas.microsoft.com/office/drawing/2014/main" id="{5541D302-394B-4DD5-9266-859F6805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6572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18" name="code-bar-PATCH INTENT · 对称撤销（示意）">
            <a:extLst xmlns:a="http://schemas.openxmlformats.org/drawingml/2006/main">
              <a:ext uri="{FF2B5EF4-FFF2-40B4-BE49-F238E27FC236}">
                <a16:creationId xmlns:a16="http://schemas.microsoft.com/office/drawing/2014/main" id="{40785596-226C-488B-8948-B821C7FB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C9D4351-7233-4D90-B8E4-CB5F3FA4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PATCH INTENT · 对称撤销（示意）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498BD6B-2C2F-4EFD-81EB-EAC918CD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6248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// 修复方向：在 recovery failure path 上对已挂接 root 做对称释放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for_each_attached_reloc_root(fs_root) {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reloc_root = fs_root-&gt;reloc_root;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fs_root-&gt;reloc_root = NULL;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btrfs_put_root(reloc_root);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// 要验证的后置条件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assert(fs_root-&gt;reloc_root == NULL);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assert(reloc_refs == 0);</a:t>
            </a:r>
          </a:p>
        </p:txBody>
      </p:sp>
      <p:sp>
        <p:nvSpPr>
          <p:cNvPr id="21" name="callout-证据结论">
            <a:extLst xmlns:a="http://schemas.openxmlformats.org/drawingml/2006/main">
              <a:ext uri="{FF2B5EF4-FFF2-40B4-BE49-F238E27FC236}">
                <a16:creationId xmlns:a16="http://schemas.microsoft.com/office/drawing/2014/main" id="{33659EE8-46BD-4C5F-9874-96704B43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52800"/>
            <a:ext cx="4324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6563E96-3123-4A92-9FF5-FD5130E1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95675"/>
            <a:ext cx="3981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证据结论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3611A88-08F6-492A-A59C-2A205B48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9814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故障注入未出现 dropping reloc_root 日志；补丁已进入 Btrfs for-next。材料不把它表述为已合入 Linus mainline。</a:t>
            </a:r>
          </a:p>
        </p:txBody>
      </p:sp>
    </p:spTree>
    <p:extLst>
      <p:ext uri="{BB962C8B-B14F-4D97-AF65-F5344CB8AC3E}">
        <p14:creationId xmlns:p14="http://schemas.microsoft.com/office/powerpoint/2010/main" val="211446995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A86DCA29-A1EE-41E6-9A8B-7AF4DA12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CASE 02 · EXT4 XATTR RETRY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D842F20-6B92-4537-B9CD-6F2E7022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Bug #4 源码：第一次 -ENOSPC 降低目标后，控制回到 retry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BDA8419-8C3B-454E-9CA9-1E7C95FE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8731391-36AD-4488-A4C9-ACA6CAB4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code-fs/ext4/xattr.c · 2776–2848">
            <a:extLst xmlns:a="http://schemas.openxmlformats.org/drawingml/2006/main">
              <a:ext uri="{FF2B5EF4-FFF2-40B4-BE49-F238E27FC236}">
                <a16:creationId xmlns:a16="http://schemas.microsoft.com/office/drawing/2014/main" id="{2A18C467-0141-41E3-91EE-8B091727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75438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6" name="code-bar-fs/ext4/xattr.c · 2776–2848">
            <a:extLst xmlns:a="http://schemas.openxmlformats.org/drawingml/2006/main">
              <a:ext uri="{FF2B5EF4-FFF2-40B4-BE49-F238E27FC236}">
                <a16:creationId xmlns:a16="http://schemas.microsoft.com/office/drawing/2014/main" id="{F5EFBC73-E9F0-41E7-A99D-1973AF75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66675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D25C5B5-A320-4F83-B124-4B4098F0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14475"/>
            <a:ext cx="716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fs/ext4/xattr.c · 2776–2848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75C25F8-BA63-4141-AC7B-C2D9996D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7219950" cy="432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90"/>
          </a:bodyPr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2776  retry: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2777      isize_diff = new_extra_isize -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2778          EXT4_I(inode)-&gt;i_extra_isize;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2779      if (EXT4_I(inode)-&gt;i_extra_isize &gt;= new_extra_isize)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2780          return 0;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...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2793      error = xattr_check_inode(inode, header, end);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2794      if (error)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2795          goto cleanup;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2797      ifree = ext4_xattr_free_space(...);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2798      if (ifree &gt;= isize_diff)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2799          goto shift;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...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2837      error = ext4_xattr_make_inode_space(handle, inode,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2838                    raw_inode, isize_diff, ifree, bfree,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2839                    &amp;total_ino);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2840      if (error) {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2841          if (error == -ENOSPC &amp;&amp;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2842              !tried_min_extra_isize &amp;&amp; s_min_extra_isize) {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2843              tried_min_extra_isize++;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2844              new_extra_isize = s_min_extra_isize;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2845              goto retry;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2846          }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2847          goto cleanup;</a:t>
            </a:r>
          </a:p>
          <a:p xmlns:a="http://schemas.openxmlformats.org/drawingml/2006/main">
            <a:pPr algn="l">
              <a:defRPr sz="115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5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2848      }</a:t>
            </a:r>
          </a:p>
        </p:txBody>
      </p:sp>
      <p:sp>
        <p:nvSpPr>
          <p:cNvPr id="9" name="callout-首次尝试">
            <a:extLst xmlns:a="http://schemas.openxmlformats.org/drawingml/2006/main">
              <a:ext uri="{FF2B5EF4-FFF2-40B4-BE49-F238E27FC236}">
                <a16:creationId xmlns:a16="http://schemas.microsoft.com/office/drawing/2014/main" id="{C8A74BFF-D83A-47AC-8944-AD7AD81C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381125"/>
            <a:ext cx="342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E50409B-84C5-4A3F-A178-6D046D10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08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首次尝试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1B2E46B-477A-4A5B-B949-47A40DA5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57375"/>
            <a:ext cx="308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2837–2840：make_inode_space() 返回 -ENOSPC，error 保存这次失败。</a:t>
            </a:r>
          </a:p>
        </p:txBody>
      </p:sp>
      <p:sp>
        <p:nvSpPr>
          <p:cNvPr id="12" name="callout-降级策略">
            <a:extLst xmlns:a="http://schemas.openxmlformats.org/drawingml/2006/main">
              <a:ext uri="{FF2B5EF4-FFF2-40B4-BE49-F238E27FC236}">
                <a16:creationId xmlns:a16="http://schemas.microsoft.com/office/drawing/2014/main" id="{D8677BA4-6C55-4B5D-90F0-CC3EEF82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33700"/>
            <a:ext cx="342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55CB6B8-C89E-47C1-81FC-EE1DE2DF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308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降级策略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B8BF715-07E5-431F-A519-701C80A5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9950"/>
            <a:ext cx="308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2841–2845：把 new_extra_isize 降为 s_min_extra_isize，然后 goto retry。</a:t>
            </a:r>
          </a:p>
        </p:txBody>
      </p:sp>
      <p:sp>
        <p:nvSpPr>
          <p:cNvPr id="15" name="callout-第二次成功入口">
            <a:extLst xmlns:a="http://schemas.openxmlformats.org/drawingml/2006/main">
              <a:ext uri="{FF2B5EF4-FFF2-40B4-BE49-F238E27FC236}">
                <a16:creationId xmlns:a16="http://schemas.microsoft.com/office/drawing/2014/main" id="{75C4B565-15DD-4C91-99D3-214B2502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86275"/>
            <a:ext cx="34290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9BDA1B6-BECD-474B-B17C-35DC709A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29150"/>
            <a:ext cx="308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第二次成功入口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A8ABC38-079F-489B-9D48-7C3B4EBE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62525"/>
            <a:ext cx="3086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2797–2799：较小目标可能直接满足 ifree &gt;= isize_diff，从而 goto shift。</a:t>
            </a:r>
          </a:p>
        </p:txBody>
      </p:sp>
    </p:spTree>
    <p:extLst>
      <p:ext uri="{BB962C8B-B14F-4D97-AF65-F5344CB8AC3E}">
        <p14:creationId xmlns:p14="http://schemas.microsoft.com/office/powerpoint/2010/main" val="207903658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48710FF9-ED9B-4D8E-9349-7B380F51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CASE 02 · STATE / OUTCOME DIVERGENCE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D39F423-D14C-4AA5-883D-0917E060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93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Bug #4 源码：i_extra_isize 已更新，但函数仍可能沿 cleanup 返回旧错误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537CFCE-8C01-4B47-ACBE-4D5EDE37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46366B3-2012-4015-8899-58656834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code-fs/ext4/xattr.c · 2849–2866">
            <a:extLst xmlns:a="http://schemas.openxmlformats.org/drawingml/2006/main">
              <a:ext uri="{FF2B5EF4-FFF2-40B4-BE49-F238E27FC236}">
                <a16:creationId xmlns:a16="http://schemas.microsoft.com/office/drawing/2014/main" id="{E5F5913E-7268-494A-9868-F3B27958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68580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6" name="code-bar-fs/ext4/xattr.c · 2849–2866">
            <a:extLst xmlns:a="http://schemas.openxmlformats.org/drawingml/2006/main">
              <a:ext uri="{FF2B5EF4-FFF2-40B4-BE49-F238E27FC236}">
                <a16:creationId xmlns:a16="http://schemas.microsoft.com/office/drawing/2014/main" id="{02F71FE6-C15E-4C56-98B8-D0FB3F05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66675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C4779A0-6D5A-42E1-A9CB-1841D7DF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1447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fs/ext4/xattr.c · 2849–2866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493FE8D-8836-40BF-A151-99AF7E9D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653415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2849  shift: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2850      /* Adjust offsets and shift remaining entries */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2851      ext4_xattr_shift_entries(IFIRST(header),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2852          EXT4_I(inode)-&gt;i_extra_isize - new_extra_isize,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2853          (void *)raw_inode + EXT4_GOOD_OLD_INODE_SIZE +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2854          new_extra_isize, (void *)header, total_ino);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2855      EXT4_I(inode)-&gt;i_extra_isize = new_extra_isize;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2857      if (ext4_has_inline_data(inode))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2858          error = ext4_find_inline_data_nolock(inode);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2860  cleanup: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2861      if (error &amp;&amp; (mnt_count !=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2862          le16_to_cpu(sbi-&gt;s_es-&gt;s_mnt_count))) {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2863          ext4_warning(...);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2865      }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2866      return error;</a:t>
            </a:r>
          </a:p>
        </p:txBody>
      </p:sp>
      <p:sp>
        <p:nvSpPr>
          <p:cNvPr id="9" name="callout-状态语义">
            <a:extLst xmlns:a="http://schemas.openxmlformats.org/drawingml/2006/main">
              <a:ext uri="{FF2B5EF4-FFF2-40B4-BE49-F238E27FC236}">
                <a16:creationId xmlns:a16="http://schemas.microsoft.com/office/drawing/2014/main" id="{CAF2DA99-4A57-4012-8DC6-295B0D25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81125"/>
            <a:ext cx="4076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7C8A5A3-1F49-456E-B0E7-67261425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24000"/>
            <a:ext cx="3733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状态语义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D520BD8-2F73-4076-9680-226567D0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57375"/>
            <a:ext cx="3733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2851–2855 执行条目移动并写入：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EXT4_I(inode)-&gt;i_extra_isize = new_extra_isize</a:t>
            </a:r>
          </a:p>
        </p:txBody>
      </p:sp>
      <p:sp>
        <p:nvSpPr>
          <p:cNvPr id="12" name="callout-返回语义">
            <a:extLst xmlns:a="http://schemas.openxmlformats.org/drawingml/2006/main">
              <a:ext uri="{FF2B5EF4-FFF2-40B4-BE49-F238E27FC236}">
                <a16:creationId xmlns:a16="http://schemas.microsoft.com/office/drawing/2014/main" id="{A353BD3C-B678-4095-98CC-B2E11790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33725"/>
            <a:ext cx="4076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B4F9D45-2DC7-445B-B83E-E9BD18DA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3733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返回语义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5757857-FABD-468B-A646-6C366E5F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09975"/>
            <a:ext cx="3733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2866 直接 return error。若 fallback 成功前没有清掉第一次 -ENOSPC，调用者收到失败。</a:t>
            </a:r>
          </a:p>
        </p:txBody>
      </p:sp>
      <p:sp>
        <p:nvSpPr>
          <p:cNvPr id="15" name="callout-残差类型">
            <a:extLst xmlns:a="http://schemas.openxmlformats.org/drawingml/2006/main">
              <a:ext uri="{FF2B5EF4-FFF2-40B4-BE49-F238E27FC236}">
                <a16:creationId xmlns:a16="http://schemas.microsoft.com/office/drawing/2014/main" id="{53D632E8-A9C7-4DAE-9361-56D9DFD2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86325"/>
            <a:ext cx="40767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5C970A2-F530-4841-9CB0-C9B9BCB5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029200"/>
            <a:ext cx="3733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残差类型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D78DA4C-06C3-4488-B84C-B71E9266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362575"/>
            <a:ext cx="373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这不是传统资源泄漏，而是 metadata_state_divergence：实际状态 = 成功，API outcome = 失败。</a:t>
            </a:r>
          </a:p>
        </p:txBody>
      </p:sp>
    </p:spTree>
    <p:extLst>
      <p:ext uri="{BB962C8B-B14F-4D97-AF65-F5344CB8AC3E}">
        <p14:creationId xmlns:p14="http://schemas.microsoft.com/office/powerpoint/2010/main" val="34579638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7D7177E0-402B-429B-977C-BD247424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CASE 02 · FIX AND REPRODUCTION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D2F1AD7-2A1C-4903-89F7-831B6D2F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Bug #4 修复只需清理一次旧值，但验证必须覆盖状态与返回值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7ADBD43-782E-4A8F-9897-39C00399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2B41F3D-AE17-4A3B-B308-99688A78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code-PATCH CORE · clear stale error before retry">
            <a:extLst xmlns:a="http://schemas.openxmlformats.org/drawingml/2006/main">
              <a:ext uri="{FF2B5EF4-FFF2-40B4-BE49-F238E27FC236}">
                <a16:creationId xmlns:a16="http://schemas.microsoft.com/office/drawing/2014/main" id="{E6CDA89C-A51B-4A6A-898E-8CD69B66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6115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6" name="code-bar-PATCH CORE · clear stale error before retry">
            <a:extLst xmlns:a="http://schemas.openxmlformats.org/drawingml/2006/main">
              <a:ext uri="{FF2B5EF4-FFF2-40B4-BE49-F238E27FC236}">
                <a16:creationId xmlns:a16="http://schemas.microsoft.com/office/drawing/2014/main" id="{2A887DD3-FB12-4A5A-ABEC-D7E44DDA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666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A7C8ED0-7626-4692-856D-896EFCF7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573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PATCH CORE · clear stale error before retry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4228625-4E10-4AA7-A822-92615EAE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579120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if (error == -ENOSPC &amp;&amp; !tried_min_extra_isize &amp;&amp;</a:t>
            </a:r>
          </a:p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s_min_extra_isize) {</a:t>
            </a:r>
          </a:p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tried_min_extra_isize++;</a:t>
            </a:r>
          </a:p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new_extra_isize = s_min_extra_isize;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error = 0;          // 清除上一轮失败结果</a:t>
            </a:r>
          </a:p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goto retry;</a:t>
            </a:r>
          </a:p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// 验证不变量</a:t>
            </a:r>
          </a:p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fallback_succeeded  =&gt; i_extra_isize == s_min_extra_isize</a:t>
            </a:r>
          </a:p>
          <a:p xmlns:a="http://schemas.openxmlformats.org/drawingml/2006/main">
            <a:pPr algn="l">
              <a:defRPr sz="1388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fallback_succeeded  =&gt; return_value == 0</a:t>
            </a:r>
          </a:p>
        </p:txBody>
      </p:sp>
      <p:sp>
        <p:nvSpPr>
          <p:cNvPr id="9" name="metric-修复前失败数">
            <a:extLst xmlns:a="http://schemas.openxmlformats.org/drawingml/2006/main">
              <a:ext uri="{FF2B5EF4-FFF2-40B4-BE49-F238E27FC236}">
                <a16:creationId xmlns:a16="http://schemas.microsoft.com/office/drawing/2014/main" id="{8D49E14C-66E2-43D1-9699-533D3ECE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6685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9B45EB8-181D-41C5-B2F6-9DF7E970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573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802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97535CE-1EE7-48F7-AF30-BE46C045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90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修复前失败数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AC79EEF-4B62-46E7-860A-40C3B66F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33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FS_IOC_FSSETXATTR</a:t>
            </a:r>
          </a:p>
        </p:txBody>
      </p:sp>
      <p:sp>
        <p:nvSpPr>
          <p:cNvPr id="13" name="metric-修复后失败数">
            <a:extLst xmlns:a="http://schemas.openxmlformats.org/drawingml/2006/main">
              <a:ext uri="{FF2B5EF4-FFF2-40B4-BE49-F238E27FC236}">
                <a16:creationId xmlns:a16="http://schemas.microsoft.com/office/drawing/2014/main" id="{D54F414A-9B17-4A69-8008-6020A906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66850"/>
            <a:ext cx="2305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6299010-225D-474C-B133-605B05F9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573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86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5746D93-216E-4428-87AA-87AD6390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修复后失败数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1B9AC4A-DB76-4F58-B4B1-0C5AA33A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336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同一复现配置</a:t>
            </a:r>
          </a:p>
        </p:txBody>
      </p:sp>
      <p:sp>
        <p:nvSpPr>
          <p:cNvPr id="17" name="callout-复现条件">
            <a:extLst xmlns:a="http://schemas.openxmlformats.org/drawingml/2006/main">
              <a:ext uri="{FF2B5EF4-FFF2-40B4-BE49-F238E27FC236}">
                <a16:creationId xmlns:a16="http://schemas.microsoft.com/office/drawing/2014/main" id="{9A50BB59-29D1-48C9-A308-FEF57A53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76600"/>
            <a:ext cx="47815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3DCC239-F99C-4267-9FDA-F35CB3CD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19475"/>
            <a:ext cx="443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复现条件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5D09FBB-CB20-471E-A158-1CB1255B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52850"/>
            <a:ext cx="4438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ext4 / 1 KiB block / 256-byte inode / project quota / min_extra_isize 与 want_extra_isize = 32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3F23A63-831D-4D85-A969-FA803396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下降 716 次失败不是“全部问题消失”，而是 stale error 这一条路径被显著消除。</a:t>
            </a:r>
          </a:p>
        </p:txBody>
      </p:sp>
    </p:spTree>
    <p:extLst>
      <p:ext uri="{BB962C8B-B14F-4D97-AF65-F5344CB8AC3E}">
        <p14:creationId xmlns:p14="http://schemas.microsoft.com/office/powerpoint/2010/main" val="109601084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333B7A9C-CA8F-4076-A1C8-34415216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CASE 03 · MULTI-DOMAIN ROLLBACK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C2819DA-5EC3-43D8-B535-F69F857B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Btrfs sprout 先发布拓扑、指针和计数，再执行可能失败的持久化步骤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1A3BBF5-FD07-4B72-AD60-0E7CCC41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5FF6720-61C3-458A-AD30-0E0FC86A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code-fs/btrfs/volumes.c · 2863–2903">
            <a:extLst xmlns:a="http://schemas.openxmlformats.org/drawingml/2006/main">
              <a:ext uri="{FF2B5EF4-FFF2-40B4-BE49-F238E27FC236}">
                <a16:creationId xmlns:a16="http://schemas.microsoft.com/office/drawing/2014/main" id="{E48DC1FF-25B0-4968-9A92-98373C6D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71628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6" name="code-bar-fs/btrfs/volumes.c · 2863–2903">
            <a:extLst xmlns:a="http://schemas.openxmlformats.org/drawingml/2006/main">
              <a:ext uri="{FF2B5EF4-FFF2-40B4-BE49-F238E27FC236}">
                <a16:creationId xmlns:a16="http://schemas.microsoft.com/office/drawing/2014/main" id="{09C17E91-5556-45B4-B2C8-E56ECFA5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66675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C3F0CF6-D32F-4B33-8F9B-56264B92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14475"/>
            <a:ext cx="678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fs/btrfs/volumes.c · 2863–2903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6A68A4C-9552-4D8A-91F4-3C9556BD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6838950" cy="432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8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2863  if (seeding_dev) {</a:t>
            </a:r>
          </a:p>
          <a:p xmlns:a="http://schemas.openxmlformats.org/drawingml/2006/main">
            <a:pPr algn="l">
              <a:defRPr sz="118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8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2865      seed_devices = btrfs_init_sprout(fs_info);</a:t>
            </a:r>
          </a:p>
          <a:p xmlns:a="http://schemas.openxmlformats.org/drawingml/2006/main">
            <a:pPr algn="l">
              <a:defRPr sz="118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8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2875      btrfs_setup_sprout(fs_info, seed_devices);</a:t>
            </a:r>
          </a:p>
          <a:p xmlns:a="http://schemas.openxmlformats.org/drawingml/2006/main">
            <a:pPr algn="l">
              <a:defRPr sz="118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8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2876      btrfs_assign_next_active_device(</a:t>
            </a:r>
          </a:p>
          <a:p xmlns:a="http://schemas.openxmlformats.org/drawingml/2006/main">
            <a:pPr algn="l">
              <a:defRPr sz="118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8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2877          fs_info-&gt;fs_devices-&gt;latest_dev, device);</a:t>
            </a:r>
          </a:p>
          <a:p xmlns:a="http://schemas.openxmlformats.org/drawingml/2006/main">
            <a:pPr algn="l">
              <a:defRPr sz="118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8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2878  }</a:t>
            </a:r>
          </a:p>
          <a:p xmlns:a="http://schemas.openxmlformats.org/drawingml/2006/main">
            <a:pPr algn="l">
              <a:defRPr sz="118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8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2880  device-&gt;fs_devices = fs_devices;</a:t>
            </a:r>
          </a:p>
          <a:p xmlns:a="http://schemas.openxmlformats.org/drawingml/2006/main">
            <a:pPr algn="l">
              <a:defRPr sz="118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8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2882  mutex_lock(&amp;fs_info-&gt;chunk_mutex);</a:t>
            </a:r>
          </a:p>
          <a:p xmlns:a="http://schemas.openxmlformats.org/drawingml/2006/main">
            <a:pPr algn="l">
              <a:defRPr sz="118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8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2883  list_add_rcu(&amp;device-&gt;dev_list, &amp;fs_devices-&gt;devices);</a:t>
            </a:r>
          </a:p>
          <a:p xmlns:a="http://schemas.openxmlformats.org/drawingml/2006/main">
            <a:pPr algn="l">
              <a:defRPr sz="118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8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2884  list_add(&amp;device-&gt;dev_alloc_list, &amp;fs_devices-&gt;alloc_list);</a:t>
            </a:r>
          </a:p>
          <a:p xmlns:a="http://schemas.openxmlformats.org/drawingml/2006/main">
            <a:pPr algn="l">
              <a:defRPr sz="118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8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2885  fs_devices-&gt;num_devices++;</a:t>
            </a:r>
          </a:p>
          <a:p xmlns:a="http://schemas.openxmlformats.org/drawingml/2006/main">
            <a:pPr algn="l">
              <a:defRPr sz="118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8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2886  fs_devices-&gt;open_devices++;</a:t>
            </a:r>
          </a:p>
          <a:p xmlns:a="http://schemas.openxmlformats.org/drawingml/2006/main">
            <a:pPr algn="l">
              <a:defRPr sz="118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8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2887  fs_devices-&gt;rw_devices++;</a:t>
            </a:r>
          </a:p>
          <a:p xmlns:a="http://schemas.openxmlformats.org/drawingml/2006/main">
            <a:pPr algn="l">
              <a:defRPr sz="118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8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2888  fs_devices-&gt;total_devices++;</a:t>
            </a:r>
          </a:p>
          <a:p xmlns:a="http://schemas.openxmlformats.org/drawingml/2006/main">
            <a:pPr algn="l">
              <a:defRPr sz="118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8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2889  fs_devices-&gt;total_rw_bytes += device-&gt;total_bytes;</a:t>
            </a:r>
          </a:p>
          <a:p xmlns:a="http://schemas.openxmlformats.org/drawingml/2006/main">
            <a:pPr algn="l">
              <a:defRPr sz="118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8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2891  atomic64_add(device-&gt;total_bytes,</a:t>
            </a:r>
          </a:p>
          <a:p xmlns:a="http://schemas.openxmlformats.org/drawingml/2006/main">
            <a:pPr algn="l">
              <a:defRPr sz="118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8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2892               &amp;fs_info-&gt;free_chunk_space);</a:t>
            </a:r>
          </a:p>
          <a:p xmlns:a="http://schemas.openxmlformats.org/drawingml/2006/main">
            <a:pPr algn="l">
              <a:defRPr sz="118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8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2897  btrfs_set_super_total_bytes(...);</a:t>
            </a:r>
          </a:p>
          <a:p xmlns:a="http://schemas.openxmlformats.org/drawingml/2006/main">
            <a:pPr algn="l">
              <a:defRPr sz="118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8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2901  orig_super_num_devices = ...;</a:t>
            </a:r>
          </a:p>
          <a:p xmlns:a="http://schemas.openxmlformats.org/drawingml/2006/main">
            <a:pPr algn="l">
              <a:defRPr sz="118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8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2902  btrfs_set_super_num_devices(... + 1);</a:t>
            </a:r>
          </a:p>
        </p:txBody>
      </p:sp>
      <p:sp>
        <p:nvSpPr>
          <p:cNvPr id="9" name="callout-拓扑">
            <a:extLst xmlns:a="http://schemas.openxmlformats.org/drawingml/2006/main">
              <a:ext uri="{FF2B5EF4-FFF2-40B4-BE49-F238E27FC236}">
                <a16:creationId xmlns:a16="http://schemas.microsoft.com/office/drawing/2014/main" id="{F2E24F35-7A2E-47F4-9077-DC33D700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81125"/>
            <a:ext cx="3771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2A1A32F-F028-4F81-8369-ACEC5651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拓扑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ED8BF2D-8DFD-4BA8-A85B-88B505E0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5737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btrfs_setup_sprout() 改变 fs_devices 组织与 fsid 语义。</a:t>
            </a:r>
          </a:p>
        </p:txBody>
      </p:sp>
      <p:sp>
        <p:nvSpPr>
          <p:cNvPr id="12" name="callout-活跃指针">
            <a:extLst xmlns:a="http://schemas.openxmlformats.org/drawingml/2006/main">
              <a:ext uri="{FF2B5EF4-FFF2-40B4-BE49-F238E27FC236}">
                <a16:creationId xmlns:a16="http://schemas.microsoft.com/office/drawing/2014/main" id="{BDC6C63C-06B0-4F1E-9055-3698BEDA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3771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E717F54-CEB4-48A5-800B-5EEEFE1C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67025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活跃指针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052FBC1-65DC-4924-BA52-51E02F35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004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latest_dev / s_bdev 等 active device 关系被切到新设备。</a:t>
            </a:r>
          </a:p>
        </p:txBody>
      </p:sp>
      <p:sp>
        <p:nvSpPr>
          <p:cNvPr id="15" name="callout-计数与 super">
            <a:extLst xmlns:a="http://schemas.openxmlformats.org/drawingml/2006/main">
              <a:ext uri="{FF2B5EF4-FFF2-40B4-BE49-F238E27FC236}">
                <a16:creationId xmlns:a16="http://schemas.microsoft.com/office/drawing/2014/main" id="{C4073FE2-163E-40D6-9C2C-6196A039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67175"/>
            <a:ext cx="3771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BCF80EB-A7F6-4702-99E3-0953BE42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10050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计数与 super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83C1810-105F-445E-8941-F78C860E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43425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device lists、num/open/rw/total、free_chunk_space 和 superblock 计数一起更新。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31D4BC5-E55F-456B-B6FE-F246328C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695950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发布面越多，错误出口需要恢复的不变量就越多；只按行号附近做局部删除必然不完整。</a:t>
            </a:r>
          </a:p>
        </p:txBody>
      </p:sp>
    </p:spTree>
    <p:extLst>
      <p:ext uri="{BB962C8B-B14F-4D97-AF65-F5344CB8AC3E}">
        <p14:creationId xmlns:p14="http://schemas.microsoft.com/office/powerpoint/2010/main" val="173525889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365E9EE7-ED82-4820-842C-11AD6E36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CASE 03 · FAILURE AND PARTIAL CLEANUP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B1DB70C-64EF-42CB-AB6E-79FF22C0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4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Sprout 后续三处都可能失败，而 error_sysfs 只回滚设备列表与部分计数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9F2F20A-8511-4AB1-B315-C4829CDF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CC1D7CF-2B8E-419C-A71D-15B42C17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code-fs/btrfs/volumes.c · 2918–3011">
            <a:extLst xmlns:a="http://schemas.openxmlformats.org/drawingml/2006/main">
              <a:ext uri="{FF2B5EF4-FFF2-40B4-BE49-F238E27FC236}">
                <a16:creationId xmlns:a16="http://schemas.microsoft.com/office/drawing/2014/main" id="{2CDF6A1E-595B-4544-A5DF-94FD950C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74295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6" name="code-bar-fs/btrfs/volumes.c · 2918–3011">
            <a:extLst xmlns:a="http://schemas.openxmlformats.org/drawingml/2006/main">
              <a:ext uri="{FF2B5EF4-FFF2-40B4-BE49-F238E27FC236}">
                <a16:creationId xmlns:a16="http://schemas.microsoft.com/office/drawing/2014/main" id="{320FAAF3-8486-4743-A1D3-A4D21788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66675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FAB5AEC-A581-420C-A52F-E9C68D15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14475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fs/btrfs/volumes.c · 2918–3011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1B80D81-C10D-426A-AA22-4B77E535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7105650" cy="432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2918  if (seeding_dev) {</a:t>
            </a:r>
          </a:p>
          <a:p xmlns:a="http://schemas.openxmlformats.org/drawingml/2006/main">
            <a:pPr algn="l">
              <a:defRPr sz="114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2920      ret = init_first_rw_device(trans);</a:t>
            </a:r>
          </a:p>
          <a:p xmlns:a="http://schemas.openxmlformats.org/drawingml/2006/main">
            <a:pPr algn="l">
              <a:defRPr sz="114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2922      if (ret) {</a:t>
            </a:r>
          </a:p>
          <a:p xmlns:a="http://schemas.openxmlformats.org/drawingml/2006/main">
            <a:pPr algn="l">
              <a:defRPr sz="114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2923          btrfs_abort_transaction(trans, ret);</a:t>
            </a:r>
          </a:p>
          <a:p xmlns:a="http://schemas.openxmlformats.org/drawingml/2006/main">
            <a:pPr algn="l">
              <a:defRPr sz="114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2924          goto error_sysfs;</a:t>
            </a:r>
          </a:p>
          <a:p xmlns:a="http://schemas.openxmlformats.org/drawingml/2006/main">
            <a:pPr algn="l">
              <a:defRPr sz="114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2925      }</a:t>
            </a:r>
          </a:p>
          <a:p xmlns:a="http://schemas.openxmlformats.org/drawingml/2006/main">
            <a:pPr algn="l">
              <a:defRPr sz="114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2928  ret = btrfs_add_dev_item(trans, device);</a:t>
            </a:r>
          </a:p>
          <a:p xmlns:a="http://schemas.openxmlformats.org/drawingml/2006/main">
            <a:pPr algn="l">
              <a:defRPr sz="114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2929  if (ret) { ... goto error_sysfs; }</a:t>
            </a:r>
          </a:p>
          <a:p xmlns:a="http://schemas.openxmlformats.org/drawingml/2006/main">
            <a:pPr algn="l">
              <a:defRPr sz="114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2935  ret = btrfs_finish_sprout(trans);</a:t>
            </a:r>
          </a:p>
          <a:p xmlns:a="http://schemas.openxmlformats.org/drawingml/2006/main">
            <a:pPr algn="l">
              <a:defRPr sz="114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2936  if (ret) { ... goto error_sysfs; }</a:t>
            </a:r>
          </a:p>
          <a:p xmlns:a="http://schemas.openxmlformats.org/drawingml/2006/main">
            <a:pPr algn="l">
              <a:defRPr sz="114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...</a:t>
            </a:r>
          </a:p>
          <a:p xmlns:a="http://schemas.openxmlformats.org/drawingml/2006/main">
            <a:pPr algn="l">
              <a:defRPr sz="114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2987  error_sysfs:</a:t>
            </a:r>
          </a:p>
          <a:p xmlns:a="http://schemas.openxmlformats.org/drawingml/2006/main">
            <a:pPr algn="l">
              <a:defRPr sz="114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2988      btrfs_sysfs_remove_device(device);</a:t>
            </a:r>
          </a:p>
          <a:p xmlns:a="http://schemas.openxmlformats.org/drawingml/2006/main">
            <a:pPr algn="l">
              <a:defRPr sz="114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2991      list_del_rcu(&amp;device-&gt;dev_list);</a:t>
            </a:r>
          </a:p>
          <a:p xmlns:a="http://schemas.openxmlformats.org/drawingml/2006/main">
            <a:pPr algn="l">
              <a:defRPr sz="114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2992      list_del(&amp;device-&gt;dev_alloc_list);</a:t>
            </a:r>
          </a:p>
          <a:p xmlns:a="http://schemas.openxmlformats.org/drawingml/2006/main">
            <a:pPr algn="l">
              <a:defRPr sz="114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2993      fs_info-&gt;fs_devices-&gt;num_devices--;</a:t>
            </a:r>
          </a:p>
          <a:p xmlns:a="http://schemas.openxmlformats.org/drawingml/2006/main">
            <a:pPr algn="l">
              <a:defRPr sz="114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2994      fs_info-&gt;fs_devices-&gt;open_devices--;</a:t>
            </a:r>
          </a:p>
          <a:p xmlns:a="http://schemas.openxmlformats.org/drawingml/2006/main">
            <a:pPr algn="l">
              <a:defRPr sz="114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2995      fs_info-&gt;fs_devices-&gt;rw_devices--;</a:t>
            </a:r>
          </a:p>
          <a:p xmlns:a="http://schemas.openxmlformats.org/drawingml/2006/main">
            <a:pPr algn="l">
              <a:defRPr sz="114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2996      fs_info-&gt;fs_devices-&gt;total_devices--;</a:t>
            </a:r>
          </a:p>
          <a:p xmlns:a="http://schemas.openxmlformats.org/drawingml/2006/main">
            <a:pPr algn="l">
              <a:defRPr sz="114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2997      fs_info-&gt;fs_devices-&gt;total_rw_bytes -= device-&gt;total_bytes;</a:t>
            </a:r>
          </a:p>
          <a:p xmlns:a="http://schemas.openxmlformats.org/drawingml/2006/main">
            <a:pPr algn="l">
              <a:defRPr sz="114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2998      atomic64_sub(device-&gt;total_bytes, ...);</a:t>
            </a:r>
          </a:p>
          <a:p xmlns:a="http://schemas.openxmlformats.org/drawingml/2006/main">
            <a:pPr algn="l">
              <a:defRPr sz="114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2999      btrfs_set_super_total_bytes(...orig...);</a:t>
            </a:r>
          </a:p>
          <a:p xmlns:a="http://schemas.openxmlformats.org/drawingml/2006/main">
            <a:pPr algn="l">
              <a:defRPr sz="114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3001      btrfs_set_super_num_devices(...orig...);</a:t>
            </a:r>
          </a:p>
          <a:p xmlns:a="http://schemas.openxmlformats.org/drawingml/2006/main">
            <a:pPr algn="l">
              <a:defRPr sz="114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3011      btrfs_free_device(device);</a:t>
            </a:r>
          </a:p>
        </p:txBody>
      </p:sp>
      <p:sp>
        <p:nvSpPr>
          <p:cNvPr id="9" name="callout-失败点">
            <a:extLst xmlns:a="http://schemas.openxmlformats.org/drawingml/2006/main">
              <a:ext uri="{FF2B5EF4-FFF2-40B4-BE49-F238E27FC236}">
                <a16:creationId xmlns:a16="http://schemas.microsoft.com/office/drawing/2014/main" id="{CACBD53D-3883-4B29-B6FF-17E90902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381125"/>
            <a:ext cx="352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E636860-A14F-4C58-BDA2-4EC979AC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24000"/>
            <a:ext cx="3181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失败点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DB222F3-D1ED-474D-891E-20DC3FBD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57375"/>
            <a:ext cx="3181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init_first_rw_device()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btrfs_add_dev_item()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btrfs_finish_sprout()</a:t>
            </a:r>
          </a:p>
        </p:txBody>
      </p:sp>
      <p:sp>
        <p:nvSpPr>
          <p:cNvPr id="12" name="callout-明确回滚">
            <a:extLst xmlns:a="http://schemas.openxmlformats.org/drawingml/2006/main">
              <a:ext uri="{FF2B5EF4-FFF2-40B4-BE49-F238E27FC236}">
                <a16:creationId xmlns:a16="http://schemas.microsoft.com/office/drawing/2014/main" id="{4C69BCAB-6312-4EC5-9268-FA6CA95A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19450"/>
            <a:ext cx="3524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947491B-6D75-465F-892E-23255AE2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62325"/>
            <a:ext cx="3181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明确回滚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C100040-40F6-4EF2-B8D1-5FDBB97C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95700"/>
            <a:ext cx="3181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dev_list / alloc_list、设备计数、free_chunk_space、super total/num devices。</a:t>
            </a:r>
          </a:p>
        </p:txBody>
      </p:sp>
      <p:sp>
        <p:nvSpPr>
          <p:cNvPr id="15" name="callout-未覆盖域">
            <a:extLst xmlns:a="http://schemas.openxmlformats.org/drawingml/2006/main">
              <a:ext uri="{FF2B5EF4-FFF2-40B4-BE49-F238E27FC236}">
                <a16:creationId xmlns:a16="http://schemas.microsoft.com/office/drawing/2014/main" id="{7479E53E-5E51-456C-9FF6-6C66C54E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67275"/>
            <a:ext cx="3524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0691116-8D9A-4828-B2F5-9322D248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10150"/>
            <a:ext cx="3181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未覆盖域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5A83246-A48F-4AE0-B0CB-60C46302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43525"/>
            <a:ext cx="3181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transaction update list、active device pointers、sprout fs_devices topology。</a:t>
            </a:r>
          </a:p>
        </p:txBody>
      </p:sp>
    </p:spTree>
    <p:extLst>
      <p:ext uri="{BB962C8B-B14F-4D97-AF65-F5344CB8AC3E}">
        <p14:creationId xmlns:p14="http://schemas.microsoft.com/office/powerpoint/2010/main" val="60315631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1D735C3A-F6E9-49CD-850C-0B762F59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CASE 03 · THREE RESIDUAL DOMAINS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F65602C-8F88-40B3-B048-CA687FC0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同一条失败链形成三个独立残差域，对应 #16–#18 三个 Bug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3B2DA1A-6905-47DB-90D9-83208E34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356A04F-4DF8-4FEA-9454-4B1298D5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callout-#16 · 事务更新链">
            <a:extLst xmlns:a="http://schemas.openxmlformats.org/drawingml/2006/main">
              <a:ext uri="{FF2B5EF4-FFF2-40B4-BE49-F238E27FC236}">
                <a16:creationId xmlns:a16="http://schemas.microsoft.com/office/drawing/2014/main" id="{750237FB-E1A8-4FAD-BE7C-008C66A1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326B1EE-5CD7-44A9-B92D-B27B8E66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04975"/>
            <a:ext cx="308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#16 · 事务更新链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F9A9E6D-13C4-4EDE-8DCC-C5BAAA63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30861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残差：device-&gt;post_commit_list 仍挂在 transaction update list。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后果：设备释放后链表仍引用它，触发 WARN / UAF 风险。</a:t>
            </a:r>
          </a:p>
        </p:txBody>
      </p:sp>
      <p:sp>
        <p:nvSpPr>
          <p:cNvPr id="8" name="callout-#17 · 活跃设备指针">
            <a:extLst xmlns:a="http://schemas.openxmlformats.org/drawingml/2006/main">
              <a:ext uri="{FF2B5EF4-FFF2-40B4-BE49-F238E27FC236}">
                <a16:creationId xmlns:a16="http://schemas.microsoft.com/office/drawing/2014/main" id="{11321AD2-77AB-40D9-A083-3A8390EA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6210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AB7A29F-7375-49C2-8694-05A70C57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04975"/>
            <a:ext cx="308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#17 · 活跃设备指针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2B2A9A7-9C86-460E-B36F-3A81187C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38350"/>
            <a:ext cx="30861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残差：latest_dev / s_bdev 指向失败并将被释放的 device。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后果：后续访问可能出现 NULL 解引用或已释放对象访问。</a:t>
            </a:r>
          </a:p>
        </p:txBody>
      </p:sp>
      <p:sp>
        <p:nvSpPr>
          <p:cNvPr id="11" name="callout-#18 · Sprout 容器状态">
            <a:extLst xmlns:a="http://schemas.openxmlformats.org/drawingml/2006/main">
              <a:ext uri="{FF2B5EF4-FFF2-40B4-BE49-F238E27FC236}">
                <a16:creationId xmlns:a16="http://schemas.microsoft.com/office/drawing/2014/main" id="{D373D114-FA33-4A23-B128-4F1D1836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6210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34EDD56-BB5C-4662-9209-7C2FD4C3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04975"/>
            <a:ext cx="308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#18 · Sprout 容器状态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B4069EF-7619-4904-9EC3-39C7D057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30861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残差：fs_devices 已完成 sprout 切换，但错误出口没有恢复 seed/sprout 关系。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后果：拓扑与持久化状态不一致，可能触发 kernel BUG。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A444A0F-63B0-434A-A094-2360EACC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完整回滚条件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5972CBA-F40F-4805-B136-B90D9CFA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095875"/>
            <a:ext cx="929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64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detach transaction list  ∧  restore active pointers  ∧  rollback sprout topology  ∧  restore counters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2D4BB0C-63D9-48B8-B52D-4E612916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三个补丁不是重复修复，而是在不同 owner / container identity 上补齐互不替代的不变量。</a:t>
            </a:r>
          </a:p>
        </p:txBody>
      </p:sp>
    </p:spTree>
    <p:extLst>
      <p:ext uri="{BB962C8B-B14F-4D97-AF65-F5344CB8AC3E}">
        <p14:creationId xmlns:p14="http://schemas.microsoft.com/office/powerpoint/2010/main" val="146758711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FC3E469C-F496-4F0C-9E63-6088084D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SE_EOD · FAILURE-PATH METADATA RESIDUAL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1E05C7D-52A3-45F5-B11D-DEC67756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三组案例对应三种残差模式，检验架构的不同能力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6A3FB85-080B-4205-AD31-0D22A441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8CE4018-243D-4D9C-AE52-EB042DEC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2251D46-A05E-4B34-99A8-15FD54CC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3145D30-7064-41AC-9AA4-7F94A9CB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81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残差类型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FCDD3BB-FF70-415E-B198-1309B03E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81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关键身份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2D3492E-DF60-4E5D-9AC3-7A63A025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81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失败边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4B945FD-74E4-47B6-ABED-A958B644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81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清理缺口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BE69FFB3-4041-4641-93D0-8333ECC4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4F16EA6-E1CC-447F-A110-6908A8E9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Bug #7 · Btrfs relocation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8BD1E62-3D0B-4779-BE2E-65BBEB58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5265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悬挂引用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9104E47-2DA2-4F5F-BF9D-9FC5BA0D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fs_root-&gt;reloc_root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A0A1A70-47D4-4B51-BE8A-0FF99C72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5265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commit failure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EE23B85-94CD-48B8-B4AA-C5FA29BA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5265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字段引用未对称释放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76055DDC-C9F5-4011-A6B9-45A35DBD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1277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F1DBEA9-8DA2-4399-BFC6-976D54EC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Bug #4 · Ext4 xattr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02387B7-444E-4CA0-A4BD-3536378B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6230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 / 返回分歧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D000361-307F-4DBC-B596-DE497F19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6230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i_extra_isize + error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BE71D37-B166-4483-A0AB-7BE126FC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6230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fallback retry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9BB2A37-EBE4-478F-93E1-A6E9D187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6230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状态成功但返回旧错误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6F129FB-3B25-497B-997A-C259F8FB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Bug #16–#18 · Btrfs sprout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CBD530F-D739-4050-89E8-19ED50DD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7195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跨域部分回滚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977741A-588F-4845-849C-DA863D0C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7195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list / pointer / topology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BF0DE00-80BC-4E8A-8EBF-B2A9F808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7195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late device-add failure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100AA19-D564-482B-93DF-D338D1E7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7195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多个 owner 不变量未恢复</a:t>
            </a:r>
          </a:p>
        </p:txBody>
      </p:sp>
      <p:sp>
        <p:nvSpPr>
          <p:cNvPr id="27" name="callout-架构要求">
            <a:extLst xmlns:a="http://schemas.openxmlformats.org/drawingml/2006/main">
              <a:ext uri="{FF2B5EF4-FFF2-40B4-BE49-F238E27FC236}">
                <a16:creationId xmlns:a16="http://schemas.microsoft.com/office/drawing/2014/main" id="{C2A707D8-F1A4-4870-A650-4D2EF2AC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1277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118626DD-49CB-45D0-88FA-87AF46E5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57825"/>
            <a:ext cx="10934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架构要求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8180FFC-D751-42F5-BAF9-4FAC0D16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引用残差需要 owner identity；重试残差需要跨迭代 outcome 语义；多域回滚需要同时建模容器、活跃指针和拓扑 owner。</a:t>
            </a:r>
          </a:p>
        </p:txBody>
      </p:sp>
    </p:spTree>
    <p:extLst>
      <p:ext uri="{BB962C8B-B14F-4D97-AF65-F5344CB8AC3E}">
        <p14:creationId xmlns:p14="http://schemas.microsoft.com/office/powerpoint/2010/main" val="96981033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A1DFD051-9FEC-47FC-9D1C-87D1358E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SE_EOD · FAILURE-PATH METADATA RESIDUAL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300B4B6-A899-4A26-93AE-4E182DD7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架构的关键不是命中更多规则，而是保存完整因果关系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65F296A-379B-451A-8BDD-45B91F83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8F15A0A-9300-490F-A207-5F7CE03F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C5005E0-BA73-49BC-BDB5-60CE9F32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stage-rule-1">
            <a:extLst xmlns:a="http://schemas.openxmlformats.org/drawingml/2006/main">
              <a:ext uri="{FF2B5EF4-FFF2-40B4-BE49-F238E27FC236}">
                <a16:creationId xmlns:a16="http://schemas.microsoft.com/office/drawing/2014/main" id="{CD78FCE7-E3E8-42AA-8CEB-0C42E6F7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CEA7C4C-21DB-4917-92F9-CC687874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以失败点为锚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4F7D511-A7C1-43B0-9D78-2F3D9DCB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先确定具体失败调用和错误出口，再讨论哪些状态写入能够到达这里。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57395B7-DB1D-4F00-81AF-A78ADE97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5621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stage-rule-2">
            <a:extLst xmlns:a="http://schemas.openxmlformats.org/drawingml/2006/main">
              <a:ext uri="{FF2B5EF4-FFF2-40B4-BE49-F238E27FC236}">
                <a16:creationId xmlns:a16="http://schemas.microsoft.com/office/drawing/2014/main" id="{01692C99-D01B-4ECA-8E70-7EAC9026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5737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3AFECFC-B6B7-4B91-AB33-723EEE7A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19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以对象身份匹配回滚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19BD7AE-8AA9-442D-8EDD-248DA288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003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取消必须与原效果共享 Root、Key、Plane 和 Value；名称相似不足以证明回滚。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0703739-E5E7-4570-9676-82CB6140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stage-rule-3">
            <a:extLst xmlns:a="http://schemas.openxmlformats.org/drawingml/2006/main">
              <a:ext uri="{FF2B5EF4-FFF2-40B4-BE49-F238E27FC236}">
                <a16:creationId xmlns:a16="http://schemas.microsoft.com/office/drawing/2014/main" id="{0C784463-6E2E-4DBA-8886-A6E20754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382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EE4AE03-6128-4C96-9736-C3C22E39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以出口分区约束摘要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8437E83-89D8-427C-9783-B35101A0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分支特有的 cleanup、abort 或 shutdown 不得被提升为所有错误出口的共同保证。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90F964A-0C38-4344-A060-569F0459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385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stage-rule-4">
            <a:extLst xmlns:a="http://schemas.openxmlformats.org/drawingml/2006/main">
              <a:ext uri="{FF2B5EF4-FFF2-40B4-BE49-F238E27FC236}">
                <a16:creationId xmlns:a16="http://schemas.microsoft.com/office/drawing/2014/main" id="{49D834B0-C153-4C3C-A310-DDB26460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3382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420DFA1-9174-46A6-8A70-E610FABC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95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以证据边界约束结论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A53F942-8407-42C4-8CC7-51E9BBB1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767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函数边界残差、owner 活性、动态影响和 confirmed bug 是逐层增强的不同结论。</a:t>
            </a:r>
          </a:p>
        </p:txBody>
      </p:sp>
      <p:sp>
        <p:nvSpPr>
          <p:cNvPr id="21" name="callout-最终结论">
            <a:extLst xmlns:a="http://schemas.openxmlformats.org/drawingml/2006/main">
              <a:ext uri="{FF2B5EF4-FFF2-40B4-BE49-F238E27FC236}">
                <a16:creationId xmlns:a16="http://schemas.microsoft.com/office/drawing/2014/main" id="{34B7CE41-0BF9-4B36-937C-9061284E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419B93D-7882-4987-9C46-4804597F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62575"/>
            <a:ext cx="10934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最终结论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6298B15-3FC7-40F0-91F0-B4271D34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9595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SE_EOD 将“看起来没清理”转化为可复核结论：对象发生了什么效果、经过哪条失败路径、哪些逆操作没有覆盖、错误退出时还剩什么。</a:t>
            </a:r>
          </a:p>
        </p:txBody>
      </p:sp>
    </p:spTree>
    <p:extLst>
      <p:ext uri="{BB962C8B-B14F-4D97-AF65-F5344CB8AC3E}">
        <p14:creationId xmlns:p14="http://schemas.microsoft.com/office/powerpoint/2010/main" val="15703634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2026-07-26T07:18:09.3020000Z</dcterms:created>
  <dcterms:modified xsi:type="dcterms:W3CDTF">2026-07-26T07:18:09.3020000Z</dcterms:modified>
</coreProperties>
</file>