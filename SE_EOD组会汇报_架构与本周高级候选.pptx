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4" r:id="rId9"/>
    <p:sldId id="267" r:id="rId10"/>
    <p:sldId id="268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四个原则分别回应前一页的断层：路径、身份、分区、证据。后续模块都是这些原则的工程实现。</a:t>
            </a:r>
          </a:p>
          <a:p/>
          <a:p>
            <a:r>
              <a:t>[Sources]</a:t>
            </a:r>
          </a:p>
          <a:p>
            <a:r>
              <a:t>- E:/yanjiusheng/阅读论文/file_system/SE_EOD/docs/METADATA_RESIDUAL_ARCHITECTURE.md</a:t>
            </a:r>
          </a:p>
          <a:p>
            <a:r>
              <a:t>- E:/yanjiusheng/阅读论文/file_system/SE_EOD/docs/PROJECT_ARCHITECTURE.md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按三层讲模块，而不是逐个文件报菜名：程序理解、残差计算、证据治理。</a:t>
            </a:r>
          </a:p>
          <a:p/>
          <a:p>
            <a:r>
              <a:t>[Sources]</a:t>
            </a:r>
          </a:p>
          <a:p>
            <a:r>
              <a:t>- E:/yanjiusheng/阅读论文/file_system/SE_EOD/docs/PROJECT_ARCHITECTURE.md</a:t>
            </a:r>
          </a:p>
          <a:p>
            <a:r>
              <a:t>- E:/yanjiusheng/阅读论文/file_system/SE_EOD/src/frontend/model.py</a:t>
            </a:r>
          </a:p>
          <a:p>
            <a:r>
              <a:t>- E:/yanjiusheng/阅读论文/file_system/SE_EOD/src/cfg.py</a:t>
            </a:r>
          </a:p>
          <a:p>
            <a:r>
              <a:t>- E:/yanjiusheng/阅读论文/file_system/SE_EOD/src/effect_extractor.py</a:t>
            </a:r>
          </a:p>
          <a:p>
            <a:r>
              <a:t>- E:/yanjiusheng/阅读论文/file_system/SE_EOD/src/residual_slicer.py</a:t>
            </a:r>
          </a:p>
          <a:p>
            <a:r>
              <a:t>- E:/yanjiusheng/阅读论文/file_system/SE_EOD/src/function_summary.py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Effect schema 使结构、计数、恢复三类元数据共享统一表示；取消必须在身份和数值上兼容。</a:t>
            </a:r>
          </a:p>
          <a:p/>
          <a:p>
            <a:r>
              <a:t>[Sources]</a:t>
            </a:r>
          </a:p>
          <a:p>
            <a:r>
              <a:t>- E:/yanjiusheng/阅读论文/file_system/SE_EOD/src/metadata_residual.py</a:t>
            </a:r>
          </a:p>
          <a:p>
            <a:r>
              <a:t>- E:/yanjiusheng/阅读论文/file_system/SE_EOD/docs/METADATA_RESIDUAL_ARCHITECTURE.md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一页讲完确认案例：4213 发布引用，4217 提交失败，out_unset 未对同一 owner 字段执行 DROP。动态注入进一步确认引用残留。</a:t>
            </a:r>
          </a:p>
          <a:p/>
          <a:p>
            <a:r>
              <a:t>[Sources]</a:t>
            </a:r>
          </a:p>
          <a:p>
            <a:r>
              <a:t>- E:/yanjiusheng/阅读论文/file_system/SE_EOD/linux-sources/linux-v6.14-fs/fs/btrfs/relocation.c</a:t>
            </a:r>
          </a:p>
          <a:p>
            <a:r>
              <a:t>- E:/yanjiusheng/阅读论文/file_system/SE_EOD/outputs/confirmed_bugs.md</a:t>
            </a:r>
          </a:p>
          <a:p>
            <a:r>
              <a:t>- E:/yanjiusheng/阅读论文/file_system/SE_EOD/outputs/linux-v6.8/btrfs/recover_relocation_qemu_report.md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 是最贴近核心方法的候选：SET bit 到达验证失败，错误出口没有 CLEAR，且 owner 是长生命周期 fs_info。</a:t>
            </a:r>
          </a:p>
          <a:p/>
          <a:p>
            <a:r>
              <a:t>[Sources]</a:t>
            </a:r>
          </a:p>
          <a:p>
            <a:r>
              <a:t>- E:/yanjiusheng/阅读论文/file_system/SE_EOD/outputs/btrfs_tool_findings_pending_review_2026-07-23.md</a:t>
            </a:r>
          </a:p>
          <a:p>
            <a:r>
              <a:t>- E:/yanjiusheng/阅读论文/file_system/SE_EOD/linux-sources/linux-v6.14-fs/fs/btrfs/super.c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"/>
          <p:cNvSpPr>
            <a:spLocks noGrp="1"/>
          </p:cNvSpPr>
          <p:nvPr/>
        </p:nvSpPr>
        <p:spPr>
          <a:xfrm>
            <a:off x="495300" y="1581150"/>
            <a:ext cx="8477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失败路径文件系统</a:t>
            </a:r>
            <a:endParaRPr sz="4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4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元数据残差分析</a:t>
            </a:r>
            <a:endParaRPr sz="4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504825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7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code-MOTIVATING FAILURE SHAPE"/>
          <p:cNvSpPr>
            <a:spLocks noGrp="1"/>
          </p:cNvSpPr>
          <p:nvPr/>
        </p:nvSpPr>
        <p:spPr>
          <a:xfrm>
            <a:off x="457200" y="1466850"/>
            <a:ext cx="6286500" cy="4095750"/>
          </a:xfrm>
          <a:prstGeom prst="rect">
            <a:avLst/>
          </a:prstGeom>
          <a:solidFill>
            <a:srgbClr val="F7F7F7"/>
          </a:solidFill>
          <a:ln w="9525">
            <a:solidFill>
              <a:srgbClr val="BDBDBD"/>
            </a:solidFill>
            <a:prstDash val="solid"/>
          </a:ln>
        </p:spPr>
      </p:sp>
      <p:sp>
        <p:nvSpPr>
          <p:cNvPr id="6" name="bar-MOTIVATING FAILURE SHAPE"/>
          <p:cNvSpPr>
            <a:spLocks noGrp="1"/>
          </p:cNvSpPr>
          <p:nvPr/>
        </p:nvSpPr>
        <p:spPr>
          <a:xfrm>
            <a:off x="457200" y="1466850"/>
            <a:ext cx="66675" cy="40957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647700" y="1600200"/>
            <a:ext cx="592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defRPr sz="1050" b="1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MOTIVATING FAILURE SHAPE</a:t>
            </a:r>
            <a:endParaRPr sz="1050" b="1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"/>
          <p:cNvSpPr>
            <a:spLocks noGrp="1"/>
          </p:cNvSpPr>
          <p:nvPr/>
        </p:nvSpPr>
        <p:spPr>
          <a:xfrm>
            <a:off x="647700" y="1914525"/>
            <a:ext cx="594360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publish(owner, metadata_state);     // 状态先对外可见</a:t>
            </a:r>
            <a:endParaRPr sz="142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update(counter_or_topology);</a:t>
            </a:r>
            <a:endParaRPr sz="142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425"/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ret = later_operation();            // 后续步骤可能失败</a:t>
            </a:r>
            <a:endParaRPr sz="142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(ret)</a:t>
            </a:r>
            <a:endParaRPr sz="142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goto error;</a:t>
            </a:r>
            <a:endParaRPr sz="142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425"/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error:</a:t>
            </a:r>
            <a:endParaRPr sz="142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local_cleanup();                // 只清了一部分对象</a:t>
            </a:r>
            <a:endParaRPr sz="142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ret;</a:t>
            </a:r>
            <a:endParaRPr sz="142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panel-分析问题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181850" y="1466850"/>
            <a:ext cx="4552950" cy="1200150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372350" y="1619250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分析问题</a:t>
            </a:r>
            <a:endParaRPr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372350" y="1990725"/>
            <a:ext cx="4171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错误路径上的 cleanup 是否真正覆盖了此前已经发布的元数据效果？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nel-不能只看资源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181850" y="2914650"/>
            <a:ext cx="4552950" cy="120015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3" name="text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372350" y="3067050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不能只看资源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372350" y="3438525"/>
            <a:ext cx="4171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6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残留可能是 bit、计数、链表成员、owner 指针、设备拓扑或返回值语义，而不只是 kmalloc/free。</a:t>
            </a:r>
            <a:endParaRPr sz="156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anel-不能只看局部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181850" y="4362450"/>
            <a:ext cx="4552950" cy="120015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372350" y="4514850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不能只看局部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372350" y="4886325"/>
            <a:ext cx="4171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取消可能藏在 callee、transaction abort、owner teardown 或另一个错误出口；同名变量也不等于同一对象。</a:t>
            </a:r>
            <a:endParaRPr sz="13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504825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由问题反推架构</a:t>
            </a:r>
            <a:endParaRPr sz="27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38785" y="163639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Failure-centered</a:t>
            </a:r>
            <a:endParaRPr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38785" y="2045970"/>
            <a:ext cx="495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以具体失败调用为锚，向前后两侧切片，而不是扫描孤立 API 名称。</a:t>
            </a:r>
            <a:endParaRPr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763385" y="163639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Identity-aware</a:t>
            </a:r>
            <a:endParaRPr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763385" y="2045970"/>
            <a:ext cx="495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效果和取消必须匹配 Root、Key、Plane、Value，避免名称相似造成误抵消。</a:t>
            </a:r>
            <a:endParaRPr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38785" y="306895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Exit-sensitive</a:t>
            </a:r>
            <a:endParaRPr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38785" y="3478530"/>
            <a:ext cx="495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 error return 保持独立分区，分支特有清理不能被提升为全函数保证。</a:t>
            </a:r>
            <a:endParaRPr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504825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架构主链路：从 C 源码到可审计 residual witness</a:t>
            </a:r>
            <a:endParaRPr sz="27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rect"/>
          <p:cNvSpPr>
            <a:spLocks noGrp="1"/>
          </p:cNvSpPr>
          <p:nvPr/>
        </p:nvSpPr>
        <p:spPr>
          <a:xfrm>
            <a:off x="447040" y="2047240"/>
            <a:ext cx="1201420" cy="140716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582930" y="2279015"/>
            <a:ext cx="9448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source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"/>
          <p:cNvSpPr>
            <a:spLocks noGrp="1"/>
          </p:cNvSpPr>
          <p:nvPr/>
        </p:nvSpPr>
        <p:spPr>
          <a:xfrm>
            <a:off x="582930" y="2853055"/>
            <a:ext cx="944880" cy="285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Linux 源码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1597660" y="2270760"/>
            <a:ext cx="3149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"/>
          <p:cNvSpPr>
            <a:spLocks noGrp="1"/>
          </p:cNvSpPr>
          <p:nvPr/>
        </p:nvSpPr>
        <p:spPr>
          <a:xfrm>
            <a:off x="1856740" y="2047240"/>
            <a:ext cx="1201420" cy="140716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1992630" y="2279015"/>
            <a:ext cx="9448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FunctionIR</a:t>
            </a:r>
            <a:endParaRPr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1992630" y="2853055"/>
            <a:ext cx="944880" cy="285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前端归一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3007360" y="2270760"/>
            <a:ext cx="3149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"/>
          <p:cNvSpPr>
            <a:spLocks noGrp="1"/>
          </p:cNvSpPr>
          <p:nvPr/>
        </p:nvSpPr>
        <p:spPr>
          <a:xfrm>
            <a:off x="3266440" y="2047240"/>
            <a:ext cx="1201420" cy="140716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3402330" y="2279015"/>
            <a:ext cx="9448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CFG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3402330" y="2853055"/>
            <a:ext cx="944880" cy="285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控制流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4417060" y="2270760"/>
            <a:ext cx="3149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"/>
          <p:cNvSpPr>
            <a:spLocks noGrp="1"/>
          </p:cNvSpPr>
          <p:nvPr/>
        </p:nvSpPr>
        <p:spPr>
          <a:xfrm>
            <a:off x="4676140" y="2047240"/>
            <a:ext cx="1201420" cy="140716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2" name="text"/>
          <p:cNvSpPr>
            <a:spLocks noGrp="1"/>
          </p:cNvSpPr>
          <p:nvPr/>
        </p:nvSpPr>
        <p:spPr>
          <a:xfrm>
            <a:off x="4812030" y="2279015"/>
            <a:ext cx="9448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Scope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"/>
          <p:cNvSpPr>
            <a:spLocks noGrp="1"/>
          </p:cNvSpPr>
          <p:nvPr/>
        </p:nvSpPr>
        <p:spPr>
          <a:xfrm>
            <a:off x="4812030" y="2853055"/>
            <a:ext cx="944880" cy="285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元数据边界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"/>
          <p:cNvSpPr>
            <a:spLocks noGrp="1"/>
          </p:cNvSpPr>
          <p:nvPr/>
        </p:nvSpPr>
        <p:spPr>
          <a:xfrm>
            <a:off x="5826760" y="2270760"/>
            <a:ext cx="3149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"/>
          <p:cNvSpPr>
            <a:spLocks noGrp="1"/>
          </p:cNvSpPr>
          <p:nvPr/>
        </p:nvSpPr>
        <p:spPr>
          <a:xfrm>
            <a:off x="6085840" y="2047240"/>
            <a:ext cx="1201420" cy="140716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7" name="text"/>
          <p:cNvSpPr>
            <a:spLocks noGrp="1"/>
          </p:cNvSpPr>
          <p:nvPr/>
        </p:nvSpPr>
        <p:spPr>
          <a:xfrm>
            <a:off x="6221730" y="2279015"/>
            <a:ext cx="9448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Failure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"/>
          <p:cNvSpPr>
            <a:spLocks noGrp="1"/>
          </p:cNvSpPr>
          <p:nvPr/>
        </p:nvSpPr>
        <p:spPr>
          <a:xfrm>
            <a:off x="6221730" y="2853055"/>
            <a:ext cx="944880" cy="285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失败点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"/>
          <p:cNvSpPr>
            <a:spLocks noGrp="1"/>
          </p:cNvSpPr>
          <p:nvPr/>
        </p:nvSpPr>
        <p:spPr>
          <a:xfrm>
            <a:off x="7236460" y="2270760"/>
            <a:ext cx="3149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"/>
          <p:cNvSpPr>
            <a:spLocks noGrp="1"/>
          </p:cNvSpPr>
          <p:nvPr/>
        </p:nvSpPr>
        <p:spPr>
          <a:xfrm>
            <a:off x="7495540" y="2047240"/>
            <a:ext cx="1201420" cy="140716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2" name="text"/>
          <p:cNvSpPr>
            <a:spLocks noGrp="1"/>
          </p:cNvSpPr>
          <p:nvPr/>
        </p:nvSpPr>
        <p:spPr>
          <a:xfrm>
            <a:off x="7631430" y="2279015"/>
            <a:ext cx="9448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Slice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"/>
          <p:cNvSpPr>
            <a:spLocks noGrp="1"/>
          </p:cNvSpPr>
          <p:nvPr/>
        </p:nvSpPr>
        <p:spPr>
          <a:xfrm>
            <a:off x="7631430" y="2853055"/>
            <a:ext cx="944880" cy="285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双向切片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"/>
          <p:cNvSpPr>
            <a:spLocks noGrp="1"/>
          </p:cNvSpPr>
          <p:nvPr/>
        </p:nvSpPr>
        <p:spPr>
          <a:xfrm>
            <a:off x="8646160" y="2270760"/>
            <a:ext cx="3149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"/>
          <p:cNvSpPr>
            <a:spLocks noGrp="1"/>
          </p:cNvSpPr>
          <p:nvPr/>
        </p:nvSpPr>
        <p:spPr>
          <a:xfrm>
            <a:off x="8905240" y="2047240"/>
            <a:ext cx="1201420" cy="140716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7" name="text"/>
          <p:cNvSpPr>
            <a:spLocks noGrp="1"/>
          </p:cNvSpPr>
          <p:nvPr/>
        </p:nvSpPr>
        <p:spPr>
          <a:xfrm>
            <a:off x="9041130" y="2279015"/>
            <a:ext cx="9448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Summary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"/>
          <p:cNvSpPr>
            <a:spLocks noGrp="1"/>
          </p:cNvSpPr>
          <p:nvPr/>
        </p:nvSpPr>
        <p:spPr>
          <a:xfrm>
            <a:off x="9041130" y="2853055"/>
            <a:ext cx="944880" cy="285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跨过程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"/>
          <p:cNvSpPr>
            <a:spLocks noGrp="1"/>
          </p:cNvSpPr>
          <p:nvPr/>
        </p:nvSpPr>
        <p:spPr>
          <a:xfrm>
            <a:off x="10055860" y="2270760"/>
            <a:ext cx="3149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"/>
          <p:cNvSpPr>
            <a:spLocks noGrp="1"/>
          </p:cNvSpPr>
          <p:nvPr/>
        </p:nvSpPr>
        <p:spPr>
          <a:xfrm>
            <a:off x="10314940" y="2047240"/>
            <a:ext cx="1201420" cy="140716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1" name="text"/>
          <p:cNvSpPr>
            <a:spLocks noGrp="1"/>
          </p:cNvSpPr>
          <p:nvPr/>
        </p:nvSpPr>
        <p:spPr>
          <a:xfrm>
            <a:off x="10455275" y="1890395"/>
            <a:ext cx="33464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"/>
          <p:cNvSpPr>
            <a:spLocks noGrp="1"/>
          </p:cNvSpPr>
          <p:nvPr/>
        </p:nvSpPr>
        <p:spPr>
          <a:xfrm>
            <a:off x="10450830" y="2279015"/>
            <a:ext cx="9448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Report</a:t>
            </a:r>
            <a:endParaRPr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"/>
          <p:cNvSpPr>
            <a:spLocks noGrp="1"/>
          </p:cNvSpPr>
          <p:nvPr/>
        </p:nvSpPr>
        <p:spPr>
          <a:xfrm>
            <a:off x="10450830" y="2853055"/>
            <a:ext cx="944880" cy="285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证据输出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"/>
          <p:cNvSpPr>
            <a:spLocks noGrp="1"/>
          </p:cNvSpPr>
          <p:nvPr/>
        </p:nvSpPr>
        <p:spPr>
          <a:xfrm>
            <a:off x="457200" y="42672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程序理解层</a:t>
            </a:r>
            <a:endParaRPr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"/>
          <p:cNvSpPr>
            <a:spLocks noGrp="1"/>
          </p:cNvSpPr>
          <p:nvPr/>
        </p:nvSpPr>
        <p:spPr>
          <a:xfrm>
            <a:off x="457200" y="4676775"/>
            <a:ext cx="323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frontend/ 与 cfg.py 保留表达式、调用点、分支、goto 和 return。</a:t>
            </a:r>
            <a:endParaRPr sz="161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"/>
          <p:cNvSpPr>
            <a:spLocks noGrp="1"/>
          </p:cNvSpPr>
          <p:nvPr/>
        </p:nvSpPr>
        <p:spPr>
          <a:xfrm>
            <a:off x="4476750" y="42672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残差计算层</a:t>
            </a:r>
            <a:endParaRPr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"/>
          <p:cNvSpPr>
            <a:spLocks noGrp="1"/>
          </p:cNvSpPr>
          <p:nvPr/>
        </p:nvSpPr>
        <p:spPr>
          <a:xfrm>
            <a:off x="4476750" y="4676775"/>
            <a:ext cx="323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scope、failure point、effect extractor 与 slicer 计算 E_f / C_f / T_f / R_f。</a:t>
            </a:r>
            <a:endParaRPr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"/>
          <p:cNvSpPr>
            <a:spLocks noGrp="1"/>
          </p:cNvSpPr>
          <p:nvPr/>
        </p:nvSpPr>
        <p:spPr>
          <a:xfrm>
            <a:off x="8496300" y="42672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证据治理层</a:t>
            </a:r>
            <a:endParaRPr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"/>
          <p:cNvSpPr>
            <a:spLocks noGrp="1"/>
          </p:cNvSpPr>
          <p:nvPr/>
        </p:nvSpPr>
        <p:spPr>
          <a:xfrm>
            <a:off x="8496300" y="4676775"/>
            <a:ext cx="323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function summary、oracle 与 report 约束跨过程传播和最终结论。</a:t>
            </a:r>
            <a:endParaRPr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504825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核心抽象把状态变化表示为可匹配、可追踪的效果</a:t>
            </a:r>
            <a:endParaRPr sz="27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panel-E_f · reaching effects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1466850"/>
            <a:ext cx="2580149" cy="1261406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" name="text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48322" y="1619748"/>
            <a:ext cx="2197904" cy="286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E_f · reaching effects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8322" y="1992436"/>
            <a:ext cx="2197904" cy="6115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失败前已经生效，并在 CFG 上能够到达失败调用的元数据效果。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nel-C_f · cancellation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324032" y="1466850"/>
            <a:ext cx="2580149" cy="1261406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" name="text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515154" y="1619748"/>
            <a:ext cx="2197904" cy="286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C_f · cancellation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515154" y="1992436"/>
            <a:ext cx="2197904" cy="6115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错误路径上对同一对象、键和值执行的逆向效果。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panel-T_f · protection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190864" y="1466850"/>
            <a:ext cx="2580149" cy="1261406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381986" y="1619748"/>
            <a:ext cx="2197904" cy="286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T_f · protection</a:t>
            </a:r>
            <a:endParaRPr sz="1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381986" y="1992436"/>
            <a:ext cx="2197904" cy="6115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事务 abort、fatal shutdown等明确接管效果。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panel-R_f · residual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057696" y="1466850"/>
            <a:ext cx="2713934" cy="1261406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248818" y="1619748"/>
            <a:ext cx="2331690" cy="286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R_f · residual</a:t>
            </a:r>
            <a:endParaRPr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248818" y="1992436"/>
            <a:ext cx="2331690" cy="6115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R_f = Normalize(E_f ⊕ C_f) − T_f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ode-IDENTITY-AWARE CANCELLATION"/>
          <p:cNvSpPr>
            <a:spLocks noGrp="1"/>
          </p:cNvSpPr>
          <p:nvPr/>
        </p:nvSpPr>
        <p:spPr>
          <a:xfrm>
            <a:off x="2927350" y="3076575"/>
            <a:ext cx="6372860" cy="3047365"/>
          </a:xfrm>
          <a:prstGeom prst="rect">
            <a:avLst/>
          </a:prstGeom>
          <a:solidFill>
            <a:srgbClr val="F7F7F7"/>
          </a:solidFill>
          <a:ln w="9525">
            <a:solidFill>
              <a:srgbClr val="BDBDBD"/>
            </a:solidFill>
            <a:prstDash val="solid"/>
          </a:ln>
        </p:spPr>
      </p:sp>
      <p:sp>
        <p:nvSpPr>
          <p:cNvPr id="22" name="bar-IDENTITY-AWARE CANCELLATION"/>
          <p:cNvSpPr>
            <a:spLocks noGrp="1"/>
          </p:cNvSpPr>
          <p:nvPr/>
        </p:nvSpPr>
        <p:spPr>
          <a:xfrm>
            <a:off x="2927350" y="3076575"/>
            <a:ext cx="78105" cy="304736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" name="text"/>
          <p:cNvSpPr>
            <a:spLocks noGrp="1"/>
          </p:cNvSpPr>
          <p:nvPr/>
        </p:nvSpPr>
        <p:spPr>
          <a:xfrm>
            <a:off x="3117850" y="3209925"/>
            <a:ext cx="5946140" cy="2501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1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IDENTITY-AWARE CANCELLATION</a:t>
            </a:r>
            <a:endParaRPr sz="1400" b="1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text"/>
          <p:cNvSpPr>
            <a:spLocks noGrp="1"/>
          </p:cNvSpPr>
          <p:nvPr/>
        </p:nvSpPr>
        <p:spPr>
          <a:xfrm>
            <a:off x="3117850" y="3524250"/>
            <a:ext cx="5968365" cy="24212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ADD(list, device)       ↔ REMOVE(list, device)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INC(counter, n)         ↔ DEC(counter, n)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SET(state_bit, value)   ↔ CLEAR(state_bit, value)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ATTACH(owner.field, x)  ↔ DROP(owner.field, x)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400"/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same spelling           ≠ same identity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free(local_object)      ≠ rollback(owner.field)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transaction abort       ≠ arbitrary state restore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504825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确认案例 1：reloc_root 已挂到 fs_root，提交失败后引用未被撤销</a:t>
            </a:r>
            <a:endParaRPr sz="27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code-fs/btrfs/relocation.c · key path"/>
          <p:cNvSpPr>
            <a:spLocks noGrp="1"/>
          </p:cNvSpPr>
          <p:nvPr/>
        </p:nvSpPr>
        <p:spPr>
          <a:xfrm>
            <a:off x="457200" y="1409700"/>
            <a:ext cx="6438900" cy="4629150"/>
          </a:xfrm>
          <a:prstGeom prst="rect">
            <a:avLst/>
          </a:prstGeom>
          <a:solidFill>
            <a:srgbClr val="F7F7F7"/>
          </a:solidFill>
          <a:ln w="9525">
            <a:solidFill>
              <a:srgbClr val="BDBDBD"/>
            </a:solidFill>
            <a:prstDash val="solid"/>
          </a:ln>
        </p:spPr>
      </p:sp>
      <p:sp>
        <p:nvSpPr>
          <p:cNvPr id="6" name="bar-fs/btrfs/relocation.c · key path"/>
          <p:cNvSpPr>
            <a:spLocks noGrp="1"/>
          </p:cNvSpPr>
          <p:nvPr/>
        </p:nvSpPr>
        <p:spPr>
          <a:xfrm>
            <a:off x="457200" y="1409700"/>
            <a:ext cx="66675" cy="46291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647700" y="1543050"/>
            <a:ext cx="6076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defRPr sz="1050" b="1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fs/btrfs/relocation.c · key path</a:t>
            </a:r>
            <a:endParaRPr sz="1050" b="1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"/>
          <p:cNvSpPr>
            <a:spLocks noGrp="1"/>
          </p:cNvSpPr>
          <p:nvPr/>
        </p:nvSpPr>
        <p:spPr>
          <a:xfrm>
            <a:off x="647700" y="1857375"/>
            <a:ext cx="6096000" cy="405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4196  fs_root = btrfs_get_fs_root(fs_info, ...);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4205  ret = __add_reloc_root(reloc_root);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4207  if (ret) { ... goto out_unset; }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315"/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4213  fs_root-&gt;reloc_root = btrfs_grab_root(reloc_root);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4214  btrfs_put_root(fs_root);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315"/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4217  ret = btrfs_commit_transaction(trans);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4218  if (ret)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4219      goto out_unset;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315"/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4235  out_unset: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4236      unset_reloc_control(rc);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4241      free_reloc_roots(&amp;reloc_roots);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1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4252      return ret;</a:t>
            </a:r>
            <a:endParaRPr sz="131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panel-E_f"/>
          <p:cNvSpPr>
            <a:spLocks noGrp="1"/>
          </p:cNvSpPr>
          <p:nvPr/>
        </p:nvSpPr>
        <p:spPr>
          <a:xfrm>
            <a:off x="7239000" y="1409700"/>
            <a:ext cx="4495800" cy="99060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" name="text"/>
          <p:cNvSpPr>
            <a:spLocks noGrp="1"/>
          </p:cNvSpPr>
          <p:nvPr/>
        </p:nvSpPr>
        <p:spPr>
          <a:xfrm>
            <a:off x="7429500" y="1562100"/>
            <a:ext cx="411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E_f</a:t>
            </a:r>
            <a:endParaRPr sz="14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7429500" y="1933575"/>
            <a:ext cx="4114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9438"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ATTACH(fs_root-&gt;reloc_root, reloc_root)</a:t>
            </a:r>
            <a:endParaRPr sz="139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site: line 4213</a:t>
            </a:r>
            <a:endParaRPr sz="139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nel-C_f / T_f"/>
          <p:cNvSpPr>
            <a:spLocks noGrp="1"/>
          </p:cNvSpPr>
          <p:nvPr/>
        </p:nvSpPr>
        <p:spPr>
          <a:xfrm>
            <a:off x="7239000" y="2609850"/>
            <a:ext cx="4495800" cy="120015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7429500" y="2762250"/>
            <a:ext cx="411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C_f / T_f</a:t>
            </a:r>
            <a:endParaRPr sz="14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7429500" y="3133725"/>
            <a:ext cx="4114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 control 与 reloc_roots list 被释放，但没有动作指向已发布的 fs_root 字段。</a:t>
            </a:r>
            <a:endParaRPr sz="139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anel-R_f"/>
          <p:cNvSpPr>
            <a:spLocks noGrp="1"/>
          </p:cNvSpPr>
          <p:nvPr/>
        </p:nvSpPr>
        <p:spPr>
          <a:xfrm>
            <a:off x="7239000" y="4019550"/>
            <a:ext cx="4495800" cy="1200150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7429500" y="4171950"/>
            <a:ext cx="411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R_f</a:t>
            </a:r>
            <a:endParaRPr sz="1425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7429500" y="4543425"/>
            <a:ext cx="4114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728"/>
          </a:bodyPr>
          <a:lstStyle/>
          <a:p>
            <a:pPr algn="l">
              <a:defRPr sz="13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fs_root-&gt;reloc_root 引用跨越错误出口；故障注入观察到 25 个 root 保留 reloc_refs=1。</a:t>
            </a:r>
            <a:endParaRPr sz="139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7239000" y="5476875"/>
            <a:ext cx="449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关键不是 cleanup 数量少，而是 cleanup 的 owner identity 与 4213 的写入不匹配。</a:t>
            </a:r>
            <a:endParaRPr sz="14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504825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3"/>
          </a:bodyPr>
          <a:lstStyle/>
          <a:p>
            <a:pPr algn="l">
              <a:def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 P1：两条验证失败直接 return，REMOUNTING bit 只在后续出口清除</a:t>
            </a:r>
            <a:endParaRPr sz="27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code-fs/btrfs/super.c · btrfs_reconfigure"/>
          <p:cNvSpPr>
            <a:spLocks noGrp="1"/>
          </p:cNvSpPr>
          <p:nvPr/>
        </p:nvSpPr>
        <p:spPr>
          <a:xfrm>
            <a:off x="457200" y="1409700"/>
            <a:ext cx="6191250" cy="4610100"/>
          </a:xfrm>
          <a:prstGeom prst="rect">
            <a:avLst/>
          </a:prstGeom>
          <a:solidFill>
            <a:srgbClr val="F7F7F7"/>
          </a:solidFill>
          <a:ln w="9525">
            <a:solidFill>
              <a:srgbClr val="BDBDBD"/>
            </a:solidFill>
            <a:prstDash val="solid"/>
          </a:ln>
        </p:spPr>
      </p:sp>
      <p:sp>
        <p:nvSpPr>
          <p:cNvPr id="6" name="bar-fs/btrfs/super.c · btrfs_reconfigure"/>
          <p:cNvSpPr>
            <a:spLocks noGrp="1"/>
          </p:cNvSpPr>
          <p:nvPr/>
        </p:nvSpPr>
        <p:spPr>
          <a:xfrm>
            <a:off x="457200" y="1409700"/>
            <a:ext cx="66675" cy="46101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647700" y="1543050"/>
            <a:ext cx="582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defRPr sz="1050" b="1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fs/btrfs/super.c · btrfs_reconfigure</a:t>
            </a:r>
            <a:endParaRPr sz="1050" b="1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"/>
          <p:cNvSpPr>
            <a:spLocks noGrp="1"/>
          </p:cNvSpPr>
          <p:nvPr/>
        </p:nvSpPr>
        <p:spPr>
          <a:xfrm>
            <a:off x="647700" y="1857375"/>
            <a:ext cx="5848350" cy="403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1505  sync_filesystem(sb);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1506  set_bit(BTRFS_FS_STATE_REMOUNTING,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1507          &amp;fs_info-&gt;fs_state);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350"/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1508  if (!btrfs_check_options(...))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1509      return -EINVAL;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350"/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1511  ret = btrfs_check_features(...);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1512  if (ret &lt; 0)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1513      return ret;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350"/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1556  clear_bit(BTRFS_FS_STATE_REMOUNTING, ...);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1558  return 0;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1559  restore: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1562      clear_bit(BTRFS_FS_STATE_REMOUNTING, ...);</a:t>
            </a:r>
            <a:endParaRPr sz="13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panel-E_f"/>
          <p:cNvSpPr>
            <a:spLocks noGrp="1"/>
          </p:cNvSpPr>
          <p:nvPr/>
        </p:nvSpPr>
        <p:spPr>
          <a:xfrm>
            <a:off x="7029450" y="1409700"/>
            <a:ext cx="4705350" cy="1028700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"/>
          <p:cNvSpPr>
            <a:spLocks noGrp="1"/>
          </p:cNvSpPr>
          <p:nvPr/>
        </p:nvSpPr>
        <p:spPr>
          <a:xfrm>
            <a:off x="7219950" y="1562100"/>
            <a:ext cx="432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E_f</a:t>
            </a:r>
            <a:endParaRPr sz="1425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"/>
          <p:cNvSpPr>
            <a:spLocks noGrp="1"/>
          </p:cNvSpPr>
          <p:nvPr/>
        </p:nvSpPr>
        <p:spPr>
          <a:xfrm>
            <a:off x="7219950" y="1933575"/>
            <a:ext cx="432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14"/>
          </a:bodyPr>
          <a:lstStyle/>
          <a:p>
            <a:pPr algn="l">
              <a:defRPr sz="13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 fs_info-&gt;fs_state.bit:BTRFS_FS_STATE_REMOUNTING</a:t>
            </a:r>
            <a:endParaRPr sz="139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nel-错误出口"/>
          <p:cNvSpPr>
            <a:spLocks noGrp="1"/>
          </p:cNvSpPr>
          <p:nvPr/>
        </p:nvSpPr>
        <p:spPr>
          <a:xfrm>
            <a:off x="7029450" y="2647950"/>
            <a:ext cx="4705350" cy="135255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7219950" y="2800350"/>
            <a:ext cx="432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错误出口</a:t>
            </a:r>
            <a:endParaRPr sz="14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7219950" y="3171825"/>
            <a:ext cx="4324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btrfs_check_options() 和 btrfs_check_features() 失败时直接 return，绕过 success / restore 清理。</a:t>
            </a:r>
            <a:endParaRPr sz="139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anel-潜在长期影响"/>
          <p:cNvSpPr>
            <a:spLocks noGrp="1"/>
          </p:cNvSpPr>
          <p:nvPr/>
        </p:nvSpPr>
        <p:spPr>
          <a:xfrm>
            <a:off x="7029450" y="4210050"/>
            <a:ext cx="4705350" cy="133350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7219950" y="4362450"/>
            <a:ext cx="432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潜在长期影响</a:t>
            </a:r>
            <a:endParaRPr sz="14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7219950" y="4733925"/>
            <a:ext cx="4324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088"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 remount 后原挂载仍存活；auto-defrag、qgroup rescan 与异步 space reclaim 会读取该状态位。</a:t>
            </a:r>
            <a:endParaRPr sz="139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200" y="504825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 P3</a:t>
            </a:r>
            <a:endParaRPr sz="27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57200" y="1181100"/>
            <a:ext cx="11277600" cy="190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code-P3 · after list insertion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86397" y="1363345"/>
            <a:ext cx="5696013" cy="3668618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bar-P3 · after list insertion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86397" y="1363345"/>
            <a:ext cx="67580" cy="366861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79482" y="1817095"/>
            <a:ext cx="5348459" cy="30893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631  ret = btrfs_init_dev_replace_tgtdev(...,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632          &amp;tgt_device);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633  if (ret)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634      return ret;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400">
              <a:solidFill>
                <a:schemeClr val="tx1"/>
              </a:solidFill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636  ret = mark_block_group_to_copy(...);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637  if (ret)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638      return ret;      // bypass leave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...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719  leave: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720      btrfs_destroy_dev_replace_tgtdev(tgt_device);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1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721      return ret;</a:t>
            </a:r>
            <a:endParaRPr sz="1400" b="0">
              <a:solidFill>
                <a:schemeClr val="tx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panel-P3 · 元数据拓扑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86397" y="5109197"/>
            <a:ext cx="5696013" cy="1139203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7" name="text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079482" y="5263666"/>
            <a:ext cx="5309842" cy="2896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P3 · 元数据拓扑</a:t>
            </a:r>
            <a:endParaRPr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079482" y="5640182"/>
            <a:ext cx="5309842" cy="4827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已挂入 devices 并增加计数；mark_block_group_to_copy() 失败直接 return，绕过 leave。</a:t>
            </a:r>
            <a:endParaRPr sz="1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2.5,&quot;left&quot;:565.5,&quot;top&quot;:115.5,&quot;width&quot;:358.5}"/>
</p:tagLst>
</file>

<file path=ppt/tags/tag2.xml><?xml version="1.0" encoding="utf-8"?>
<p:tagLst xmlns:p="http://schemas.openxmlformats.org/presentationml/2006/main">
  <p:tag name="KSO_WM_DIAGRAM_VIRTUALLY_FRAME" val="{&quot;height&quot;:322.5,&quot;left&quot;:565.5,&quot;top&quot;:115.5,&quot;width&quot;:358.5}"/>
</p:tagLst>
</file>

<file path=ppt/tags/tag3.xml><?xml version="1.0" encoding="utf-8"?>
<p:tagLst xmlns:p="http://schemas.openxmlformats.org/presentationml/2006/main">
  <p:tag name="KSO_WM_DIAGRAM_VIRTUALLY_FRAME" val="{&quot;height&quot;:322.5,&quot;left&quot;:565.5,&quot;top&quot;:115.5,&quot;width&quot;:358.5}"/>
</p:tagLst>
</file>

<file path=ppt/tags/tag4.xml><?xml version="1.0" encoding="utf-8"?>
<p:tagLst xmlns:p="http://schemas.openxmlformats.org/presentationml/2006/main">
  <p:tag name="KSO_WM_DIAGRAM_VIRTUALLY_FRAME" val="{&quot;height&quot;:322.5,&quot;left&quot;:565.5,&quot;top&quot;:115.5,&quot;width&quot;:358.5}"/>
</p:tagLst>
</file>

<file path=ppt/tags/tag5.xml><?xml version="1.0" encoding="utf-8"?>
<p:tagLst xmlns:p="http://schemas.openxmlformats.org/presentationml/2006/main">
  <p:tag name="KSO_WM_DIAGRAM_VIRTUALLY_FRAME" val="{&quot;height&quot;:322.5,&quot;left&quot;:565.5,&quot;top&quot;:115.5,&quot;width&quot;:358.5}"/>
</p:tagLst>
</file>

<file path=ppt/tags/tag6.xml><?xml version="1.0" encoding="utf-8"?>
<p:tagLst xmlns:p="http://schemas.openxmlformats.org/presentationml/2006/main">
  <p:tag name="KSO_WM_DIAGRAM_VIRTUALLY_FRAME" val="{&quot;height&quot;:322.5,&quot;left&quot;:565.5,&quot;top&quot;:115.5,&quot;width&quot;:358.5}"/>
</p:tagLst>
</file>

<file path=ppt/tags/tag7.xml><?xml version="1.0" encoding="utf-8"?>
<p:tagLst xmlns:p="http://schemas.openxmlformats.org/presentationml/2006/main">
  <p:tag name="KSO_WM_DIAGRAM_VIRTUALLY_FRAME" val="{&quot;height&quot;:322.5,&quot;left&quot;:565.5,&quot;top&quot;:115.5,&quot;width&quot;:358.5}"/>
</p:tagLst>
</file>

<file path=ppt/tags/tag8.xml><?xml version="1.0" encoding="utf-8"?>
<p:tagLst xmlns:p="http://schemas.openxmlformats.org/presentationml/2006/main">
  <p:tag name="KSO_WM_DIAGRAM_VIRTUALLY_FRAME" val="{&quot;height&quot;:322.5,&quot;left&quot;:565.5,&quot;top&quot;:115.5,&quot;width&quot;:358.5}"/>
</p:tagLst>
</file>

<file path=ppt/tags/tag9.xml><?xml version="1.0" encoding="utf-8"?>
<p:tagLst xmlns:p="http://schemas.openxmlformats.org/presentationml/2006/main">
  <p:tag name="KSO_WM_DIAGRAM_VIRTUALLY_FRAME" val="{&quot;height&quot;:322.5,&quot;left&quot;:565.5,&quot;top&quot;:115.5,&quot;width&quot;:358.5}"/>
</p:tagLst>
</file>

<file path=ppt/tags/tag10.xml><?xml version="1.0" encoding="utf-8"?>
<p:tagLst xmlns:p="http://schemas.openxmlformats.org/presentationml/2006/main">
  <p:tag name="KSO_WM_DIAGRAM_VIRTUALLY_FRAME" val="{&quot;height&quot;:291.75,&quot;left&quot;:34.55,&quot;top&quot;:92.85,&quot;width&quot;:888}"/>
</p:tagLst>
</file>

<file path=ppt/tags/tag11.xml><?xml version="1.0" encoding="utf-8"?>
<p:tagLst xmlns:p="http://schemas.openxmlformats.org/presentationml/2006/main">
  <p:tag name="KSO_WM_DIAGRAM_VIRTUALLY_FRAME" val="{&quot;height&quot;:291.75,&quot;left&quot;:34.55,&quot;top&quot;:92.85,&quot;width&quot;:888}"/>
</p:tagLst>
</file>

<file path=ppt/tags/tag12.xml><?xml version="1.0" encoding="utf-8"?>
<p:tagLst xmlns:p="http://schemas.openxmlformats.org/presentationml/2006/main">
  <p:tag name="KSO_WM_DIAGRAM_VIRTUALLY_FRAME" val="{&quot;height&quot;:291.75,&quot;left&quot;:34.55,&quot;top&quot;:92.85,&quot;width&quot;:888}"/>
</p:tagLst>
</file>

<file path=ppt/tags/tag13.xml><?xml version="1.0" encoding="utf-8"?>
<p:tagLst xmlns:p="http://schemas.openxmlformats.org/presentationml/2006/main">
  <p:tag name="KSO_WM_DIAGRAM_VIRTUALLY_FRAME" val="{&quot;height&quot;:291.75,&quot;left&quot;:34.55,&quot;top&quot;:92.85,&quot;width&quot;:888}"/>
</p:tagLst>
</file>

<file path=ppt/tags/tag14.xml><?xml version="1.0" encoding="utf-8"?>
<p:tagLst xmlns:p="http://schemas.openxmlformats.org/presentationml/2006/main">
  <p:tag name="KSO_WM_DIAGRAM_VIRTUALLY_FRAME" val="{&quot;height&quot;:291.75,&quot;left&quot;:34.55,&quot;top&quot;:92.85,&quot;width&quot;:888}"/>
</p:tagLst>
</file>

<file path=ppt/tags/tag15.xml><?xml version="1.0" encoding="utf-8"?>
<p:tagLst xmlns:p="http://schemas.openxmlformats.org/presentationml/2006/main">
  <p:tag name="KSO_WM_DIAGRAM_VIRTUALLY_FRAME" val="{&quot;height&quot;:291.75,&quot;left&quot;:34.55,&quot;top&quot;:92.85,&quot;width&quot;:888}"/>
</p:tagLst>
</file>

<file path=ppt/tags/tag16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17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18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19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20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21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22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23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24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25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26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27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28.xml><?xml version="1.0" encoding="utf-8"?>
<p:tagLst xmlns:p="http://schemas.openxmlformats.org/presentationml/2006/main">
  <p:tag name="KSO_WM_DIAGRAM_VIRTUALLY_FRAME" val="{&quot;height&quot;:384.65000000000026,&quot;left&quot;:53.4,&quot;top&quot;:107.35,&quot;width&quot;:464.9}"/>
</p:tagLst>
</file>

<file path=ppt/tags/tag29.xml><?xml version="1.0" encoding="utf-8"?>
<p:tagLst xmlns:p="http://schemas.openxmlformats.org/presentationml/2006/main">
  <p:tag name="KSO_WM_DIAGRAM_VIRTUALLY_FRAME" val="{&quot;height&quot;:384.65000000000026,&quot;left&quot;:53.4,&quot;top&quot;:107.35,&quot;width&quot;:464.9}"/>
</p:tagLst>
</file>

<file path=ppt/tags/tag30.xml><?xml version="1.0" encoding="utf-8"?>
<p:tagLst xmlns:p="http://schemas.openxmlformats.org/presentationml/2006/main">
  <p:tag name="KSO_WM_DIAGRAM_VIRTUALLY_FRAME" val="{&quot;height&quot;:384.65000000000026,&quot;left&quot;:53.4,&quot;top&quot;:107.35,&quot;width&quot;:464.9}"/>
</p:tagLst>
</file>

<file path=ppt/tags/tag31.xml><?xml version="1.0" encoding="utf-8"?>
<p:tagLst xmlns:p="http://schemas.openxmlformats.org/presentationml/2006/main">
  <p:tag name="KSO_WM_DIAGRAM_VIRTUALLY_FRAME" val="{&quot;height&quot;:384.65000000000026,&quot;left&quot;:53.4,&quot;top&quot;:107.35,&quot;width&quot;:464.9}"/>
</p:tagLst>
</file>

<file path=ppt/tags/tag32.xml><?xml version="1.0" encoding="utf-8"?>
<p:tagLst xmlns:p="http://schemas.openxmlformats.org/presentationml/2006/main">
  <p:tag name="KSO_WM_DIAGRAM_VIRTUALLY_FRAME" val="{&quot;height&quot;:384.65000000000026,&quot;left&quot;:53.4,&quot;top&quot;:107.35,&quot;width&quot;:464.9}"/>
</p:tagLst>
</file>

<file path=ppt/tags/tag33.xml><?xml version="1.0" encoding="utf-8"?>
<p:tagLst xmlns:p="http://schemas.openxmlformats.org/presentationml/2006/main">
  <p:tag name="KSO_WM_DIAGRAM_VIRTUALLY_FRAME" val="{&quot;height&quot;:384.65000000000026,&quot;left&quot;:53.4,&quot;top&quot;:107.35,&quot;width&quot;:464.9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3221</Words>
  <Application>WPS 演示</Application>
  <PresentationFormat>Converted Presentation</PresentationFormat>
  <Paragraphs>217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Consolas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闫光辉</cp:lastModifiedBy>
  <cp:revision>7</cp:revision>
  <dcterms:created xsi:type="dcterms:W3CDTF">2026-07-26T08:36:11Z</dcterms:created>
  <dcterms:modified xsi:type="dcterms:W3CDTF">2026-07-26T09:27:48Z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2052-12.1.0.24031</vt:lpwstr>
  </property>
  <property fmtid="{D5CDD505-2E9C-101B-9397-08002B2CF9AE}" pid="3" name="ICV">
    <vt:lpwstr>DA3D68E59148482992F6EAE699B4D365_12</vt:lpwstr>
  </property>
</Properties>
</file>